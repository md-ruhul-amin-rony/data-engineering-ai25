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7" r:id="rId9"/>
    <p:sldId id="263" r:id="rId10"/>
    <p:sldId id="264" r:id="rId11"/>
    <p:sldId id="265" r:id="rId12"/>
    <p:sldId id="266" r:id="rId13"/>
    <p:sldId id="268" r:id="rId14"/>
    <p:sldId id="269" r:id="rId15"/>
    <p:sldId id="270" r:id="rId1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22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8/8/26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E1A1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>
            <a:off x="7071183" y="-2057400"/>
            <a:ext cx="6172200" cy="6172200"/>
          </a:xfrm>
          <a:prstGeom prst="ellipse">
            <a:avLst/>
          </a:prstGeom>
          <a:ln/>
        </p:spPr>
        <p:txBody>
          <a:bodyPr/>
          <a:lstStyle/>
          <a:p>
            <a:endParaRPr lang="sv-SE"/>
          </a:p>
        </p:txBody>
      </p:sp>
      <p:sp>
        <p:nvSpPr>
          <p:cNvPr id="4" name="Shape 2"/>
          <p:cNvSpPr/>
          <p:nvPr/>
        </p:nvSpPr>
        <p:spPr>
          <a:xfrm rot="2700000">
            <a:off x="822960" y="841248"/>
            <a:ext cx="91440" cy="91440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5" name="Text 3"/>
          <p:cNvSpPr/>
          <p:nvPr/>
        </p:nvSpPr>
        <p:spPr>
          <a:xfrm>
            <a:off x="1005840" y="777240"/>
            <a:ext cx="5943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Lecture 2.1 · Thu 13 Aug · Data Engineering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22960" y="196596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Containers: </a:t>
            </a:r>
            <a:r>
              <a:rPr lang="en-US" sz="42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shipping the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200" b="1" dirty="0">
                <a:solidFill>
                  <a:srgbClr val="2DD4BF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environment with the code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822960" y="38404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Codespaces, Docker, and your first containerised FastAPI service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822960" y="585216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Mikael Huss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822960" y="617220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IT-Högskolan, Stockholm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0180015" y="6126480"/>
            <a:ext cx="1463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week 33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Orientation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we are in week 1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2296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Tue: why DE + Bash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269748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Thu: Docker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457200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Self-study: FastAPI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10312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10312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6446520" y="210312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Week 2: Compose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2700000">
            <a:off x="822960" y="33741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1024128" y="3273552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already have a shell you can type in — today we give it a machine that looks the same for everyone.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 rot="2700000">
            <a:off x="822960" y="3941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024128" y="3840480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Everything after this lecture (pipelines, Airflow, Azure) runs inside a container.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 rot="2700000">
            <a:off x="822960" y="450799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1024128" y="4407408"/>
            <a:ext cx="1031443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4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By 15:00 you should have an image you built yourself, running locally.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“It works on my machine”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Four laptops, four Pythons, four versions of the same library — and a server that has none of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822960" y="25511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24128" y="2450592"/>
            <a:ext cx="4919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of you is on Windows, one on an M-series Mac, one on Ubuntu.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 rot="2700000">
            <a:off x="822960" y="320954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3108960"/>
            <a:ext cx="4919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Python 3.11 here, 3.13 there — and a package that only builds on one of them.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 rot="2700000">
            <a:off x="822960" y="386791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024128" y="3767328"/>
            <a:ext cx="4919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README says “install the dependencies”. It is three months old.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 rot="2700000">
            <a:off x="822960" y="452628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024128" y="4425696"/>
            <a:ext cx="49194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Nothing above is written down anywhere a machine can read.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0" y="2377440"/>
            <a:ext cx="4937760" cy="1783080"/>
          </a:xfrm>
          <a:prstGeom prst="roundRect">
            <a:avLst>
              <a:gd name="adj" fmla="val 6154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Shape 17"/>
          <p:cNvSpPr/>
          <p:nvPr/>
        </p:nvSpPr>
        <p:spPr>
          <a:xfrm>
            <a:off x="6400800" y="283464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6601968" y="25603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6803136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7004304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7315200" y="2496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6675120" y="29443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--version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675120" y="32186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Python 3.13.2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6675120" y="3493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pip install -r requirements.txt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ERROR: failed building wheel for pyarrow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00800" y="4846320"/>
            <a:ext cx="4937760" cy="777240"/>
          </a:xfrm>
          <a:prstGeom prst="roundRect">
            <a:avLst>
              <a:gd name="adj" fmla="val 14118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629400" y="5010912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 environment nobody wrote down is not a setup — it is a rumour.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idea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idea: describe the machine in a file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82296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37744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269748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269748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build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25196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457200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457200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12648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4652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0F3B3F">
              <a:alpha val="70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644652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run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01000" y="2194560"/>
            <a:ext cx="3200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A8A7D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→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8321040" y="2194560"/>
            <a:ext cx="1554480" cy="502920"/>
          </a:xfrm>
          <a:prstGeom prst="roundRect">
            <a:avLst>
              <a:gd name="adj" fmla="val 14545"/>
            </a:avLst>
          </a:prstGeom>
          <a:solidFill>
            <a:srgbClr val="2DD4BF">
              <a:alpha val="15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8321040" y="219456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822960" y="31089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051560" y="3291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Dockerfile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05156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recipe: base OS, dependencies, your code, the command to start.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434840" y="31089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4663440" y="3291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66344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built result. Immutable, layered, shareable, tagged like a release.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3108960"/>
            <a:ext cx="3291840" cy="1645920"/>
          </a:xfrm>
          <a:prstGeom prst="roundRect">
            <a:avLst>
              <a:gd name="adj" fmla="val 6667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8275320" y="329184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8275320" y="365760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running instance of the image. Start it, kill it, start ten of them.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22960" y="50749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 recipe lives in git next to the code — so the environment is reviewed and versioned like anything else.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Mental model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 vs virtual machines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goal — isolation. Different amount of machine being carried around.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5120640" cy="2880360"/>
          </a:xfrm>
          <a:prstGeom prst="roundRect">
            <a:avLst>
              <a:gd name="adj" fmla="val 381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24128" y="2514600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24128" y="288036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2DD4BF">
              <a:alpha val="18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288036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B + deps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1024128" y="338328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2DD4BF">
              <a:alpha val="18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024128" y="338328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App A + deps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1024128" y="388620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024128" y="388620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 runtime (Docker)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024128" y="438912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438912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OS + kernel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17920" y="2377440"/>
            <a:ext cx="5120640" cy="2880360"/>
          </a:xfrm>
          <a:prstGeom prst="roundRect">
            <a:avLst>
              <a:gd name="adj" fmla="val 381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6419088" y="2514600"/>
            <a:ext cx="4718304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Virtual machines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19088" y="288036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6419088" y="288036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 + App B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419088" y="338328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419088" y="338328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Guest OS + App A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419088" y="388620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6419088" y="388620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Hypervisor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419088" y="4389120"/>
            <a:ext cx="4718304" cy="411480"/>
          </a:xfrm>
          <a:prstGeom prst="roundRect">
            <a:avLst>
              <a:gd name="adj" fmla="val 13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419088" y="4389120"/>
            <a:ext cx="471830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OS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1024128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Shares the host kernel. Starts in ~1 s, megabytes on disk.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6419088" y="5349240"/>
            <a:ext cx="4754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Full guest OS each. Stronger isolation, gigabytes, slow boot.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06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Your first container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120640" cy="1783080"/>
          </a:xfrm>
          <a:prstGeom prst="roundRect">
            <a:avLst>
              <a:gd name="adj" fmla="val 6154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12064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1024128" y="219456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225296" y="21945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426464" y="21945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73736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57860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run hello-world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8529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Unable to find image locally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1272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Pulling from library/hello-world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Hello from Docker!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22960" y="4114800"/>
            <a:ext cx="5120640" cy="1234440"/>
          </a:xfrm>
          <a:prstGeom prst="roundRect">
            <a:avLst>
              <a:gd name="adj" fmla="val 8889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Shape 18"/>
          <p:cNvSpPr/>
          <p:nvPr/>
        </p:nvSpPr>
        <p:spPr>
          <a:xfrm>
            <a:off x="822960" y="4572000"/>
            <a:ext cx="512064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1024128" y="429768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1225296" y="42976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Shape 21"/>
          <p:cNvSpPr/>
          <p:nvPr/>
        </p:nvSpPr>
        <p:spPr>
          <a:xfrm>
            <a:off x="1426464" y="42976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1737360" y="42336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097280" y="468172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run -d -p 8080:80 nginx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097280" y="4956048"/>
            <a:ext cx="46634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ps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400800" y="201168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629400" y="201168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run [OPTIONS] IMAGE [CMD]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6400800" y="2651760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6601968" y="2651760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-d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7973568" y="2651760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detached — run in the background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400800" y="3218688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6601968" y="3218688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-p 8080:80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7973568" y="3218688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host port : container port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400800" y="3785616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6601968" y="3785616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-it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7973568" y="3785616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 shell inside it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6400800" y="4352544"/>
            <a:ext cx="493776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9" name="Text 37"/>
          <p:cNvSpPr/>
          <p:nvPr/>
        </p:nvSpPr>
        <p:spPr>
          <a:xfrm>
            <a:off x="6601968" y="4352544"/>
            <a:ext cx="1371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--rm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7973568" y="4352544"/>
            <a:ext cx="316382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delete the container when it exits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Toolkit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07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commands you will actually type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24128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ps -a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10128" y="20116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running or not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22960" y="259689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2596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images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3310128" y="259689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images here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22960" y="3182112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024128" y="3182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logs -f ID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3310128" y="318211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follow output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376732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3767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exec -it ID sh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310128" y="376732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shell inside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6217920" y="2011680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6419088" y="2011680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stop ID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705088" y="2011680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politely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6217920" y="2596896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419088" y="2596896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rm ID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8705088" y="2596896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remove a stopped one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217920" y="3182112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419088" y="3182112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pull IMAGE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8705088" y="3182112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fetch from registry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6217920" y="3767328"/>
            <a:ext cx="5120640" cy="457200"/>
          </a:xfrm>
          <a:prstGeom prst="roundRect">
            <a:avLst>
              <a:gd name="adj" fmla="val 24000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6419088" y="3767328"/>
            <a:ext cx="2286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system prune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8705088" y="3767328"/>
            <a:ext cx="243230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reclaim disk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822960" y="4754880"/>
            <a:ext cx="10515600" cy="822960"/>
          </a:xfrm>
          <a:prstGeom prst="roundRect">
            <a:avLst>
              <a:gd name="adj" fmla="val 13333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1051560" y="4919472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When a pipeline misbehaves in production, the first move is almost always docker logs, and the second is docker exec.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08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app we will containerise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Small on purpose — the point of today is the box, not what is inside it.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486400" cy="2880360"/>
          </a:xfrm>
          <a:prstGeom prst="roundRect">
            <a:avLst>
              <a:gd name="adj" fmla="val 381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822960" y="2926080"/>
            <a:ext cx="54864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024128" y="265176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225296" y="26517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1426464" y="26517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737360" y="25877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035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fastapi import FastAPI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310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 = FastAPI(title="Weather API")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5844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@app.get("/health")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858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health():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{"status": "ok"}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4074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@app.get("/latest")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681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def latest():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9560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return {"temp_c": 18.4}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675120" y="25511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876288" y="245059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Two endpoints: /health for machines, /latest for data.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2700000">
            <a:off x="6675120" y="319125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6876288" y="309067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Interactive docs for free at /docs.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2700000">
            <a:off x="6675120" y="38313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876288" y="373075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health endpoint is what orchestrators and cloud platforms poll to decide if you are alive.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2700000">
            <a:off x="6675120" y="44714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6876288" y="437083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Later in the course this becomes the thing that serves your model.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6675120" y="5029200"/>
            <a:ext cx="4663440" cy="960120"/>
          </a:xfrm>
          <a:prstGeom prst="roundRect">
            <a:avLst>
              <a:gd name="adj" fmla="val 11429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3" name="Shape 31"/>
          <p:cNvSpPr/>
          <p:nvPr/>
        </p:nvSpPr>
        <p:spPr>
          <a:xfrm>
            <a:off x="6675120" y="5486400"/>
            <a:ext cx="466344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Shape 32"/>
          <p:cNvSpPr/>
          <p:nvPr/>
        </p:nvSpPr>
        <p:spPr>
          <a:xfrm>
            <a:off x="6876288" y="521208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Shape 33"/>
          <p:cNvSpPr/>
          <p:nvPr/>
        </p:nvSpPr>
        <p:spPr>
          <a:xfrm>
            <a:off x="7077456" y="52120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Shape 34"/>
          <p:cNvSpPr/>
          <p:nvPr/>
        </p:nvSpPr>
        <p:spPr>
          <a:xfrm>
            <a:off x="7278624" y="521208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7" name="Text 35"/>
          <p:cNvSpPr/>
          <p:nvPr/>
        </p:nvSpPr>
        <p:spPr>
          <a:xfrm>
            <a:off x="7589520" y="514807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6949440" y="5596128"/>
            <a:ext cx="4206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curl localhost:8000/health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09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Anatomy of a Dockerfile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1920240"/>
            <a:ext cx="5486400" cy="3154680"/>
          </a:xfrm>
          <a:prstGeom prst="roundRect">
            <a:avLst>
              <a:gd name="adj" fmla="val 3478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822960" y="2377440"/>
            <a:ext cx="54864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1024128" y="21031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225296" y="21031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426464" y="21031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737360" y="20391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Dockerfile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487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FROM python:3.12-slim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7614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WORKDIR /app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0358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 --from=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ghcr.io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/astral-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sh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/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/bin/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3101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 requirements.txt 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5844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RUN uv pip install --system \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8587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-r requirements.txt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1330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COPY 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app.py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.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4074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EXPOSE 8000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097280" y="46817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CMD ["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uvicorn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", "</a:t>
            </a:r>
            <a:r>
              <a:rPr lang="en-US" sz="1200" dirty="0" err="1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app:app", "--host", "0.0.0.0", "--port", "8000</a:t>
            </a: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"]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675120" y="20939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876288" y="1993392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FROM — the base image you inherit; pick a slim, pinned one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 rot="2700000">
            <a:off x="6675120" y="266090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7" name="Text 25"/>
          <p:cNvSpPr/>
          <p:nvPr/>
        </p:nvSpPr>
        <p:spPr>
          <a:xfrm>
            <a:off x="6876288" y="2560320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WORKDIR — the directory every later command runs in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 rot="2700000">
            <a:off x="6675120" y="322783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9" name="Text 27"/>
          <p:cNvSpPr/>
          <p:nvPr/>
        </p:nvSpPr>
        <p:spPr>
          <a:xfrm>
            <a:off x="6876288" y="3127248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COPY — bring files from your repo into the image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 rot="2700000">
            <a:off x="6675120" y="379476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6876288" y="3694176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— execute a shell command at build time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 rot="2700000">
            <a:off x="6675120" y="4361688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3" name="Text 31"/>
          <p:cNvSpPr/>
          <p:nvPr/>
        </p:nvSpPr>
        <p:spPr>
          <a:xfrm>
            <a:off x="6876288" y="4261104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CMD — what starts when the container runs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 rot="2700000">
            <a:off x="6675120" y="4928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5" name="Text 33"/>
          <p:cNvSpPr/>
          <p:nvPr/>
        </p:nvSpPr>
        <p:spPr>
          <a:xfrm>
            <a:off x="6876288" y="4828032"/>
            <a:ext cx="44622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0.0.0.0, not localhost — otherwise the server only answers itself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10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Build, tag, run — and why order matters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5486400" cy="2057400"/>
          </a:xfrm>
          <a:prstGeom prst="roundRect">
            <a:avLst>
              <a:gd name="adj" fmla="val 5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54864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1024128" y="219456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225296" y="21945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426464" y="219456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737360" y="213055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97280" y="25786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build -t weather-api:0.1 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28529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=&gt; [2/5] COPY requirements.txt   CACHED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127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=&gt; [3/5] RUN uv pip install ...  CACHED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401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=&gt; [4/5] COPY app.py .            2.1s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675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run --rm -p 8000:8000 weather-api:0.1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 rot="2700000">
            <a:off x="6675120" y="20939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1" name="Text 19"/>
          <p:cNvSpPr/>
          <p:nvPr/>
        </p:nvSpPr>
        <p:spPr>
          <a:xfrm>
            <a:off x="6876288" y="199339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 instruction is a cached layer — reused until something above it changes.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 rot="2700000">
            <a:off x="6675120" y="273405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6876288" y="263347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Install dependencies before copying source: editing one line of Python then costs seconds, not minutes.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 rot="2700000">
            <a:off x="6675120" y="337413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6876288" y="327355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Keep a .dockerignore next to the Dockerfile — no .venv, no .git, no raw data in the image.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876288" y="391363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876288" y="4553712"/>
            <a:ext cx="446227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822960" y="5029200"/>
            <a:ext cx="5486400" cy="777240"/>
          </a:xfrm>
          <a:prstGeom prst="roundRect">
            <a:avLst>
              <a:gd name="adj" fmla="val 14118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1" name="Text 29"/>
          <p:cNvSpPr/>
          <p:nvPr/>
        </p:nvSpPr>
        <p:spPr>
          <a:xfrm>
            <a:off x="1051560" y="5166360"/>
            <a:ext cx="5029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-t tags the image. Tags are how a registry, a Compose file and a deployment refer to a specific build.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11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Data, ports and configuration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Containers are disposable. Anything you want to keep has to live outside them.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4688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5156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PORTS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05156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-p 8000:8000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051560" y="3337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Publish a port so the outside world — or your browser — can reach the service.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434840" y="24688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466344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VOLUMES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66344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-v ./data:/app/data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663440" y="3337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</a:rPr>
              <a:t>Connect data to a container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046720" y="2468880"/>
            <a:ext cx="3291840" cy="2377440"/>
          </a:xfrm>
          <a:prstGeom prst="roundRect">
            <a:avLst>
              <a:gd name="adj" fmla="val 4615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8275320" y="26517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275320" y="297180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-e API_KEY=... / --env-file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8275320" y="3337560"/>
            <a:ext cx="283464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image, many environments. Config comes in from outside, never from a committed file.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822960" y="5120640"/>
            <a:ext cx="10515600" cy="731520"/>
          </a:xfrm>
          <a:prstGeom prst="roundRect">
            <a:avLst>
              <a:gd name="adj" fmla="val 15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3" name="Text 21"/>
          <p:cNvSpPr/>
          <p:nvPr/>
        </p:nvSpPr>
        <p:spPr>
          <a:xfrm>
            <a:off x="1051560" y="528523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Rule of thumb: code in the image, data in a volume, secrets in the environment.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Environment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12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Where you will run this: Codespaces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Linux machine with Docker already installed, one click from your repository, in the browser.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 rot="2700000">
            <a:off x="822960" y="255117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1" name="Text 9"/>
          <p:cNvSpPr/>
          <p:nvPr/>
        </p:nvSpPr>
        <p:spPr>
          <a:xfrm>
            <a:off x="1024128" y="2450592"/>
            <a:ext cx="4919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your repo on GitHub → Code → Codespaces → create.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 rot="2700000">
            <a:off x="822960" y="311810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Text 11"/>
          <p:cNvSpPr/>
          <p:nvPr/>
        </p:nvSpPr>
        <p:spPr>
          <a:xfrm>
            <a:off x="1024128" y="3017520"/>
            <a:ext cx="4919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You get VS Code, a Bash terminal and the Docker CLI — no local install.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 rot="2700000">
            <a:off x="822960" y="368503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024128" y="3584448"/>
            <a:ext cx="4919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Everyone in the room has the same Linux, whatever laptop they brought.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 rot="2700000">
            <a:off x="822960" y="425196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7" name="Text 15"/>
          <p:cNvSpPr/>
          <p:nvPr/>
        </p:nvSpPr>
        <p:spPr>
          <a:xfrm>
            <a:off x="1024128" y="4151376"/>
            <a:ext cx="4919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Stop it when you leave; free quota is measured in machine-hours.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 rot="2700000">
            <a:off x="822960" y="4818888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24128" y="4718304"/>
            <a:ext cx="4919472" cy="566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Prefer to work locally? Docker Desktop or WSL 2 — the commands are identical.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400800" y="2377440"/>
            <a:ext cx="4937760" cy="2057400"/>
          </a:xfrm>
          <a:prstGeom prst="roundRect">
            <a:avLst>
              <a:gd name="adj" fmla="val 5333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1" name="Shape 19"/>
          <p:cNvSpPr/>
          <p:nvPr/>
        </p:nvSpPr>
        <p:spPr>
          <a:xfrm>
            <a:off x="6400800" y="2834640"/>
            <a:ext cx="493776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Shape 20"/>
          <p:cNvSpPr/>
          <p:nvPr/>
        </p:nvSpPr>
        <p:spPr>
          <a:xfrm>
            <a:off x="6601968" y="256032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3" name="Shape 21"/>
          <p:cNvSpPr/>
          <p:nvPr/>
        </p:nvSpPr>
        <p:spPr>
          <a:xfrm>
            <a:off x="6803136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Shape 22"/>
          <p:cNvSpPr/>
          <p:nvPr/>
        </p:nvSpPr>
        <p:spPr>
          <a:xfrm>
            <a:off x="7004304" y="256032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5" name="Text 23"/>
          <p:cNvSpPr/>
          <p:nvPr/>
        </p:nvSpPr>
        <p:spPr>
          <a:xfrm>
            <a:off x="7315200" y="249631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bash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6675120" y="294436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--version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6675120" y="321868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 version 27.x, build ...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6675120" y="349300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$ </a:t>
            </a:r>
            <a:r>
              <a:rPr lang="en-US" sz="1200" dirty="0">
                <a:solidFill>
                  <a:srgbClr val="F1F5F4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whoami &amp;&amp; uname -s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6675120" y="376732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codespace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675120" y="4041648"/>
            <a:ext cx="4480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Linux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400800" y="4937760"/>
            <a:ext cx="4937760" cy="822960"/>
          </a:xfrm>
          <a:prstGeom prst="roundRect">
            <a:avLst>
              <a:gd name="adj" fmla="val 13333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6629400" y="5074920"/>
            <a:ext cx="44805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port you publish inside a Codespace gets forwarded to a URL you can open — handy for showing your FastAPI docs page.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week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13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One container is rarely enough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1691640"/>
            <a:ext cx="999713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Real systems are an API, a database and a scheduler — separate containers that need to find each other.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822960" y="2560320"/>
            <a:ext cx="5486400" cy="2606040"/>
          </a:xfrm>
          <a:prstGeom prst="roundRect">
            <a:avLst>
              <a:gd name="adj" fmla="val 4211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1" name="Shape 9"/>
          <p:cNvSpPr/>
          <p:nvPr/>
        </p:nvSpPr>
        <p:spPr>
          <a:xfrm>
            <a:off x="822960" y="3017520"/>
            <a:ext cx="5486400" cy="9144"/>
          </a:xfrm>
          <a:prstGeom prst="rect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Shape 10"/>
          <p:cNvSpPr/>
          <p:nvPr/>
        </p:nvSpPr>
        <p:spPr>
          <a:xfrm>
            <a:off x="1024128" y="2743200"/>
            <a:ext cx="91440" cy="91440"/>
          </a:xfrm>
          <a:prstGeom prst="ellipse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3" name="Shape 11"/>
          <p:cNvSpPr/>
          <p:nvPr/>
        </p:nvSpPr>
        <p:spPr>
          <a:xfrm>
            <a:off x="1225296" y="274320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Shape 12"/>
          <p:cNvSpPr/>
          <p:nvPr/>
        </p:nvSpPr>
        <p:spPr>
          <a:xfrm>
            <a:off x="1426464" y="2743200"/>
            <a:ext cx="91440" cy="91440"/>
          </a:xfrm>
          <a:prstGeom prst="ellipse">
            <a:avLst/>
          </a:prstGeom>
          <a:solidFill>
            <a:srgbClr val="2A5E5A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5" name="Text 13"/>
          <p:cNvSpPr/>
          <p:nvPr/>
        </p:nvSpPr>
        <p:spPr>
          <a:xfrm>
            <a:off x="1737360" y="2679192"/>
            <a:ext cx="1371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docker-compose.yml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97280" y="3127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services: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1097280" y="34015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api: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097280" y="367588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build: .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097280" y="395020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ports: ["8000:8000"]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422452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depends_on: [db]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97280" y="44988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db: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1097280" y="477316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    image: postgres:16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6675120" y="2642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6876288" y="2542032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One YAML file describes every service, its ports, volumes and variables.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6675120" y="330098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6876288" y="3200400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docker compose up starts the whole stack; down removes it.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2700000">
            <a:off x="6675120" y="3959352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6876288" y="3858768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Services reach each other by name on a shared network — the API talks to “db”, not to an IP.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 rot="2700000">
            <a:off x="6675120" y="4617720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6876288" y="4517136"/>
            <a:ext cx="4462272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This is how you will run Postgres and Airflow later without installing either.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6675120" y="5394960"/>
            <a:ext cx="4663440" cy="731520"/>
          </a:xfrm>
          <a:prstGeom prst="roundRect">
            <a:avLst>
              <a:gd name="adj" fmla="val 15000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6903720" y="5532120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 Tuesday: Compose properly, plus Git and GitHub workflows.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Hands-on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14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This lecture’s self-study</a:t>
            </a:r>
            <a:endParaRPr lang="en-US" sz="3400" dirty="0"/>
          </a:p>
        </p:txBody>
      </p:sp>
      <p:sp>
        <p:nvSpPr>
          <p:cNvPr id="9" name="Shape 7"/>
          <p:cNvSpPr/>
          <p:nvPr/>
        </p:nvSpPr>
        <p:spPr>
          <a:xfrm>
            <a:off x="822960" y="20116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0" name="Text 8"/>
          <p:cNvSpPr/>
          <p:nvPr/>
        </p:nvSpPr>
        <p:spPr>
          <a:xfrm>
            <a:off x="105156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CORE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 rot="2700000">
            <a:off x="1051560" y="2642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2" name="Text 10"/>
          <p:cNvSpPr/>
          <p:nvPr/>
        </p:nvSpPr>
        <p:spPr>
          <a:xfrm>
            <a:off x="1252728" y="25420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a repo (the course repo or your own) in a Codespace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 rot="2700000">
            <a:off x="1051560" y="30998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4" name="Text 12"/>
          <p:cNvSpPr/>
          <p:nvPr/>
        </p:nvSpPr>
        <p:spPr>
          <a:xfrm>
            <a:off x="1252728" y="29992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the FastAPI app with /health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 rot="2700000">
            <a:off x="1051560" y="3557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6" name="Text 14"/>
          <p:cNvSpPr/>
          <p:nvPr/>
        </p:nvSpPr>
        <p:spPr>
          <a:xfrm>
            <a:off x="1252728" y="34564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Write a Dockerfile and build an image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 rot="2700000">
            <a:off x="1051560" y="40142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18" name="Text 16"/>
          <p:cNvSpPr/>
          <p:nvPr/>
        </p:nvSpPr>
        <p:spPr>
          <a:xfrm>
            <a:off x="1252728" y="3913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Run it, open /docs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434840" y="20116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20" name="Text 18"/>
          <p:cNvSpPr/>
          <p:nvPr/>
        </p:nvSpPr>
        <p:spPr>
          <a:xfrm>
            <a:off x="466344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THEN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 rot="2700000">
            <a:off x="4663440" y="2642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2" name="Text 20"/>
          <p:cNvSpPr/>
          <p:nvPr/>
        </p:nvSpPr>
        <p:spPr>
          <a:xfrm>
            <a:off x="4864608" y="25420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Add a .dockerignore and rebuild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 rot="2700000">
            <a:off x="4663440" y="30998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4" name="Text 22"/>
          <p:cNvSpPr/>
          <p:nvPr/>
        </p:nvSpPr>
        <p:spPr>
          <a:xfrm>
            <a:off x="4864608" y="29992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Read a setting from an env var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 rot="2700000">
            <a:off x="4663440" y="3557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6" name="Text 24"/>
          <p:cNvSpPr/>
          <p:nvPr/>
        </p:nvSpPr>
        <p:spPr>
          <a:xfrm>
            <a:off x="4864608" y="34564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Mount a volume and write a file to it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 rot="2700000">
            <a:off x="4663440" y="40142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28" name="Text 26"/>
          <p:cNvSpPr/>
          <p:nvPr/>
        </p:nvSpPr>
        <p:spPr>
          <a:xfrm>
            <a:off x="4864608" y="3913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Shell in with docker exec and look around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8046720" y="2011680"/>
            <a:ext cx="3291840" cy="3108960"/>
          </a:xfrm>
          <a:prstGeom prst="roundRect">
            <a:avLst>
              <a:gd name="adj" fmla="val 3529"/>
            </a:avLst>
          </a:prstGeom>
          <a:solidFill>
            <a:srgbClr val="0F3B3F">
              <a:alpha val="65000"/>
            </a:srgbClr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30" name="Text 28"/>
          <p:cNvSpPr/>
          <p:nvPr/>
        </p:nvSpPr>
        <p:spPr>
          <a:xfrm>
            <a:off x="8275320" y="2194560"/>
            <a:ext cx="2834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BEFORE NEXT WEEK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 rot="2700000">
            <a:off x="8275320" y="26426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2" name="Text 30"/>
          <p:cNvSpPr/>
          <p:nvPr/>
        </p:nvSpPr>
        <p:spPr>
          <a:xfrm>
            <a:off x="8476488" y="25420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Activate your Azure account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 rot="2700000">
            <a:off x="8275320" y="30998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4" name="Text 32"/>
          <p:cNvSpPr/>
          <p:nvPr/>
        </p:nvSpPr>
        <p:spPr>
          <a:xfrm>
            <a:off x="8476488" y="29992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Activate your Hopsworks account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 rot="2700000">
            <a:off x="8275320" y="35570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6" name="Text 34"/>
          <p:cNvSpPr/>
          <p:nvPr/>
        </p:nvSpPr>
        <p:spPr>
          <a:xfrm>
            <a:off x="8476488" y="34564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Repeat the Bash exercises in a Codespace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 rot="2700000">
            <a:off x="8275320" y="4014216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8" name="Text 36"/>
          <p:cNvSpPr/>
          <p:nvPr/>
        </p:nvSpPr>
        <p:spPr>
          <a:xfrm>
            <a:off x="8476488" y="3913632"/>
            <a:ext cx="2633472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Try one extra endpoint of your own</a:t>
            </a:r>
            <a:endParaRPr lang="en-US" sz="1200" dirty="0"/>
          </a:p>
        </p:txBody>
      </p:sp>
      <p:sp>
        <p:nvSpPr>
          <p:cNvPr id="39" name="Text 37"/>
          <p:cNvSpPr/>
          <p:nvPr/>
        </p:nvSpPr>
        <p:spPr>
          <a:xfrm>
            <a:off x="822960" y="539496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41148"/>
          </a:xfrm>
          <a:prstGeom prst="rect">
            <a:avLst/>
          </a:prstGeom>
          <a:solidFill>
            <a:srgbClr val="2DD4BF">
              <a:alpha val="55000"/>
            </a:srgbClr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3" name="Shape 1"/>
          <p:cNvSpPr/>
          <p:nvPr/>
        </p:nvSpPr>
        <p:spPr>
          <a:xfrm rot="2700000">
            <a:off x="822960" y="512064"/>
            <a:ext cx="73152" cy="73152"/>
          </a:xfrm>
          <a:prstGeom prst="rect">
            <a:avLst/>
          </a:prstGeom>
          <a:solidFill>
            <a:srgbClr val="2DD4BF"/>
          </a:solidFill>
          <a:ln/>
        </p:spPr>
        <p:txBody>
          <a:bodyPr/>
          <a:lstStyle/>
          <a:p>
            <a:endParaRPr lang="sv-SE"/>
          </a:p>
        </p:txBody>
      </p:sp>
      <p:sp>
        <p:nvSpPr>
          <p:cNvPr id="4" name="Text 2"/>
          <p:cNvSpPr/>
          <p:nvPr/>
        </p:nvSpPr>
        <p:spPr>
          <a:xfrm>
            <a:off x="987552" y="457200"/>
            <a:ext cx="457200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DD4B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Wrap-up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822960" y="6355080"/>
            <a:ext cx="5486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Engineering · IT-Högskolan Stockholm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10957255" y="6291072"/>
            <a:ext cx="868680" cy="292608"/>
          </a:xfrm>
          <a:prstGeom prst="roundRect">
            <a:avLst>
              <a:gd name="adj" fmla="val 50000"/>
            </a:avLst>
          </a:prstGeom>
          <a:solidFill>
            <a:srgbClr val="0E1A1F"/>
          </a:solidFill>
          <a:ln w="6350">
            <a:solidFill>
              <a:srgbClr val="2A5E5A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7" name="Text 5"/>
          <p:cNvSpPr/>
          <p:nvPr/>
        </p:nvSpPr>
        <p:spPr>
          <a:xfrm>
            <a:off x="10957255" y="6291072"/>
            <a:ext cx="8686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A8B5B2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15 / 15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822960" y="914400"/>
            <a:ext cx="1054577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4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Three things to take with you</a:t>
            </a:r>
            <a:endParaRPr lang="en-US" sz="3400" dirty="0"/>
          </a:p>
        </p:txBody>
      </p:sp>
      <p:sp>
        <p:nvSpPr>
          <p:cNvPr id="9" name="Text 7"/>
          <p:cNvSpPr/>
          <p:nvPr/>
        </p:nvSpPr>
        <p:spPr>
          <a:xfrm>
            <a:off x="822960" y="210312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01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645920" y="210312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The environment is part of the code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645920" y="246888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 Dockerfile in git turns “works on my machine” into something reviewable and repeatable.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315468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645920" y="315468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Image is the blueprint, container is the instance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45920" y="352044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Build once, tag it, run it anywhere — laptop, CI runner, Azure.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4206240"/>
            <a:ext cx="7315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2DD4BF"/>
                </a:solidFill>
                <a:latin typeface="IBM Plex Mono" pitchFamily="34" charset="0"/>
                <a:ea typeface="IBM Plex Mono" pitchFamily="34" charset="-122"/>
                <a:cs typeface="IBM Plex Mono" pitchFamily="34" charset="-120"/>
              </a:rPr>
              <a:t>03</a:t>
            </a:r>
            <a:endParaRPr lang="en-US" sz="1800" dirty="0"/>
          </a:p>
        </p:txBody>
      </p:sp>
      <p:sp>
        <p:nvSpPr>
          <p:cNvPr id="16" name="Text 14"/>
          <p:cNvSpPr/>
          <p:nvPr/>
        </p:nvSpPr>
        <p:spPr>
          <a:xfrm>
            <a:off x="1645920" y="4206240"/>
            <a:ext cx="9509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1F5F4"/>
                </a:solidFill>
                <a:latin typeface="Space Grotesk" pitchFamily="34" charset="0"/>
                <a:ea typeface="Space Grotesk" pitchFamily="34" charset="-122"/>
                <a:cs typeface="Space Grotesk" pitchFamily="34" charset="-120"/>
              </a:rPr>
              <a:t>Containers are disposable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645920" y="4572000"/>
            <a:ext cx="9509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A8B5B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Data belongs in volumes, configuration in environment variables, secrets in neither the image nor the repo.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822960" y="5394960"/>
            <a:ext cx="10515600" cy="777240"/>
          </a:xfrm>
          <a:prstGeom prst="roundRect">
            <a:avLst>
              <a:gd name="adj" fmla="val 14118"/>
            </a:avLst>
          </a:prstGeom>
          <a:solidFill>
            <a:srgbClr val="2DD4BF">
              <a:alpha val="10000"/>
            </a:srgbClr>
          </a:solidFill>
          <a:ln w="6350">
            <a:solidFill>
              <a:srgbClr val="2DD4BF"/>
            </a:solidFill>
            <a:prstDash val="solid"/>
          </a:ln>
        </p:spPr>
        <p:txBody>
          <a:bodyPr/>
          <a:lstStyle/>
          <a:p>
            <a:endParaRPr lang="sv-SE"/>
          </a:p>
        </p:txBody>
      </p:sp>
      <p:sp>
        <p:nvSpPr>
          <p:cNvPr id="19" name="Text 17"/>
          <p:cNvSpPr/>
          <p:nvPr/>
        </p:nvSpPr>
        <p:spPr>
          <a:xfrm>
            <a:off x="1051560" y="5559552"/>
            <a:ext cx="10058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1F5F4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Next: Docker Compose and Git workflows — several containers, and a team working on them at once.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-tem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47</TotalTime>
  <Words>1679</Words>
  <Application>Microsoft Macintosh PowerPoint</Application>
  <PresentationFormat>Bredbild</PresentationFormat>
  <Paragraphs>267</Paragraphs>
  <Slides>15</Slides>
  <Notes>15</Notes>
  <HiddenSlides>1</HiddenSlides>
  <MMClips>0</MMClips>
  <ScaleCrop>false</ScaleCrop>
  <HeadingPairs>
    <vt:vector size="6" baseType="variant">
      <vt:variant>
        <vt:lpstr>Använt teckensnitt</vt:lpstr>
      </vt:variant>
      <vt:variant>
        <vt:i4>5</vt:i4>
      </vt:variant>
      <vt:variant>
        <vt:lpstr>Tema</vt:lpstr>
      </vt:variant>
      <vt:variant>
        <vt:i4>1</vt:i4>
      </vt:variant>
      <vt:variant>
        <vt:lpstr>Bildrubriker</vt:lpstr>
      </vt:variant>
      <vt:variant>
        <vt:i4>15</vt:i4>
      </vt:variant>
    </vt:vector>
  </HeadingPairs>
  <TitlesOfParts>
    <vt:vector size="21" baseType="lpstr">
      <vt:lpstr>Space Grotesk</vt:lpstr>
      <vt:lpstr>Aptos</vt:lpstr>
      <vt:lpstr>Arial</vt:lpstr>
      <vt:lpstr>IBM Plex Mono</vt:lpstr>
      <vt:lpstr>IBM Plex Sans</vt:lpstr>
      <vt:lpstr>Office Theme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  <vt:lpstr>PowerPoint-presentation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mikael huss</cp:lastModifiedBy>
  <cp:revision>8</cp:revision>
  <dcterms:created xsi:type="dcterms:W3CDTF">2026-08-08T12:53:27Z</dcterms:created>
  <dcterms:modified xsi:type="dcterms:W3CDTF">2026-08-08T15:17:48Z</dcterms:modified>
</cp:coreProperties>
</file>