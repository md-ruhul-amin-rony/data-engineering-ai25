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0E1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>
            <a:off x="7071183" y="-2057400"/>
            <a:ext cx="6172200" cy="6172200"/>
          </a:xfrm>
          <a:prstGeom prst="ellipse">
            <a:avLst/>
          </a:prstGeom>
          <a:ln/>
        </p:spPr>
        <p:txBody>
          <a:bodyPr/>
          <a:lstStyle/>
          <a:p>
            <a:endParaRPr lang="sv-SE"/>
          </a:p>
        </p:txBody>
      </p:sp>
      <p:sp>
        <p:nvSpPr>
          <p:cNvPr id="4" name="Shape 2"/>
          <p:cNvSpPr/>
          <p:nvPr/>
        </p:nvSpPr>
        <p:spPr>
          <a:xfrm rot="2700000">
            <a:off x="822960" y="841248"/>
            <a:ext cx="91440" cy="91440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005840" y="777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Lecture 1.1 · Data Engineering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data engineering </a:t>
            </a:r>
            <a:r>
              <a:rPr lang="en-US" sz="4400" b="1" dirty="0">
                <a:solidFill>
                  <a:srgbClr val="2DD4B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journey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starts with this course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we will build, in what order, and what is expected of you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5852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Mikael Huss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6172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IT-Högskolan, Stockholm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goal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 the end you will have shipped a pipeline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1691640"/>
            <a:ext cx="99971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a notebook on your laptop — a scheduled pipeline that runs on someone else's machine, in the cloud, without you pressing play.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83464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2DD4BF">
              <a:alpha val="15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Source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77440" y="28346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8A7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697480" y="283464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2DD4BF">
              <a:alpha val="15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2697480" y="28346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Ingest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51960" y="28346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8A7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0" y="283464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2DD4BF">
              <a:alpha val="15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4572000" y="28346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0" y="28346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8A7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46520" y="283464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2DD4BF">
              <a:alpha val="15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6446520" y="28346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Transform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001000" y="28346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8A7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321040" y="283464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2DD4BF">
              <a:alpha val="15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8321040" y="28346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4114800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2DD4BF">
              <a:alpha val="10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1051560" y="427939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chain, five times over: first by hand, then in a container, then orchestrated, then automated, then on the cloud.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Contents · 1 of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Foundations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105156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0020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data engineering?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 rot="2700000">
            <a:off x="105156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125272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role actually is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rot="2700000">
            <a:off x="105156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125272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models break in production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2700000">
            <a:off x="105156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125272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drift and pipeline debt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466344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new best friends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 rot="2700000">
            <a:off x="466344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486460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Linux and Bash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rot="2700000">
            <a:off x="466344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486460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Git and version control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rot="2700000">
            <a:off x="466344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486460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terminal as an interface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827532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82396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Working like a team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 rot="2700000">
            <a:off x="827532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1" name="Text 29"/>
          <p:cNvSpPr/>
          <p:nvPr/>
        </p:nvSpPr>
        <p:spPr>
          <a:xfrm>
            <a:off x="847648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Agile project practice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 rot="2700000">
            <a:off x="827532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3" name="Text 31"/>
          <p:cNvSpPr/>
          <p:nvPr/>
        </p:nvSpPr>
        <p:spPr>
          <a:xfrm>
            <a:off x="847648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Security, regulation &amp; ethics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 rot="2700000">
            <a:off x="827532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847648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Code review and conventions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Contents · 2 of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Building &amp; shipping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82296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105156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0020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Package &amp; reproduce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 rot="2700000">
            <a:off x="105156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125272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Docker containers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rot="2700000">
            <a:off x="105156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125272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Reproducible dev environments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2700000">
            <a:off x="105156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125272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Pre-commit hooks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43484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466344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Automate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 rot="2700000">
            <a:off x="466344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Text 20"/>
          <p:cNvSpPr/>
          <p:nvPr/>
        </p:nvSpPr>
        <p:spPr>
          <a:xfrm>
            <a:off x="486460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Orchestrating pipelines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rot="2700000">
            <a:off x="466344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486460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GitHub Actions for CI/CD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rot="2700000">
            <a:off x="466344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486460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Deploying to Azure (IT permitting)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0" y="1828800"/>
            <a:ext cx="3291840" cy="2514600"/>
          </a:xfrm>
          <a:prstGeom prst="roundRect">
            <a:avLst>
              <a:gd name="adj" fmla="val 436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8275320" y="20116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823960" y="1993392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See the landscape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 rot="2700000">
            <a:off x="8275320" y="277977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1" name="Text 29"/>
          <p:cNvSpPr/>
          <p:nvPr/>
        </p:nvSpPr>
        <p:spPr>
          <a:xfrm>
            <a:off x="8476488" y="267919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platforms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 rot="2700000">
            <a:off x="8275320" y="32826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3" name="Text 31"/>
          <p:cNvSpPr/>
          <p:nvPr/>
        </p:nvSpPr>
        <p:spPr>
          <a:xfrm>
            <a:off x="8476488" y="318211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modern data stack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 rot="2700000">
            <a:off x="8275320" y="378561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8476488" y="3685032"/>
            <a:ext cx="26334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Dashboards &amp; serving ML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Schedule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course runs from week 33 to week 41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822960" y="1920240"/>
            <a:ext cx="3291840" cy="1920240"/>
          </a:xfrm>
          <a:prstGeom prst="roundRect">
            <a:avLst>
              <a:gd name="adj" fmla="val 5714"/>
            </a:avLst>
          </a:prstGeom>
          <a:solidFill>
            <a:srgbClr val="2DD4BF">
              <a:alpha val="10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0" name="Text 8"/>
          <p:cNvSpPr/>
          <p:nvPr/>
        </p:nvSpPr>
        <p:spPr>
          <a:xfrm>
            <a:off x="1051560" y="2103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 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51560" y="24231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Fundamentals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32918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weeks 33 · 34 · 35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89120" y="1920240"/>
            <a:ext cx="6949440" cy="1920240"/>
          </a:xfrm>
          <a:prstGeom prst="roundRect">
            <a:avLst>
              <a:gd name="adj" fmla="val 5714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4617720" y="2103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2423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Project &amp; in-depth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617720" y="32918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weeks 36 · 37 · 38 · 39 · 40 · 41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rot="2700000">
            <a:off x="822960" y="46542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1024128" y="4553712"/>
            <a:ext cx="1031443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 1 is lectures plus small hands-on exercises, one tool at a time.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 rot="2700000">
            <a:off x="822960" y="511149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1024128" y="5010912"/>
            <a:ext cx="1031443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Part 2 is one running project — the tools from part 1, used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we 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session: a little theory, then your hands on keys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201168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20240" y="2011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this tool exists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20240" y="235915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problem it solves, with a real example.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97180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971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it works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920240" y="331927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handful of commands or concepts you actually need.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931920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20240" y="39319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 build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920240" y="4279392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Exercises in tiers — core first, then stretch.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0" y="1874520"/>
            <a:ext cx="4754880" cy="2377440"/>
          </a:xfrm>
          <a:prstGeom prst="roundRect">
            <a:avLst>
              <a:gd name="adj" fmla="val 4615"/>
            </a:avLst>
          </a:prstGeom>
          <a:solidFill>
            <a:srgbClr val="0F3B3F">
              <a:alpha val="65000"/>
            </a:srgbClr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685800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TO BRING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 rot="2700000">
            <a:off x="6858000" y="2688336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7059168" y="2587752"/>
            <a:ext cx="400507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laptop with a terminal you can type in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 rot="2700000">
            <a:off x="6858000" y="32552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7059168" y="3154680"/>
            <a:ext cx="400507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GitHub account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 rot="2700000">
            <a:off x="6858000" y="3822192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7059168" y="3721608"/>
            <a:ext cx="400507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during the lecture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DD4BF">
              <a:alpha val="55000"/>
            </a:srgbClr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" name="Shape 1"/>
          <p:cNvSpPr/>
          <p:nvPr/>
        </p:nvSpPr>
        <p:spPr>
          <a:xfrm rot="2700000">
            <a:off x="822960" y="512064"/>
            <a:ext cx="73152" cy="73152"/>
          </a:xfrm>
          <a:prstGeom prst="rect">
            <a:avLst/>
          </a:prstGeom>
          <a:solidFill>
            <a:srgbClr val="2DD4B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987552" y="45720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D4B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Expectations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63550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 Engineering · IT-Högskolan Stockholm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957255" y="629107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0E1A1F"/>
          </a:solidFill>
          <a:ln w="6350">
            <a:solidFill>
              <a:srgbClr val="2A5E5A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0957255" y="62910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5B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91440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habits that decide how this course goes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19202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192024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Type the commands yourself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228600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pipeline is not the same as having built one.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9260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292608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Commit small and often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29184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Your git history is part of how the project is read.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9319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D4B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45920" y="393192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 unstuck out loud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4297680"/>
            <a:ext cx="9509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8B5B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Stuck for an hour: ask. Stuck for a week in silence: avoidable.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14118"/>
            </a:avLst>
          </a:prstGeom>
          <a:solidFill>
            <a:srgbClr val="2DD4BF">
              <a:alpha val="10000"/>
            </a:srgbClr>
          </a:solidFill>
          <a:ln w="6350">
            <a:solidFill>
              <a:srgbClr val="2DD4BF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051560" y="519379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Next: why data engineering — what breaks when a model leaves your laptop.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490</Words>
  <Application>Microsoft Macintosh PowerPoint</Application>
  <PresentationFormat>Bredbild</PresentationFormat>
  <Paragraphs>106</Paragraphs>
  <Slides>7</Slides>
  <Notes>7</Notes>
  <HiddenSlides>0</HiddenSlides>
  <MMClips>0</MMClips>
  <ScaleCrop>false</ScaleCrop>
  <HeadingPairs>
    <vt:vector size="6" baseType="variant">
      <vt:variant>
        <vt:lpstr>Använt teckensnitt</vt:lpstr>
      </vt:variant>
      <vt:variant>
        <vt:i4>5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7</vt:i4>
      </vt:variant>
    </vt:vector>
  </HeadingPairs>
  <TitlesOfParts>
    <vt:vector size="13" baseType="lpstr">
      <vt:lpstr>Space Grotesk</vt:lpstr>
      <vt:lpstr>Aptos</vt:lpstr>
      <vt:lpstr>Arial</vt:lpstr>
      <vt:lpstr>IBM Plex Mono</vt:lpstr>
      <vt:lpstr>IBM Plex Sans</vt:lpstr>
      <vt:lpstr>Office Theme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mikael huss</cp:lastModifiedBy>
  <cp:revision>3</cp:revision>
  <dcterms:created xsi:type="dcterms:W3CDTF">2026-07-31T11:07:30Z</dcterms:created>
  <dcterms:modified xsi:type="dcterms:W3CDTF">2026-08-10T19:25:00Z</dcterms:modified>
</cp:coreProperties>
</file>