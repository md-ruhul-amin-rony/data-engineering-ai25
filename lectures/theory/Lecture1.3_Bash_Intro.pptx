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E1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7071183" y="-2057400"/>
            <a:ext cx="6172200" cy="6172200"/>
          </a:xfrm>
          <a:prstGeom prst="ellipse">
            <a:avLst/>
          </a:prstGeom>
          <a:ln/>
        </p:spPr>
        <p:txBody>
          <a:bodyPr/>
          <a:lstStyle/>
          <a:p>
            <a:endParaRPr lang="sv-SE"/>
          </a:p>
        </p:txBody>
      </p:sp>
      <p:sp>
        <p:nvSpPr>
          <p:cNvPr id="4" name="Shape 2"/>
          <p:cNvSpPr/>
          <p:nvPr/>
        </p:nvSpPr>
        <p:spPr>
          <a:xfrm rot="2700000">
            <a:off x="822960" y="841248"/>
            <a:ext cx="91440" cy="9144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Lecture 1.3 · Data Engineering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Starting from the bottom: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Bash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shell is the interface to every machine you will not be sitting in front of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5852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Mikael Huss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6172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IT-Högskolan, Stockholm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820095" y="5989320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2" name="Text 10"/>
          <p:cNvSpPr/>
          <p:nvPr/>
        </p:nvSpPr>
        <p:spPr>
          <a:xfrm>
            <a:off x="10820095" y="59893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 rot="2700000">
            <a:off x="822960" y="5120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987552" y="457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is Bash?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shell: the program that reads your typed commands and asks the operating system to run them. Bash is the most common one on Linux — and a full scripting language.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 rot="2700000">
            <a:off x="868680" y="273405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1069848" y="2633472"/>
            <a:ext cx="473659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Terminal — the window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rot="2700000">
            <a:off x="868680" y="3172968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3" name="Text 11"/>
          <p:cNvSpPr/>
          <p:nvPr/>
        </p:nvSpPr>
        <p:spPr>
          <a:xfrm>
            <a:off x="1069848" y="3072384"/>
            <a:ext cx="473659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Shell — the program inside it (bash, zsh, fish)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rot="2700000">
            <a:off x="868680" y="3611880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1069848" y="3511296"/>
            <a:ext cx="473659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Command — the program the shell runs for you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2560320"/>
            <a:ext cx="4937760" cy="1783080"/>
          </a:xfrm>
          <a:prstGeom prst="roundRect">
            <a:avLst>
              <a:gd name="adj" fmla="val 6154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7" name="Shape 15"/>
          <p:cNvSpPr/>
          <p:nvPr/>
        </p:nvSpPr>
        <p:spPr>
          <a:xfrm>
            <a:off x="6400800" y="3017520"/>
            <a:ext cx="4937760" cy="9144"/>
          </a:xfrm>
          <a:prstGeom prst="rect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8" name="Shape 16"/>
          <p:cNvSpPr/>
          <p:nvPr/>
        </p:nvSpPr>
        <p:spPr>
          <a:xfrm>
            <a:off x="6601968" y="2743200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9" name="Shape 17"/>
          <p:cNvSpPr/>
          <p:nvPr/>
        </p:nvSpPr>
        <p:spPr>
          <a:xfrm>
            <a:off x="6803136" y="274320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0" name="Shape 18"/>
          <p:cNvSpPr/>
          <p:nvPr/>
        </p:nvSpPr>
        <p:spPr>
          <a:xfrm>
            <a:off x="7004304" y="274320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1" name="Text 19"/>
          <p:cNvSpPr/>
          <p:nvPr/>
        </p:nvSpPr>
        <p:spPr>
          <a:xfrm>
            <a:off x="7315200" y="26791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75120" y="312724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</a:t>
            </a:r>
            <a:r>
              <a:rPr lang="en-US" sz="12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echo $SHELL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0" y="340156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/bin/bash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0" y="367588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</a:t>
            </a:r>
            <a:r>
              <a:rPr lang="en-US" sz="12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bash --version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395020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GNU bash, version 5.2.21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 rot="2700000">
            <a:off x="822960" y="5120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987552" y="457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Bash in data engineering?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Because production does not have a graphical interface.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3774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868680" y="23774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23160" y="23774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8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43200" y="23774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4" name="Text 12"/>
          <p:cNvSpPr/>
          <p:nvPr/>
        </p:nvSpPr>
        <p:spPr>
          <a:xfrm>
            <a:off x="2743200" y="23774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pipeline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0" y="23774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8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17720" y="23774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7" name="Text 15"/>
          <p:cNvSpPr/>
          <p:nvPr/>
        </p:nvSpPr>
        <p:spPr>
          <a:xfrm>
            <a:off x="4617720" y="23774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23774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8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92240" y="23774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0" name="Text 18"/>
          <p:cNvSpPr/>
          <p:nvPr/>
        </p:nvSpPr>
        <p:spPr>
          <a:xfrm>
            <a:off x="6492240" y="23774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server / cloud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 rot="2700000">
            <a:off x="868680" y="346557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2" name="Text 20"/>
          <p:cNvSpPr/>
          <p:nvPr/>
        </p:nvSpPr>
        <p:spPr>
          <a:xfrm>
            <a:off x="1069848" y="3364992"/>
            <a:ext cx="102229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pipelines run inside containers — and a Dockerfile is mostly shell.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 rot="2700000">
            <a:off x="868680" y="396849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4" name="Text 22"/>
          <p:cNvSpPr/>
          <p:nvPr/>
        </p:nvSpPr>
        <p:spPr>
          <a:xfrm>
            <a:off x="1069848" y="3867912"/>
            <a:ext cx="102229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machine that runs them is a Linux box you reach over SSH.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 rot="2700000">
            <a:off x="868680" y="447141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1069848" y="4370832"/>
            <a:ext cx="102229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CI/CD, Airflow operators and cron jobs all execute shell commands.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 rot="2700000">
            <a:off x="868680" y="497433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8" name="Text 26"/>
          <p:cNvSpPr/>
          <p:nvPr/>
        </p:nvSpPr>
        <p:spPr>
          <a:xfrm>
            <a:off x="1069848" y="4873752"/>
            <a:ext cx="102229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Debugging is 90 % looking at files and logs on a remote host.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 rot="2700000">
            <a:off x="822960" y="5120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987552" y="457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you will actually meet it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822960" y="1920240"/>
            <a:ext cx="5029200" cy="1051560"/>
          </a:xfrm>
          <a:prstGeom prst="roundRect">
            <a:avLst>
              <a:gd name="adj" fmla="val 10435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Text 8"/>
          <p:cNvSpPr/>
          <p:nvPr/>
        </p:nvSpPr>
        <p:spPr>
          <a:xfrm>
            <a:off x="1051560" y="206654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Dockerfile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 pip install -r requirements.txt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920240"/>
            <a:ext cx="5029200" cy="1051560"/>
          </a:xfrm>
          <a:prstGeom prst="roundRect">
            <a:avLst>
              <a:gd name="adj" fmla="val 10435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3" name="Text 11"/>
          <p:cNvSpPr/>
          <p:nvPr/>
        </p:nvSpPr>
        <p:spPr>
          <a:xfrm>
            <a:off x="6400800" y="206654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 VM / SSH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tail -f /var/log/pipeline.log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246120"/>
            <a:ext cx="5029200" cy="1051560"/>
          </a:xfrm>
          <a:prstGeom prst="roundRect">
            <a:avLst>
              <a:gd name="adj" fmla="val 10435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6" name="Text 14"/>
          <p:cNvSpPr/>
          <p:nvPr/>
        </p:nvSpPr>
        <p:spPr>
          <a:xfrm>
            <a:off x="1051560" y="339242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CI/CD (GitHub Actions)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run: bash scripts/build.sh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3246120"/>
            <a:ext cx="5029200" cy="1051560"/>
          </a:xfrm>
          <a:prstGeom prst="roundRect">
            <a:avLst>
              <a:gd name="adj" fmla="val 10435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6400800" y="339242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BashOperator(bash_command="dbt run")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4572000"/>
            <a:ext cx="5029200" cy="1051560"/>
          </a:xfrm>
          <a:prstGeom prst="roundRect">
            <a:avLst>
              <a:gd name="adj" fmla="val 10435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2" name="Text 20"/>
          <p:cNvSpPr/>
          <p:nvPr/>
        </p:nvSpPr>
        <p:spPr>
          <a:xfrm>
            <a:off x="1051560" y="4718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Local dev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 .venv/bin/activate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4572000"/>
            <a:ext cx="5029200" cy="1051560"/>
          </a:xfrm>
          <a:prstGeom prst="roundRect">
            <a:avLst>
              <a:gd name="adj" fmla="val 10435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5" name="Text 23"/>
          <p:cNvSpPr/>
          <p:nvPr/>
        </p:nvSpPr>
        <p:spPr>
          <a:xfrm>
            <a:off x="6400800" y="4718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data checks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wc -l orders.csv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 rot="2700000">
            <a:off x="822960" y="5120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987552" y="457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Anatomy of a command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822960" y="1828800"/>
            <a:ext cx="10515600" cy="960120"/>
          </a:xfrm>
          <a:prstGeom prst="roundRect">
            <a:avLst>
              <a:gd name="adj" fmla="val 11429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Shape 8"/>
          <p:cNvSpPr/>
          <p:nvPr/>
        </p:nvSpPr>
        <p:spPr>
          <a:xfrm>
            <a:off x="822960" y="2286000"/>
            <a:ext cx="10515600" cy="9144"/>
          </a:xfrm>
          <a:prstGeom prst="rect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1" name="Shape 9"/>
          <p:cNvSpPr/>
          <p:nvPr/>
        </p:nvSpPr>
        <p:spPr>
          <a:xfrm>
            <a:off x="1024128" y="2011680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2" name="Shape 10"/>
          <p:cNvSpPr/>
          <p:nvPr/>
        </p:nvSpPr>
        <p:spPr>
          <a:xfrm>
            <a:off x="1225296" y="201168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3" name="Shape 11"/>
          <p:cNvSpPr/>
          <p:nvPr/>
        </p:nvSpPr>
        <p:spPr>
          <a:xfrm>
            <a:off x="1426464" y="201168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4" name="Text 12"/>
          <p:cNvSpPr/>
          <p:nvPr/>
        </p:nvSpPr>
        <p:spPr>
          <a:xfrm>
            <a:off x="1737360" y="19476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239572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</a:t>
            </a:r>
            <a:r>
              <a:rPr lang="en-US" sz="12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ls -l -a /Users/</a:t>
            </a:r>
            <a:r>
              <a:rPr lang="en-US" sz="1200" dirty="0" err="1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hussmikael</a:t>
            </a:r>
            <a:r>
              <a:rPr lang="en-US" sz="12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/data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38328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2DD4BF">
              <a:alpha val="10000"/>
            </a:srgbClr>
          </a:solidFill>
          <a:ln w="63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7" name="Text 15"/>
          <p:cNvSpPr/>
          <p:nvPr/>
        </p:nvSpPr>
        <p:spPr>
          <a:xfrm>
            <a:off x="1051560" y="35204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command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38404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4206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program to run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338328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1" name="Text 19"/>
          <p:cNvSpPr/>
          <p:nvPr/>
        </p:nvSpPr>
        <p:spPr>
          <a:xfrm>
            <a:off x="4617720" y="35204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options / flags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17720" y="38404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-l -a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17720" y="4206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it should behave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55280" y="338328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5" name="Text 23"/>
          <p:cNvSpPr/>
          <p:nvPr/>
        </p:nvSpPr>
        <p:spPr>
          <a:xfrm>
            <a:off x="8183880" y="35204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arguments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83880" y="38404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/home/mikael/data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83880" y="4206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it works 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5029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Stuck?  man ls  ·  ls --help  ·  Tab to autocomplete.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 rot="2700000">
            <a:off x="822960" y="5120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987552" y="457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Toolkit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Moving around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822960" y="1783080"/>
            <a:ext cx="512064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Text 8"/>
          <p:cNvSpPr/>
          <p:nvPr/>
        </p:nvSpPr>
        <p:spPr>
          <a:xfrm>
            <a:off x="1024128" y="1783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pwd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27248" y="178308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am I?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350008"/>
            <a:ext cx="512064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3" name="Text 11"/>
          <p:cNvSpPr/>
          <p:nvPr/>
        </p:nvSpPr>
        <p:spPr>
          <a:xfrm>
            <a:off x="1024128" y="235000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ls -lah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27248" y="2350008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here (long, all, human)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2916936"/>
            <a:ext cx="512064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6" name="Text 14"/>
          <p:cNvSpPr/>
          <p:nvPr/>
        </p:nvSpPr>
        <p:spPr>
          <a:xfrm>
            <a:off x="1024128" y="291693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cd data/raw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27248" y="2916936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 down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3483864"/>
            <a:ext cx="512064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1024128" y="348386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cd ..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27248" y="3483864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 up one level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4050792"/>
            <a:ext cx="512064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2" name="Text 20"/>
          <p:cNvSpPr/>
          <p:nvPr/>
        </p:nvSpPr>
        <p:spPr>
          <a:xfrm>
            <a:off x="1024128" y="405079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cd ~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27248" y="4050792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4617720"/>
            <a:ext cx="512064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5" name="Text 23"/>
          <p:cNvSpPr/>
          <p:nvPr/>
        </p:nvSpPr>
        <p:spPr>
          <a:xfrm>
            <a:off x="1024128" y="4617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cd -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27248" y="461772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 to previous directory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1783080"/>
            <a:ext cx="4937760" cy="2057400"/>
          </a:xfrm>
          <a:prstGeom prst="roundRect">
            <a:avLst>
              <a:gd name="adj" fmla="val 5333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8" name="Shape 26"/>
          <p:cNvSpPr/>
          <p:nvPr/>
        </p:nvSpPr>
        <p:spPr>
          <a:xfrm>
            <a:off x="6400800" y="2240280"/>
            <a:ext cx="4937760" cy="9144"/>
          </a:xfrm>
          <a:prstGeom prst="rect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9" name="Shape 27"/>
          <p:cNvSpPr/>
          <p:nvPr/>
        </p:nvSpPr>
        <p:spPr>
          <a:xfrm>
            <a:off x="6601968" y="1965960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0" name="Shape 28"/>
          <p:cNvSpPr/>
          <p:nvPr/>
        </p:nvSpPr>
        <p:spPr>
          <a:xfrm>
            <a:off x="6803136" y="196596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1" name="Shape 29"/>
          <p:cNvSpPr/>
          <p:nvPr/>
        </p:nvSpPr>
        <p:spPr>
          <a:xfrm>
            <a:off x="7004304" y="196596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7315200" y="1901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75120" y="235000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</a:t>
            </a:r>
            <a:r>
              <a:rPr lang="en-US" sz="12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pwd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75120" y="262432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/Users/</a:t>
            </a:r>
            <a:r>
              <a:rPr lang="en-US" sz="1200" dirty="0" err="1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hussmikael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75120" y="289864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</a:t>
            </a:r>
            <a:r>
              <a:rPr lang="en-US" sz="12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cd project/data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75120" y="317296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</a:t>
            </a:r>
            <a:r>
              <a:rPr lang="en-US" sz="12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75120" y="344728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raw  staging  orders.csv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00800" y="420624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2DD4BF">
              <a:alpha val="10000"/>
            </a:srgbClr>
          </a:solidFill>
          <a:ln w="63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9" name="Text 37"/>
          <p:cNvSpPr/>
          <p:nvPr/>
        </p:nvSpPr>
        <p:spPr>
          <a:xfrm>
            <a:off x="6629400" y="43434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/absolute starts at the root, relative starts where you stand.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 rot="2700000">
            <a:off x="822960" y="5120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987552" y="457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Toolkit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Creating, copying, deleting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822960" y="1783080"/>
            <a:ext cx="512064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Text 8"/>
          <p:cNvSpPr/>
          <p:nvPr/>
        </p:nvSpPr>
        <p:spPr>
          <a:xfrm>
            <a:off x="1024128" y="1783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mkdir -p a/b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27248" y="178308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 directories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350008"/>
            <a:ext cx="512064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3" name="Text 11"/>
          <p:cNvSpPr/>
          <p:nvPr/>
        </p:nvSpPr>
        <p:spPr>
          <a:xfrm>
            <a:off x="1024128" y="235000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touch notes.txt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27248" y="2350008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 an empty file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2916936"/>
            <a:ext cx="512064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6" name="Text 14"/>
          <p:cNvSpPr/>
          <p:nvPr/>
        </p:nvSpPr>
        <p:spPr>
          <a:xfrm>
            <a:off x="1024128" y="291693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 file.csv backup/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27248" y="2916936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copy (-r for folders)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3483864"/>
            <a:ext cx="512064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1024128" y="348386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mv old.csv new.csv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27248" y="3483864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move or rename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4050792"/>
            <a:ext cx="512064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2" name="Text 20"/>
          <p:cNvSpPr/>
          <p:nvPr/>
        </p:nvSpPr>
        <p:spPr>
          <a:xfrm>
            <a:off x="1024128" y="405079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rm file.csv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27248" y="4050792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delete a file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4617720"/>
            <a:ext cx="512064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5" name="Text 23"/>
          <p:cNvSpPr/>
          <p:nvPr/>
        </p:nvSpPr>
        <p:spPr>
          <a:xfrm>
            <a:off x="1024128" y="4617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rm -r folder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27248" y="461772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delete a folder — careful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1783080"/>
            <a:ext cx="4937760" cy="1737360"/>
          </a:xfrm>
          <a:prstGeom prst="roundRect">
            <a:avLst>
              <a:gd name="adj" fmla="val 6316"/>
            </a:avLst>
          </a:prstGeom>
          <a:solidFill>
            <a:srgbClr val="2DD4BF">
              <a:alpha val="10000"/>
            </a:srgbClr>
          </a:solidFill>
          <a:ln w="63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8" name="Text 26"/>
          <p:cNvSpPr/>
          <p:nvPr/>
        </p:nvSpPr>
        <p:spPr>
          <a:xfrm>
            <a:off x="6629400" y="1920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There is no undo and no recycle bin.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29400" y="228600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deleting, run the same path with ls first. Use rm -i while you are learning, and never type rm -rf / "to see what happens".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0" y="3749040"/>
            <a:ext cx="4937760" cy="1234440"/>
          </a:xfrm>
          <a:prstGeom prst="roundRect">
            <a:avLst>
              <a:gd name="adj" fmla="val 8889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1" name="Shape 29"/>
          <p:cNvSpPr/>
          <p:nvPr/>
        </p:nvSpPr>
        <p:spPr>
          <a:xfrm>
            <a:off x="6400800" y="4206240"/>
            <a:ext cx="4937760" cy="9144"/>
          </a:xfrm>
          <a:prstGeom prst="rect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2" name="Shape 30"/>
          <p:cNvSpPr/>
          <p:nvPr/>
        </p:nvSpPr>
        <p:spPr>
          <a:xfrm>
            <a:off x="6601968" y="3931920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3" name="Shape 31"/>
          <p:cNvSpPr/>
          <p:nvPr/>
        </p:nvSpPr>
        <p:spPr>
          <a:xfrm>
            <a:off x="6803136" y="393192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4" name="Shape 32"/>
          <p:cNvSpPr/>
          <p:nvPr/>
        </p:nvSpPr>
        <p:spPr>
          <a:xfrm>
            <a:off x="7004304" y="393192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5" name="Text 33"/>
          <p:cNvSpPr/>
          <p:nvPr/>
        </p:nvSpPr>
        <p:spPr>
          <a:xfrm>
            <a:off x="7315200" y="38679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75120" y="431596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</a:t>
            </a:r>
            <a:r>
              <a:rPr lang="en-US" sz="12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nano notes.txt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75120" y="459028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^O save   ^X exit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 rot="2700000">
            <a:off x="822960" y="5120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987552" y="457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Toolkit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Looking inside data files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4 GB CSV that freezes your notebook opens instantly here.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377440"/>
            <a:ext cx="512064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1024128" y="2377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head -5 file.csv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27248" y="237744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first rows (check the header)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944368"/>
            <a:ext cx="512064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4" name="Text 12"/>
          <p:cNvSpPr/>
          <p:nvPr/>
        </p:nvSpPr>
        <p:spPr>
          <a:xfrm>
            <a:off x="1024128" y="294436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tail -f app.log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27248" y="2944368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follow a log live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511296"/>
            <a:ext cx="512064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7" name="Text 15"/>
          <p:cNvSpPr/>
          <p:nvPr/>
        </p:nvSpPr>
        <p:spPr>
          <a:xfrm>
            <a:off x="1024128" y="351129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wc -l file.csv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27248" y="3511296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 rows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078224"/>
            <a:ext cx="512064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0" name="Text 18"/>
          <p:cNvSpPr/>
          <p:nvPr/>
        </p:nvSpPr>
        <p:spPr>
          <a:xfrm>
            <a:off x="1024128" y="407822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less file.csv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27248" y="4078224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scroll without loading it all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4645152"/>
            <a:ext cx="512064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3" name="Text 21"/>
          <p:cNvSpPr/>
          <p:nvPr/>
        </p:nvSpPr>
        <p:spPr>
          <a:xfrm>
            <a:off x="1024128" y="464515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grep ERROR app.log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27248" y="4645152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 matching lines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2377440"/>
            <a:ext cx="4937760" cy="2057400"/>
          </a:xfrm>
          <a:prstGeom prst="roundRect">
            <a:avLst>
              <a:gd name="adj" fmla="val 5333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6" name="Shape 24"/>
          <p:cNvSpPr/>
          <p:nvPr/>
        </p:nvSpPr>
        <p:spPr>
          <a:xfrm>
            <a:off x="6400800" y="2834640"/>
            <a:ext cx="4937760" cy="9144"/>
          </a:xfrm>
          <a:prstGeom prst="rect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7" name="Shape 25"/>
          <p:cNvSpPr/>
          <p:nvPr/>
        </p:nvSpPr>
        <p:spPr>
          <a:xfrm>
            <a:off x="6601968" y="2560320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8" name="Shape 26"/>
          <p:cNvSpPr/>
          <p:nvPr/>
        </p:nvSpPr>
        <p:spPr>
          <a:xfrm>
            <a:off x="6803136" y="256032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9" name="Shape 27"/>
          <p:cNvSpPr/>
          <p:nvPr/>
        </p:nvSpPr>
        <p:spPr>
          <a:xfrm>
            <a:off x="7004304" y="256032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0" name="Text 28"/>
          <p:cNvSpPr/>
          <p:nvPr/>
        </p:nvSpPr>
        <p:spPr>
          <a:xfrm>
            <a:off x="7315200" y="24963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75120" y="294436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</a:t>
            </a:r>
            <a:r>
              <a:rPr lang="en-US" sz="12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head -2 orders.csv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75120" y="321868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order_id,customer,amount,ts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75120" y="349300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1001,ACME,249.00,2026-06-01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75120" y="376732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</a:t>
            </a:r>
            <a:r>
              <a:rPr lang="en-US" sz="12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wc -l orders.csv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75120" y="404164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3812455 orders.csv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 rot="2700000">
            <a:off x="822960" y="5120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987552" y="457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Superpowers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Pipes and redirection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Small tools, chained together — each one's output is the next one's input.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286000"/>
            <a:ext cx="10515600" cy="1783080"/>
          </a:xfrm>
          <a:prstGeom prst="roundRect">
            <a:avLst>
              <a:gd name="adj" fmla="val 6154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1" name="Shape 9"/>
          <p:cNvSpPr/>
          <p:nvPr/>
        </p:nvSpPr>
        <p:spPr>
          <a:xfrm>
            <a:off x="822960" y="2743200"/>
            <a:ext cx="10515600" cy="9144"/>
          </a:xfrm>
          <a:prstGeom prst="rect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2" name="Shape 10"/>
          <p:cNvSpPr/>
          <p:nvPr/>
        </p:nvSpPr>
        <p:spPr>
          <a:xfrm>
            <a:off x="1024128" y="2468880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3" name="Shape 11"/>
          <p:cNvSpPr/>
          <p:nvPr/>
        </p:nvSpPr>
        <p:spPr>
          <a:xfrm>
            <a:off x="1225296" y="246888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4" name="Shape 12"/>
          <p:cNvSpPr/>
          <p:nvPr/>
        </p:nvSpPr>
        <p:spPr>
          <a:xfrm>
            <a:off x="1426464" y="246888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1737360" y="24048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" y="285292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</a:t>
            </a:r>
            <a:r>
              <a:rPr lang="en-US" sz="12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 app.log | grep ERROR | wc -l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12724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40156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</a:t>
            </a:r>
            <a:r>
              <a:rPr lang="en-US" sz="12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cut -d, -f2 orders.csv | sort | uniq -c | sort -nr | head -3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67588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9812 ACME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61772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1" name="Text 19"/>
          <p:cNvSpPr/>
          <p:nvPr/>
        </p:nvSpPr>
        <p:spPr>
          <a:xfrm>
            <a:off x="1051560" y="4709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51560" y="5120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output → next command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20440" y="461772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4" name="Text 22"/>
          <p:cNvSpPr/>
          <p:nvPr/>
        </p:nvSpPr>
        <p:spPr>
          <a:xfrm>
            <a:off x="3749040" y="4709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749040" y="5120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to file (overwrite)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461772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7" name="Text 25"/>
          <p:cNvSpPr/>
          <p:nvPr/>
        </p:nvSpPr>
        <p:spPr>
          <a:xfrm>
            <a:off x="6446520" y="4709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&gt;&gt;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446520" y="5120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append to file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915400" y="461772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0" name="Text 28"/>
          <p:cNvSpPr/>
          <p:nvPr/>
        </p:nvSpPr>
        <p:spPr>
          <a:xfrm>
            <a:off x="9144000" y="4709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2&gt;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144000" y="5120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redirect errors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 rot="2700000">
            <a:off x="822960" y="5120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987552" y="457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Superpowers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commands to scripts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you typed it twice, put it in a file.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377440"/>
            <a:ext cx="5486400" cy="2880360"/>
          </a:xfrm>
          <a:prstGeom prst="roundRect">
            <a:avLst>
              <a:gd name="adj" fmla="val 381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1" name="Shape 9"/>
          <p:cNvSpPr/>
          <p:nvPr/>
        </p:nvSpPr>
        <p:spPr>
          <a:xfrm>
            <a:off x="822960" y="2834640"/>
            <a:ext cx="5486400" cy="9144"/>
          </a:xfrm>
          <a:prstGeom prst="rect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2" name="Shape 10"/>
          <p:cNvSpPr/>
          <p:nvPr/>
        </p:nvSpPr>
        <p:spPr>
          <a:xfrm>
            <a:off x="1024128" y="2560320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3" name="Shape 11"/>
          <p:cNvSpPr/>
          <p:nvPr/>
        </p:nvSpPr>
        <p:spPr>
          <a:xfrm>
            <a:off x="1225296" y="256032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4" name="Shape 12"/>
          <p:cNvSpPr/>
          <p:nvPr/>
        </p:nvSpPr>
        <p:spPr>
          <a:xfrm>
            <a:off x="1426464" y="256032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1737360" y="24963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" y="29443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#!/usr/bin/env bash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4930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418069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DATA_DIR="data/raw"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40416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80674" y="3966709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f in "$DATA_DIR"/*.csv; do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4266149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echo "$f: $(wc -l &lt; "$f") rows"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4595963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 rot="2700000">
            <a:off x="6675120" y="255117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5" name="Text 23"/>
          <p:cNvSpPr/>
          <p:nvPr/>
        </p:nvSpPr>
        <p:spPr>
          <a:xfrm>
            <a:off x="6876288" y="2450592"/>
            <a:ext cx="44622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#!/usr/bin/env bash — which interpreter runs this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76288" y="3090672"/>
            <a:ext cx="44622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 rot="2700000">
            <a:off x="6675120" y="383133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9" name="Text 27"/>
          <p:cNvSpPr/>
          <p:nvPr/>
        </p:nvSpPr>
        <p:spPr>
          <a:xfrm>
            <a:off x="6876288" y="3730752"/>
            <a:ext cx="44622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Variables, loops and conditionals — same ideas as Python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675120" y="4572000"/>
            <a:ext cx="4663440" cy="1234440"/>
          </a:xfrm>
          <a:prstGeom prst="roundRect">
            <a:avLst>
              <a:gd name="adj" fmla="val 8889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1" name="Shape 29"/>
          <p:cNvSpPr/>
          <p:nvPr/>
        </p:nvSpPr>
        <p:spPr>
          <a:xfrm>
            <a:off x="6675120" y="5029200"/>
            <a:ext cx="4663440" cy="9144"/>
          </a:xfrm>
          <a:prstGeom prst="rect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2" name="Shape 30"/>
          <p:cNvSpPr/>
          <p:nvPr/>
        </p:nvSpPr>
        <p:spPr>
          <a:xfrm>
            <a:off x="6876288" y="4754880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3" name="Shape 31"/>
          <p:cNvSpPr/>
          <p:nvPr/>
        </p:nvSpPr>
        <p:spPr>
          <a:xfrm>
            <a:off x="7077456" y="475488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4" name="Shape 32"/>
          <p:cNvSpPr/>
          <p:nvPr/>
        </p:nvSpPr>
        <p:spPr>
          <a:xfrm>
            <a:off x="7278624" y="475488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5" name="Text 33"/>
          <p:cNvSpPr/>
          <p:nvPr/>
        </p:nvSpPr>
        <p:spPr>
          <a:xfrm>
            <a:off x="7589520" y="46908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49440" y="51389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</a:t>
            </a:r>
            <a:r>
              <a:rPr lang="en-US" sz="12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chmod +x count.sh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49440" y="541324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</a:t>
            </a:r>
            <a:r>
              <a:rPr lang="en-US" sz="12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./count.sh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 rot="2700000">
            <a:off x="822960" y="5120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987552" y="457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Toolkit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Survival kit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822960" y="1737360"/>
            <a:ext cx="512064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Text 8"/>
          <p:cNvSpPr/>
          <p:nvPr/>
        </p:nvSpPr>
        <p:spPr>
          <a:xfrm>
            <a:off x="1024128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27248" y="173736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autocomplete paths and commands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304288"/>
            <a:ext cx="512064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3" name="Text 11"/>
          <p:cNvSpPr/>
          <p:nvPr/>
        </p:nvSpPr>
        <p:spPr>
          <a:xfrm>
            <a:off x="1024128" y="230428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Ctrl + 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27248" y="2304288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 your command history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2871216"/>
            <a:ext cx="512064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6" name="Text 14"/>
          <p:cNvSpPr/>
          <p:nvPr/>
        </p:nvSpPr>
        <p:spPr>
          <a:xfrm>
            <a:off x="1024128" y="287121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Ctrl + 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27248" y="2871216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 what is running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3438144"/>
            <a:ext cx="512064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1024128" y="343814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man / --help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27248" y="3438144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manual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1737360"/>
            <a:ext cx="502920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2" name="Text 20"/>
          <p:cNvSpPr/>
          <p:nvPr/>
        </p:nvSpPr>
        <p:spPr>
          <a:xfrm>
            <a:off x="6510528" y="1737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39328" y="1737360"/>
            <a:ext cx="2798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call an API from the shell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2304288"/>
            <a:ext cx="502920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5" name="Text 23"/>
          <p:cNvSpPr/>
          <p:nvPr/>
        </p:nvSpPr>
        <p:spPr>
          <a:xfrm>
            <a:off x="6510528" y="23042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jq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39328" y="2304288"/>
            <a:ext cx="2798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query and pretty-print JSON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09360" y="2871216"/>
            <a:ext cx="502920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8" name="Text 26"/>
          <p:cNvSpPr/>
          <p:nvPr/>
        </p:nvSpPr>
        <p:spPr>
          <a:xfrm>
            <a:off x="6510528" y="287121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ssh user@host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39328" y="2871216"/>
            <a:ext cx="2798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 in to a remote machine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3438144"/>
            <a:ext cx="502920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1" name="Text 29"/>
          <p:cNvSpPr/>
          <p:nvPr/>
        </p:nvSpPr>
        <p:spPr>
          <a:xfrm>
            <a:off x="6510528" y="343814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alias ll='ls -lah'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39328" y="3438144"/>
            <a:ext cx="2798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shortcut your habits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" y="4206240"/>
            <a:ext cx="10515600" cy="914400"/>
          </a:xfrm>
          <a:prstGeom prst="roundRect">
            <a:avLst>
              <a:gd name="adj" fmla="val 12000"/>
            </a:avLst>
          </a:prstGeom>
          <a:solidFill>
            <a:srgbClr val="2DD4BF">
              <a:alpha val="10000"/>
            </a:srgbClr>
          </a:solidFill>
          <a:ln w="63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4" name="Text 32"/>
          <p:cNvSpPr/>
          <p:nvPr/>
        </p:nvSpPr>
        <p:spPr>
          <a:xfrm>
            <a:off x="1051560" y="4389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Windows? Use WSL 2 (Ubuntu) — Git Bash works for the basics, but WSL is what matches the servers we deploy to.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 rot="2700000">
            <a:off x="822960" y="5120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987552" y="457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Hands-on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Your turn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822960" y="1783080"/>
            <a:ext cx="3291840" cy="3566160"/>
          </a:xfrm>
          <a:prstGeom prst="roundRect">
            <a:avLst>
              <a:gd name="adj" fmla="val 3333"/>
            </a:avLst>
          </a:prstGeom>
          <a:solidFill>
            <a:srgbClr val="2DD4BF">
              <a:alpha val="10000"/>
            </a:srgbClr>
          </a:solidFill>
          <a:ln w="63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Text 8"/>
          <p:cNvSpPr/>
          <p:nvPr/>
        </p:nvSpPr>
        <p:spPr>
          <a:xfrm>
            <a:off x="1051560" y="19202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2700000">
            <a:off x="1051560" y="241401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2" name="Text 10"/>
          <p:cNvSpPr/>
          <p:nvPr/>
        </p:nvSpPr>
        <p:spPr>
          <a:xfrm>
            <a:off x="1252728" y="2313432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 folder1 and two .txt files inside 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2700000">
            <a:off x="1051560" y="307238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4" name="Text 12"/>
          <p:cNvSpPr/>
          <p:nvPr/>
        </p:nvSpPr>
        <p:spPr>
          <a:xfrm>
            <a:off x="1252728" y="2971800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Move back out, create folder2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rot="2700000">
            <a:off x="1051560" y="3730752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6" name="Text 14"/>
          <p:cNvSpPr/>
          <p:nvPr/>
        </p:nvSpPr>
        <p:spPr>
          <a:xfrm>
            <a:off x="1252728" y="3630168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Move the files from folder1 to folder2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rot="2700000">
            <a:off x="1051560" y="4389120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8" name="Text 16"/>
          <p:cNvSpPr/>
          <p:nvPr/>
        </p:nvSpPr>
        <p:spPr>
          <a:xfrm>
            <a:off x="1252728" y="4288536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Delete folder1 — check with ls first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89120" y="1783080"/>
            <a:ext cx="3291840" cy="3566160"/>
          </a:xfrm>
          <a:prstGeom prst="roundRect">
            <a:avLst>
              <a:gd name="adj" fmla="val 3333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0" name="Text 18"/>
          <p:cNvSpPr/>
          <p:nvPr/>
        </p:nvSpPr>
        <p:spPr>
          <a:xfrm>
            <a:off x="4617720" y="19202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rot="2700000">
            <a:off x="4617720" y="241401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2" name="Text 20"/>
          <p:cNvSpPr/>
          <p:nvPr/>
        </p:nvSpPr>
        <p:spPr>
          <a:xfrm>
            <a:off x="4818888" y="2313432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Edit a file with nano and save it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 rot="2700000">
            <a:off x="4617720" y="307238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4" name="Text 22"/>
          <p:cNvSpPr/>
          <p:nvPr/>
        </p:nvSpPr>
        <p:spPr>
          <a:xfrm>
            <a:off x="4818888" y="2971800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cat, head -2 and wc -l your file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 rot="2700000">
            <a:off x="4617720" y="3730752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4818888" y="3630168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Append a line with &gt;&gt; and verify it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 rot="2700000">
            <a:off x="4617720" y="4389120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8" name="Text 26"/>
          <p:cNvSpPr/>
          <p:nvPr/>
        </p:nvSpPr>
        <p:spPr>
          <a:xfrm>
            <a:off x="4818888" y="4288536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grep for a word inside the folder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55280" y="1783080"/>
            <a:ext cx="3291840" cy="3566160"/>
          </a:xfrm>
          <a:prstGeom prst="roundRect">
            <a:avLst>
              <a:gd name="adj" fmla="val 3333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0" name="Text 28"/>
          <p:cNvSpPr/>
          <p:nvPr/>
        </p:nvSpPr>
        <p:spPr>
          <a:xfrm>
            <a:off x="8183880" y="19202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 rot="2700000">
            <a:off x="8183880" y="241401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8385048" y="2313432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mkdir adv1, touch myscript.sh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 rot="2700000">
            <a:off x="8183880" y="307238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4" name="Text 32"/>
          <p:cNvSpPr/>
          <p:nvPr/>
        </p:nvSpPr>
        <p:spPr>
          <a:xfrm>
            <a:off x="8385048" y="2971800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a shebang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 rot="2700000">
            <a:off x="8183880" y="3730752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6" name="Text 34"/>
          <p:cNvSpPr/>
          <p:nvPr/>
        </p:nvSpPr>
        <p:spPr>
          <a:xfrm>
            <a:off x="8385048" y="3630168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Loop over the .txt files, print name + row count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 rot="2700000">
            <a:off x="8183880" y="4389120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8" name="Text 36"/>
          <p:cNvSpPr/>
          <p:nvPr/>
        </p:nvSpPr>
        <p:spPr>
          <a:xfrm>
            <a:off x="8385048" y="4288536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chmod +x it and run ./myscript.sh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 rot="2700000">
            <a:off x="822960" y="5120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987552" y="457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Wrap-up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things to take with you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1920240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shell is the interface to production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286000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Containers, servers and CI runners have no GUI.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2926080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Small commands compose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291840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grep, cut, sort, wc — piped together they beat a notebook for quick answers.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9319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45920" y="3931920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Anything typed twice becomes a script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4297680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That is the first step from analysis to a pipeline.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5029200"/>
            <a:ext cx="10515600" cy="777240"/>
          </a:xfrm>
          <a:prstGeom prst="roundRect">
            <a:avLst>
              <a:gd name="adj" fmla="val 14118"/>
            </a:avLst>
          </a:prstGeom>
          <a:solidFill>
            <a:srgbClr val="2DD4BF">
              <a:alpha val="10000"/>
            </a:srgbClr>
          </a:solidFill>
          <a:ln w="63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1051560" y="519379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Next: containers — and you will see every command from today inside a Dockerfile.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1170</Words>
  <Application>Microsoft Macintosh PowerPoint</Application>
  <PresentationFormat>Bredbild</PresentationFormat>
  <Paragraphs>234</Paragraphs>
  <Slides>13</Slides>
  <Notes>13</Notes>
  <HiddenSlides>0</HiddenSlides>
  <MMClips>0</MMClips>
  <ScaleCrop>false</ScaleCrop>
  <HeadingPairs>
    <vt:vector size="6" baseType="variant">
      <vt:variant>
        <vt:lpstr>Använt teckensnitt</vt:lpstr>
      </vt:variant>
      <vt:variant>
        <vt:i4>5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13</vt:i4>
      </vt:variant>
    </vt:vector>
  </HeadingPairs>
  <TitlesOfParts>
    <vt:vector size="19" baseType="lpstr">
      <vt:lpstr>Space Grotesk</vt:lpstr>
      <vt:lpstr>Aptos</vt:lpstr>
      <vt:lpstr>Arial</vt:lpstr>
      <vt:lpstr>IBM Plex Mono</vt:lpstr>
      <vt:lpstr>IBM Plex Sans</vt:lpstr>
      <vt:lpstr>Office Theme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mikael huss</cp:lastModifiedBy>
  <cp:revision>4</cp:revision>
  <dcterms:created xsi:type="dcterms:W3CDTF">2026-07-31T10:34:28Z</dcterms:created>
  <dcterms:modified xsi:type="dcterms:W3CDTF">2026-08-08T14:27:09Z</dcterms:modified>
</cp:coreProperties>
</file>