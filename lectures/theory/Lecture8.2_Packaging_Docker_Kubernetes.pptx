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61"/>
  </p:normalViewPr>
  <p:slideViewPr>
    <p:cSldViewPr snapToGrid="0" snapToObjects="1">
      <p:cViewPr varScale="1">
        <p:scale>
          <a:sx n="114" d="100"/>
          <a:sy n="114" d="100"/>
        </p:scale>
        <p:origin x="49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449373" y="1178691"/>
            <a:ext cx="103904" cy="10390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445815" y="1752202"/>
            <a:ext cx="88504" cy="8850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121802" y="964532"/>
            <a:ext cx="133184" cy="13318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427979" y="1455523"/>
            <a:ext cx="73554" cy="7355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766862" y="883576"/>
            <a:ext cx="86648" cy="8664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469099" y="1703768"/>
            <a:ext cx="125960" cy="12596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585045" y="2023037"/>
            <a:ext cx="97623" cy="9762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99146" y="1001111"/>
            <a:ext cx="125454" cy="12545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993342" y="529384"/>
            <a:ext cx="123792" cy="12379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403517" y="1994282"/>
            <a:ext cx="167757" cy="167757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805447" y="1478352"/>
            <a:ext cx="81870" cy="8187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759435" y="995359"/>
            <a:ext cx="94780" cy="9478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987281" y="688225"/>
            <a:ext cx="78869" cy="7886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180324" y="1036836"/>
            <a:ext cx="97050" cy="9705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181318" y="942685"/>
            <a:ext cx="171931" cy="17193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129998" y="2014142"/>
            <a:ext cx="83538" cy="8353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084758" y="2043658"/>
            <a:ext cx="141519" cy="14151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103586" y="485898"/>
            <a:ext cx="116631" cy="11663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479348" y="776840"/>
            <a:ext cx="86808" cy="8680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796170" y="1064574"/>
            <a:ext cx="101668" cy="10166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807777" y="1413557"/>
            <a:ext cx="166414" cy="16641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871487" y="1405643"/>
            <a:ext cx="113710" cy="11371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157097" y="1434917"/>
            <a:ext cx="110922" cy="11092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181353" y="1639713"/>
            <a:ext cx="154316" cy="15431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978688" y="2014610"/>
            <a:ext cx="152469" cy="15246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245437" y="1671030"/>
            <a:ext cx="139517" cy="139517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476017" y="711494"/>
            <a:ext cx="125785" cy="125785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0080" y="640080"/>
            <a:ext cx="3450000" cy="400000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DATA ENGINEERING · WEEK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1600200"/>
            <a:ext cx="9601200" cy="193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Calibri"/>
              </a:rPr>
              <a:t>Docker and Kubernetes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200000"/>
            <a:ext cx="960120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Docker and Kubernetes: basic concepts — IT Högskolan · Tue 8/9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750000"/>
            <a:ext cx="96012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CADCFC"/>
                </a:solidFill>
                <a:latin typeface="Calibri"/>
              </a:rPr>
              <a:t>Mikael Huss  ·  IT Högskolan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THIS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Two related topics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0000"/>
            <a:ext cx="10800000" cy="4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44506B"/>
                </a:solidFill>
                <a:latin typeface="Calibri"/>
              </a:rPr>
              <a:t>• Docker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44506B"/>
                </a:solidFill>
                <a:latin typeface="Calibri"/>
              </a:rPr>
              <a:t>     Images, containers, layers and tags. We focus on the parts you need in this project.</a:t>
            </a:r>
          </a:p>
          <a:p>
            <a:pPr algn="l">
              <a:spcAft>
                <a:spcPts val="200"/>
              </a:spcAft>
            </a:pPr>
            <a:endParaRPr sz="1600" b="0">
              <a:solidFill>
                <a:srgbClr val="44506B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44506B"/>
                </a:solidFill>
                <a:latin typeface="Calibri"/>
              </a:rPr>
              <a:t>• Kubernetes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44506B"/>
                </a:solidFill>
                <a:latin typeface="Calibri"/>
              </a:rPr>
              <a:t>     What it is for, the key terms, and why we will not set it up in this course.</a:t>
            </a:r>
          </a:p>
          <a:p>
            <a:pPr algn="l">
              <a:spcAft>
                <a:spcPts val="200"/>
              </a:spcAft>
            </a:pPr>
            <a:endParaRPr sz="1600" b="0">
              <a:solidFill>
                <a:srgbClr val="44506B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5900000"/>
            <a:ext cx="1080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Both topics belong in the technical section of your report. You do not need to build either one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08604" y="1341057"/>
            <a:ext cx="114633" cy="11463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422344" y="536579"/>
            <a:ext cx="171745" cy="171745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516013" y="690057"/>
            <a:ext cx="135532" cy="13553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53531" y="1723602"/>
            <a:ext cx="155689" cy="15568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708672" y="1291119"/>
            <a:ext cx="128181" cy="12818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05821" y="1844207"/>
            <a:ext cx="87847" cy="87847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025017" y="1982291"/>
            <a:ext cx="146110" cy="14611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903211" y="704183"/>
            <a:ext cx="163812" cy="16381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507516" y="1518591"/>
            <a:ext cx="172463" cy="17246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12884" y="519628"/>
            <a:ext cx="89400" cy="894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747085" y="1071458"/>
            <a:ext cx="88639" cy="8863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880888" y="1022708"/>
            <a:ext cx="128173" cy="12817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027890" y="2016540"/>
            <a:ext cx="84950" cy="8495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110742" y="1805183"/>
            <a:ext cx="151624" cy="15162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978228" y="879065"/>
            <a:ext cx="75219" cy="7521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100179" y="1586134"/>
            <a:ext cx="121054" cy="12105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892466" y="726537"/>
            <a:ext cx="72171" cy="7217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078381" y="1223792"/>
            <a:ext cx="130310" cy="13031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494847" y="1372703"/>
            <a:ext cx="127064" cy="12706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237015" y="1345564"/>
            <a:ext cx="158962" cy="15896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804006" y="1179807"/>
            <a:ext cx="96363" cy="9636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849720" y="893700"/>
            <a:ext cx="103149" cy="10314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099364" y="1674942"/>
            <a:ext cx="146518" cy="14651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042547" y="1263509"/>
            <a:ext cx="89841" cy="8984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689213" y="818860"/>
            <a:ext cx="98103" cy="9810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008894" y="1131645"/>
            <a:ext cx="146072" cy="14607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507176" y="1020854"/>
            <a:ext cx="119383" cy="11938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3200000"/>
            <a:ext cx="100000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Part 1 — Docker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250000"/>
            <a:ext cx="95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Docker helps the same application run in the same way on different computers.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BASIC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00000"/>
            <a:ext cx="11000000" cy="2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An image contains the files and command an application needs. A container is an image that is running.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400000"/>
            <a:ext cx="1080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The remaining terms explain how images are built, stored and run.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VOCABULARY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Five useful 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1450000"/>
            <a:ext cx="21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Dockerfile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50000" y="1450000"/>
            <a:ext cx="74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Instructions for building an image. This file belongs in the repository.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2190000"/>
            <a:ext cx="21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50000" y="2190000"/>
            <a:ext cx="74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The built package. It contains the application and its dependencies.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930000"/>
            <a:ext cx="21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Container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0000" y="2930000"/>
            <a:ext cx="74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A running image. Changes inside it disappear when the container is removed.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670000"/>
            <a:ext cx="21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Registry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0000" y="3670000"/>
            <a:ext cx="74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A place where images are stored so other computers can download them.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000" y="4410000"/>
            <a:ext cx="21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Tag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0000" y="4410000"/>
            <a:ext cx="74500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dirty="0">
                <a:solidFill>
                  <a:srgbClr val="44506B"/>
                </a:solidFill>
                <a:latin typeface="Calibri"/>
              </a:rPr>
              <a:t>A readable name that points to a specific image. It can later point to a different image.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Layers can make builds faster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50000"/>
            <a:ext cx="10800000" cy="30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0000" y="158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Put files that change rarely before files that change often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1930000"/>
            <a:ext cx="10400000" cy="2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onsolas"/>
              </a:rPr>
              <a:t>FROM python:3.12-slim            # layer 1  — cached forever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onsolas"/>
              </a:rPr>
              <a:t>WORKDIR /app</a:t>
            </a:r>
          </a:p>
          <a:p>
            <a:pPr algn="l">
              <a:spcAft>
                <a:spcPts val="200"/>
              </a:spcAft>
            </a:pPr>
            <a:endParaRPr sz="1400" b="0">
              <a:solidFill>
                <a:srgbClr val="44506B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onsolas"/>
              </a:rPr>
              <a:t>COPY pyproject.toml uv.lock ./   # layer 2  — changes rarely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onsolas"/>
              </a:rPr>
              <a:t>RUN uv sync --frozen             # layer 3  — SLOW, cached with layer 2</a:t>
            </a:r>
          </a:p>
          <a:p>
            <a:pPr algn="l">
              <a:spcAft>
                <a:spcPts val="200"/>
              </a:spcAft>
            </a:pPr>
            <a:endParaRPr sz="1400" b="0">
              <a:solidFill>
                <a:srgbClr val="44506B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onsolas"/>
              </a:rPr>
              <a:t>COPY . .                         # layer 4  — changes every commit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onsolas"/>
              </a:rPr>
              <a:t>CMD ["uv", "run", "python", "daily_ingest.py"]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680000"/>
            <a:ext cx="108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Copy dependency files first, install dependencies, and then copy the source code. This lets Docker reuse more of the build.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DOCKER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Four common mistakes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00000"/>
            <a:ext cx="10800000" cy="1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0000" y="145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Secrets in the image.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1820000"/>
            <a:ext cx="104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Do not put passwords or tokens in an image. Pass them when the container starts, for example as environment variables.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60000"/>
            <a:ext cx="10800000" cy="1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0000" y="271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Different computer types.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3080000"/>
            <a:ext cx="104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A Mac may build an arm64 image while the cloud platform expects amd64. Build for the platform you will deploy to, or build in CI.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20000"/>
            <a:ext cx="10800000" cy="1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0000" y="397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Including files you do not need.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000" y="4340000"/>
            <a:ext cx="104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COPY . . can include large data files and your local virtual environment. Use a .dockerignore file to exclude them.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080000"/>
            <a:ext cx="10800000" cy="1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0000" y="523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Using the tag :latest.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000" y="5600000"/>
            <a:ext cx="104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The tag :latest can point to different code at different times. Use a specific tag when you deploy.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DOCKER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Use clear image tags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0000"/>
            <a:ext cx="10800000" cy="4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Use the Git commit SHA as a tag.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For example: myapp:9f3c1a2. It connects a running container to the exact code used to build it.</a:t>
            </a:r>
          </a:p>
          <a:p>
            <a:pPr algn="l">
              <a:spcAft>
                <a:spcPts val="200"/>
              </a:spcAft>
            </a:pPr>
            <a:endParaRPr sz="1500" b="0">
              <a:solidFill>
                <a:srgbClr val="44506B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Use a moving tag only as a pointer.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:latest or :prod can point to the SHA tag. Deploy the SHA-tagged image.</a:t>
            </a:r>
          </a:p>
          <a:p>
            <a:pPr algn="l">
              <a:spcAft>
                <a:spcPts val="200"/>
              </a:spcAft>
            </a:pPr>
            <a:endParaRPr sz="1500" b="0">
              <a:solidFill>
                <a:srgbClr val="44506B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Do not rebuild a tag that has been deployed.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Build the image once and use the same image in each environment.</a:t>
            </a:r>
          </a:p>
          <a:p>
            <a:pPr algn="l">
              <a:spcAft>
                <a:spcPts val="200"/>
              </a:spcAft>
            </a:pPr>
            <a:endParaRPr sz="1500" b="0">
              <a:solidFill>
                <a:srgbClr val="44506B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CONTAINERS IN YOUR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00000"/>
            <a:ext cx="11000000" cy="2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You already use containers in several parts of the project.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400000"/>
            <a:ext cx="1080000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dirty="0">
                <a:solidFill>
                  <a:srgbClr val="44506B"/>
                </a:solidFill>
                <a:latin typeface="Calibri"/>
              </a:rPr>
              <a:t>GitHub Actions runs jobs in containers. Render </a:t>
            </a:r>
            <a:r>
              <a:rPr lang="sv-SE" sz="1500" b="0" dirty="0" err="1">
                <a:solidFill>
                  <a:srgbClr val="44506B"/>
                </a:solidFill>
                <a:latin typeface="Calibri"/>
              </a:rPr>
              <a:t>will</a:t>
            </a:r>
            <a:r>
              <a:rPr lang="sv-SE" sz="1500" b="0" dirty="0">
                <a:solidFill>
                  <a:srgbClr val="44506B"/>
                </a:solidFill>
                <a:latin typeface="Calibri"/>
              </a:rPr>
              <a:t> </a:t>
            </a:r>
            <a:r>
              <a:rPr lang="sv-SE" sz="1500" b="0" dirty="0" err="1">
                <a:solidFill>
                  <a:srgbClr val="44506B"/>
                </a:solidFill>
                <a:latin typeface="Calibri"/>
              </a:rPr>
              <a:t>build</a:t>
            </a:r>
            <a:r>
              <a:rPr sz="1500" b="0">
                <a:solidFill>
                  <a:srgbClr val="44506B"/>
                </a:solidFill>
                <a:latin typeface="Calibri"/>
              </a:rPr>
              <a:t> and run </a:t>
            </a:r>
            <a:r>
              <a:rPr sz="1500" b="0" dirty="0">
                <a:solidFill>
                  <a:srgbClr val="44506B"/>
                </a:solidFill>
                <a:latin typeface="Calibri"/>
              </a:rPr>
              <a:t>your application from the repository. </a:t>
            </a:r>
            <a:r>
              <a:rPr sz="1500" b="0" dirty="0" err="1">
                <a:solidFill>
                  <a:srgbClr val="44506B"/>
                </a:solidFill>
                <a:latin typeface="Calibri"/>
              </a:rPr>
              <a:t>Devcontainers</a:t>
            </a:r>
            <a:r>
              <a:rPr sz="1500" b="0" dirty="0">
                <a:solidFill>
                  <a:srgbClr val="44506B"/>
                </a:solidFill>
                <a:latin typeface="Calibri"/>
              </a:rPr>
              <a:t> use the same idea in your editor.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042882" y="1892293"/>
            <a:ext cx="96112" cy="9611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63756" y="1315978"/>
            <a:ext cx="132323" cy="13232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918222" y="1861641"/>
            <a:ext cx="87150" cy="8715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34863" y="667958"/>
            <a:ext cx="80860" cy="8086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277591" y="715376"/>
            <a:ext cx="168544" cy="16854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83466" y="713391"/>
            <a:ext cx="94587" cy="94587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532936" y="1290058"/>
            <a:ext cx="87098" cy="8709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835770" y="1119520"/>
            <a:ext cx="112783" cy="11278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121493" y="1827959"/>
            <a:ext cx="108844" cy="10884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863705" y="506151"/>
            <a:ext cx="150779" cy="15077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723026" y="1800457"/>
            <a:ext cx="151635" cy="151635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002589" y="1127331"/>
            <a:ext cx="123340" cy="12334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857158" y="1143868"/>
            <a:ext cx="74468" cy="7446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049183" y="1310756"/>
            <a:ext cx="77840" cy="7784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932422" y="585714"/>
            <a:ext cx="90801" cy="9080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340471" y="1521531"/>
            <a:ext cx="152824" cy="15282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353248" y="979424"/>
            <a:ext cx="120219" cy="12021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141951" y="1563093"/>
            <a:ext cx="79128" cy="7912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571819" y="1270223"/>
            <a:ext cx="172681" cy="17268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631301" y="764032"/>
            <a:ext cx="94932" cy="9493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364313" y="1812855"/>
            <a:ext cx="146426" cy="14642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839276" y="598269"/>
            <a:ext cx="164024" cy="16402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749071" y="1780791"/>
            <a:ext cx="153264" cy="15326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807338" y="1186278"/>
            <a:ext cx="88068" cy="8806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556258" y="1240957"/>
            <a:ext cx="155865" cy="155865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424404" y="1602892"/>
            <a:ext cx="105644" cy="10564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945270" y="806202"/>
            <a:ext cx="75186" cy="7518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3200000"/>
            <a:ext cx="100000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Part 2 — Kubernetes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250000"/>
            <a:ext cx="95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Learn the basic terms. You will not set up Kubernetes in this course.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WHAT KUBERNETES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00000"/>
            <a:ext cx="11000000" cy="2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In Kubernetes, you describe the state you want. Kubernetes checks the current state and works to match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400000"/>
            <a:ext cx="1080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The terms on the next slide name the parts involved.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VOCABULARY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Eight key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1450000"/>
            <a:ext cx="19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Pod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0000" y="1450000"/>
            <a:ext cx="76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506B"/>
                </a:solidFill>
                <a:latin typeface="Calibri"/>
              </a:rPr>
              <a:t>A pod runs one or more containers. A pod can be replaced at any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2040000"/>
            <a:ext cx="19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0000" y="2040000"/>
            <a:ext cx="76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506B"/>
                </a:solidFill>
                <a:latin typeface="Calibri"/>
              </a:rPr>
              <a:t>Keeps the requested number of pods running and manages updates.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30000"/>
            <a:ext cx="19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0000" y="2630000"/>
            <a:ext cx="76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506B"/>
                </a:solidFill>
                <a:latin typeface="Calibri"/>
              </a:rPr>
              <a:t>Gives a stable network address to a group of pods.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220000"/>
            <a:ext cx="19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Ingress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0000" y="3220000"/>
            <a:ext cx="76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506B"/>
                </a:solidFill>
                <a:latin typeface="Calibri"/>
              </a:rPr>
              <a:t>Lets HTTP traffic from outside reach a Service.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000" y="3810000"/>
            <a:ext cx="19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Label + selector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0000" y="3810000"/>
            <a:ext cx="76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506B"/>
                </a:solidFill>
                <a:latin typeface="Calibri"/>
              </a:rPr>
              <a:t>Labels connect Services to the pods they should use.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400000"/>
            <a:ext cx="19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Control plane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0000" y="4400000"/>
            <a:ext cx="76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506B"/>
                </a:solidFill>
                <a:latin typeface="Calibri"/>
              </a:rPr>
              <a:t>The parts that manage the cluster and apply the requested state.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000" y="4990000"/>
            <a:ext cx="19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Node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0000" y="4990000"/>
            <a:ext cx="76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506B"/>
                </a:solidFill>
                <a:latin typeface="Calibri"/>
              </a:rPr>
              <a:t>A machine that runs pods.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000" y="5580000"/>
            <a:ext cx="19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Probe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0000" y="5580000"/>
            <a:ext cx="76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506B"/>
                </a:solidFill>
                <a:latin typeface="Calibri"/>
              </a:rPr>
              <a:t>A liveness probe checks whether to restart. A readiness probe checks whether the pod should receive traffic.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THREE IDEAS TO REMEMBER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00000"/>
            <a:ext cx="11000000" cy="2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Pods can be replaced. Services give a stable address. Labels connect Services to the right pods.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400000"/>
            <a:ext cx="1080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These ideas explain how the main Kubernetes parts find and work with each other.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YOUR PROJECT IN KUBERNETES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Similar ideas in your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1450000"/>
            <a:ext cx="25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Your Render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50000" y="1450000"/>
            <a:ext cx="70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A Deployment (the image and how many copies) plus a Service (a stable address).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2190000"/>
            <a:ext cx="25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Your public 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0000" y="2190000"/>
            <a:ext cx="70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An Ingress with TLS terminated in front of that Service.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930000"/>
            <a:ext cx="25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Actions secrets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0000" y="2930000"/>
            <a:ext cx="70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A Secret, mounted into the pod as env vars at runtime.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670000"/>
            <a:ext cx="25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Your scheduled ingest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0000" y="3670000"/>
            <a:ext cx="70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A CronJob — the same cron expression, a different scheduler.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000" y="4410000"/>
            <a:ext cx="25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Render's healthcheck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0000" y="4410000"/>
            <a:ext cx="70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A readiness probe. Restart-if-hung would be a liveness probe.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250000"/>
            <a:ext cx="10800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0000" y="5430000"/>
            <a:ext cx="104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2761"/>
                </a:solidFill>
                <a:latin typeface="Calibri"/>
              </a:rPr>
              <a:t>Your project already uses similar ideas. Kubernetes provides a larger set of tools for the same needs.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WHY WE DO NOT USE KUBERNETES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Why we do not use Kubernetes in this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0000"/>
            <a:ext cx="10800000" cy="4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44506B"/>
                </a:solidFill>
                <a:latin typeface="Calibri"/>
              </a:rPr>
              <a:t>• Kubernetes is useful for many services and teams.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     It is useful when many services and teams need a shared way to deploy. This project has one small API and little traffic.</a:t>
            </a:r>
          </a:p>
          <a:p>
            <a:pPr algn="l">
              <a:spcAft>
                <a:spcPts val="200"/>
              </a:spcAft>
            </a:pPr>
            <a:endParaRPr sz="1400" b="0">
              <a:solidFill>
                <a:srgbClr val="44506B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44506B"/>
                </a:solidFill>
                <a:latin typeface="Calibri"/>
              </a:rPr>
              <a:t>• The setup takes time.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     A working cluster needs networking, storage, access control and more. That work would take time from your pipeline.</a:t>
            </a:r>
          </a:p>
          <a:p>
            <a:pPr algn="l">
              <a:spcAft>
                <a:spcPts val="200"/>
              </a:spcAft>
            </a:pPr>
            <a:endParaRPr sz="1400" b="0">
              <a:solidFill>
                <a:srgbClr val="44506B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44506B"/>
                </a:solidFill>
                <a:latin typeface="Calibri"/>
              </a:rPr>
              <a:t>• Managed platforms are a better fit here.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     Cloud Run and Container Apps provide deployment, scale-to-zero and health checks without setting up a cluster.</a:t>
            </a:r>
          </a:p>
          <a:p>
            <a:pPr algn="l">
              <a:spcAft>
                <a:spcPts val="200"/>
              </a:spcAft>
            </a:pPr>
            <a:endParaRPr sz="1400" b="0">
              <a:solidFill>
                <a:srgbClr val="44506B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44506B"/>
                </a:solidFill>
                <a:latin typeface="Calibri"/>
              </a:rPr>
              <a:t>• Choose the simplest tool that meets the need.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     For this project, a managed platform is enough. Explain that choice clearly in the report.</a:t>
            </a:r>
          </a:p>
          <a:p>
            <a:pPr algn="l">
              <a:spcAft>
                <a:spcPts val="200"/>
              </a:spcAft>
            </a:pPr>
            <a:endParaRPr sz="1400" b="0">
              <a:solidFill>
                <a:srgbClr val="44506B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WHAT YOU NEED TO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00000"/>
            <a:ext cx="11000000" cy="2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Learn the basic concepts now. Learn the full platform when you need it in a job.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400000"/>
            <a:ext cx="1080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You should be able to follow a discussion about Deployments, Services and health checks, and explain why a small project may not need Kubernetes.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Later today and 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0000"/>
            <a:ext cx="10800000" cy="4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11:40 — feature pipeline.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A short introduction before lunch.</a:t>
            </a:r>
          </a:p>
          <a:p>
            <a:pPr algn="l">
              <a:spcAft>
                <a:spcPts val="200"/>
              </a:spcAft>
            </a:pPr>
            <a:endParaRPr sz="1500" b="0">
              <a:solidFill>
                <a:srgbClr val="44506B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13:00 — studio.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Sprint 1's remaining work: feat__ table, the historical feature build, and the feature step added to the scheduled job.</a:t>
            </a:r>
          </a:p>
          <a:p>
            <a:pPr algn="l">
              <a:spcAft>
                <a:spcPts val="200"/>
              </a:spcAft>
            </a:pPr>
            <a:endParaRPr sz="1500" b="0">
              <a:solidFill>
                <a:srgbClr val="44506B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Thursday — model registry, training pipelines, and sprint review 1.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On Thursday we work with the Hugging Face Hub. Make sure the team can access its account and email.</a:t>
            </a:r>
          </a:p>
          <a:p>
            <a:pPr algn="l">
              <a:spcAft>
                <a:spcPts val="200"/>
              </a:spcAft>
            </a:pPr>
            <a:endParaRPr sz="1500" b="0">
              <a:solidFill>
                <a:srgbClr val="44506B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5900000"/>
            <a:ext cx="1080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Friday 11/9 — cloud platform decision deadline. Own-data teams: data governance note.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1342</Words>
  <Application>Microsoft Macintosh PowerPoint</Application>
  <PresentationFormat>Bredbild</PresentationFormat>
  <Paragraphs>164</Paragraphs>
  <Slides>17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mikael huss</cp:lastModifiedBy>
  <cp:revision>3</cp:revision>
  <dcterms:created xsi:type="dcterms:W3CDTF">2013-01-27T09:14:16Z</dcterms:created>
  <dcterms:modified xsi:type="dcterms:W3CDTF">2026-09-06T14:34:12Z</dcterms:modified>
  <cp:category/>
</cp:coreProperties>
</file>