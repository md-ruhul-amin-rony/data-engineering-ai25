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9449373" y="1178691"/>
            <a:ext cx="103904" cy="10390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45815" y="1752202"/>
            <a:ext cx="88504" cy="8850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121802" y="964532"/>
            <a:ext cx="133184" cy="13318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427979" y="1455523"/>
            <a:ext cx="73554" cy="7355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766862" y="883576"/>
            <a:ext cx="86648" cy="8664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469099" y="1703768"/>
            <a:ext cx="125960" cy="12596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585045" y="2023037"/>
            <a:ext cx="97623" cy="9762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399146" y="1001111"/>
            <a:ext cx="125454" cy="12545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8993342" y="529384"/>
            <a:ext cx="123792" cy="12379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403517" y="1994282"/>
            <a:ext cx="167757" cy="16775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805447" y="1478352"/>
            <a:ext cx="81870" cy="8187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759435" y="995359"/>
            <a:ext cx="94780" cy="9478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987281" y="688225"/>
            <a:ext cx="78869" cy="7886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0180324" y="1036836"/>
            <a:ext cx="97050" cy="9705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181318" y="942685"/>
            <a:ext cx="171931" cy="17193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129998" y="2014142"/>
            <a:ext cx="83538" cy="8353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084758" y="2043658"/>
            <a:ext cx="141519" cy="14151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03586" y="485898"/>
            <a:ext cx="116631" cy="11663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479348" y="776840"/>
            <a:ext cx="86808" cy="8680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796170" y="1064574"/>
            <a:ext cx="101668" cy="10166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807777" y="1413557"/>
            <a:ext cx="166414" cy="16641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871487" y="1405643"/>
            <a:ext cx="113710" cy="11371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1157097" y="1434917"/>
            <a:ext cx="110922" cy="11092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0181353" y="1639713"/>
            <a:ext cx="154316" cy="15431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978688" y="2014610"/>
            <a:ext cx="152469" cy="15246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245437" y="1671030"/>
            <a:ext cx="139517" cy="13951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476017" y="711494"/>
            <a:ext cx="125785" cy="12578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640080" y="640080"/>
            <a:ext cx="3450000" cy="400000"/>
          </a:xfrm>
          <a:prstGeom prst="roundRect">
            <a:avLst>
              <a:gd name="adj" fmla="val 50000"/>
            </a:avLst>
          </a:prstGeom>
          <a:solidFill>
            <a:srgbClr val="F299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300" b="1">
                <a:solidFill>
                  <a:srgbClr val="FFFFFF"/>
                </a:solidFill>
                <a:latin typeface="Calibri"/>
              </a:rPr>
              <a:t>WEEK 6 · BLOCK 2</a:t>
            </a:r>
          </a:p>
        </p:txBody>
      </p:sp>
      <p:sp>
        <p:nvSpPr>
          <p:cNvPr id="30" name="TextBox 29"/>
          <p:cNvSpPr txBox="1"/>
          <p:nvPr/>
        </p:nvSpPr>
        <p:spPr>
          <a:xfrm>
            <a:off x="640080" y="1600200"/>
            <a:ext cx="9601200" cy="1938992"/>
          </a:xfrm>
          <a:prstGeom prst="rect">
            <a:avLst/>
          </a:prstGeom>
          <a:noFill/>
        </p:spPr>
        <p:txBody>
          <a:bodyPr wrap="square" lIns="0" tIns="0" rIns="0" bIns="0">
            <a:spAutoFit/>
          </a:bodyPr>
          <a:lstStyle/>
          <a:p>
            <a:pPr algn="l">
              <a:spcAft>
                <a:spcPts val="0"/>
              </a:spcAft>
            </a:pPr>
            <a:r>
              <a:rPr sz="4000" b="0">
                <a:solidFill>
                  <a:srgbClr val="FFFFFF"/>
                </a:solidFill>
                <a:latin typeface="Calibri"/>
              </a:rPr>
              <a:t>Feature stores</a:t>
            </a:r>
          </a:p>
        </p:txBody>
      </p:sp>
      <p:sp>
        <p:nvSpPr>
          <p:cNvPr id="31" name="TextBox 30"/>
          <p:cNvSpPr txBox="1"/>
          <p:nvPr/>
        </p:nvSpPr>
        <p:spPr>
          <a:xfrm>
            <a:off x="640080" y="4200000"/>
            <a:ext cx="9601200" cy="323165"/>
          </a:xfrm>
          <a:prstGeom prst="rect">
            <a:avLst/>
          </a:prstGeom>
          <a:noFill/>
        </p:spPr>
        <p:txBody>
          <a:bodyPr wrap="square" lIns="0" tIns="0" rIns="0" bIns="0">
            <a:spAutoFit/>
          </a:bodyPr>
          <a:lstStyle/>
          <a:p>
            <a:pPr algn="l">
              <a:spcAft>
                <a:spcPts val="0"/>
              </a:spcAft>
            </a:pPr>
            <a:r>
              <a:rPr sz="1500" b="0">
                <a:solidFill>
                  <a:srgbClr val="CADCFC"/>
                </a:solidFill>
                <a:latin typeface="Calibri"/>
              </a:rPr>
              <a:t>You have already built the basic version. This lesson gives it a name and shows what a dedicated service adds.</a:t>
            </a:r>
          </a:p>
        </p:txBody>
      </p:sp>
      <p:sp>
        <p:nvSpPr>
          <p:cNvPr id="32" name="TextBox 31"/>
          <p:cNvSpPr txBox="1"/>
          <p:nvPr/>
        </p:nvSpPr>
        <p:spPr>
          <a:xfrm>
            <a:off x="640080" y="4750000"/>
            <a:ext cx="9601200" cy="300000"/>
          </a:xfrm>
          <a:prstGeom prst="rect">
            <a:avLst/>
          </a:prstGeom>
          <a:noFill/>
        </p:spPr>
        <p:txBody>
          <a:bodyPr wrap="square" lIns="0" tIns="0" rIns="0" bIns="0">
            <a:spAutoFit/>
          </a:bodyPr>
          <a:lstStyle/>
          <a:p>
            <a:pPr algn="l">
              <a:spcAft>
                <a:spcPts val="0"/>
              </a:spcAft>
            </a:pPr>
            <a:r>
              <a:rPr sz="1200" b="0">
                <a:solidFill>
                  <a:srgbClr val="CADCFC"/>
                </a:solidFill>
                <a:latin typeface="Calibri"/>
              </a:rPr>
              <a:t>Mikael Huss</a:t>
            </a:r>
          </a:p>
        </p:txBody>
      </p:sp>
      <p:sp>
        <p:nvSpPr>
          <p:cNvPr id="33" name="TextBox 32"/>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CADCFC"/>
                </a:solidFill>
                <a:latin typeface="Calibri"/>
              </a:rPr>
              <a:t>Data engineering och agila metoder · AIM25</a:t>
            </a:r>
          </a:p>
        </p:txBody>
      </p:sp>
      <p:sp>
        <p:nvSpPr>
          <p:cNvPr id="34" name="TextBox 33"/>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CADCFC"/>
                </a:solidFill>
                <a:latin typeface="Calibr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THE BASIC IDEA</a:t>
            </a:r>
          </a:p>
        </p:txBody>
      </p:sp>
      <p:sp>
        <p:nvSpPr>
          <p:cNvPr id="3" name="TextBox 2"/>
          <p:cNvSpPr txBox="1"/>
          <p:nvPr/>
        </p:nvSpPr>
        <p:spPr>
          <a:xfrm>
            <a:off x="502920" y="2300000"/>
            <a:ext cx="11000000" cy="2000000"/>
          </a:xfrm>
          <a:prstGeom prst="rect">
            <a:avLst/>
          </a:prstGeom>
          <a:noFill/>
        </p:spPr>
        <p:txBody>
          <a:bodyPr wrap="square" lIns="0" tIns="0" rIns="0" bIns="0">
            <a:spAutoFit/>
          </a:bodyPr>
          <a:lstStyle/>
          <a:p>
            <a:pPr algn="l">
              <a:spcAft>
                <a:spcPts val="0"/>
              </a:spcAft>
            </a:pPr>
            <a:r>
              <a:rPr sz="2800" b="1">
                <a:solidFill>
                  <a:srgbClr val="1E2761"/>
                </a:solidFill>
                <a:latin typeface="Calibri"/>
              </a:rPr>
              <a:t>feat__daily is a simple feature store.</a:t>
            </a:r>
          </a:p>
        </p:txBody>
      </p:sp>
      <p:sp>
        <p:nvSpPr>
          <p:cNvPr id="4" name="TextBox 3"/>
          <p:cNvSpPr txBox="1"/>
          <p:nvPr/>
        </p:nvSpPr>
        <p:spPr>
          <a:xfrm>
            <a:off x="502920" y="4400000"/>
            <a:ext cx="10800000" cy="1200000"/>
          </a:xfrm>
          <a:prstGeom prst="rect">
            <a:avLst/>
          </a:prstGeom>
          <a:noFill/>
        </p:spPr>
        <p:txBody>
          <a:bodyPr wrap="square" lIns="0" tIns="0" rIns="0" bIns="0">
            <a:spAutoFit/>
          </a:bodyPr>
          <a:lstStyle/>
          <a:p>
            <a:pPr algn="l">
              <a:spcAft>
                <a:spcPts val="0"/>
              </a:spcAft>
            </a:pPr>
            <a:r>
              <a:rPr sz="1500" b="0">
                <a:solidFill>
                  <a:srgbClr val="44506B"/>
                </a:solidFill>
                <a:latin typeface="Calibri"/>
              </a:rPr>
              <a:t>It contains calculated features, identified by area and date. A pipeline writes the rows, and the same rows can be used for training and predictions. A dedicated feature store adds versioning and tools for keeping the feature definitions consistent.</a:t>
            </a: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THE PROBLEMS IT ADDRESSES</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These problems become more likely when several models use the same features</a:t>
            </a:r>
          </a:p>
        </p:txBody>
      </p:sp>
      <p:sp>
        <p:nvSpPr>
          <p:cNvPr id="4" name="TextBox 3"/>
          <p:cNvSpPr txBox="1"/>
          <p:nvPr/>
        </p:nvSpPr>
        <p:spPr>
          <a:xfrm>
            <a:off x="1000000" y="1450000"/>
            <a:ext cx="26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Duplication</a:t>
            </a:r>
          </a:p>
        </p:txBody>
      </p:sp>
      <p:sp>
        <p:nvSpPr>
          <p:cNvPr id="5" name="TextBox 4"/>
          <p:cNvSpPr txBox="1"/>
          <p:nvPr/>
        </p:nvSpPr>
        <p:spPr>
          <a:xfrm>
            <a:off x="4350000" y="1450000"/>
            <a:ext cx="69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The same feature is calculated in two places, with slightly different rules.</a:t>
            </a:r>
          </a:p>
        </p:txBody>
      </p:sp>
      <p:sp>
        <p:nvSpPr>
          <p:cNvPr id="6" name="TextBox 5"/>
          <p:cNvSpPr txBox="1"/>
          <p:nvPr/>
        </p:nvSpPr>
        <p:spPr>
          <a:xfrm>
            <a:off x="1000000" y="2250000"/>
            <a:ext cx="26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Skew</a:t>
            </a:r>
          </a:p>
        </p:txBody>
      </p:sp>
      <p:sp>
        <p:nvSpPr>
          <p:cNvPr id="7" name="TextBox 6"/>
          <p:cNvSpPr txBox="1"/>
          <p:nvPr/>
        </p:nvSpPr>
        <p:spPr>
          <a:xfrm>
            <a:off x="4350000" y="2250000"/>
            <a:ext cx="69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The model trains on one calculation, but the API uses another. Nothing fails, but predictions can get worse.</a:t>
            </a:r>
          </a:p>
        </p:txBody>
      </p:sp>
      <p:sp>
        <p:nvSpPr>
          <p:cNvPr id="8" name="TextBox 7"/>
          <p:cNvSpPr txBox="1"/>
          <p:nvPr/>
        </p:nvSpPr>
        <p:spPr>
          <a:xfrm>
            <a:off x="1000000" y="3050000"/>
            <a:ext cx="26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Leakage</a:t>
            </a:r>
          </a:p>
        </p:txBody>
      </p:sp>
      <p:sp>
        <p:nvSpPr>
          <p:cNvPr id="9" name="TextBox 8"/>
          <p:cNvSpPr txBox="1"/>
          <p:nvPr/>
        </p:nvSpPr>
        <p:spPr>
          <a:xfrm>
            <a:off x="4350000" y="3050000"/>
            <a:ext cx="69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The model is trained with information that was not available when the prediction would have been made.</a:t>
            </a:r>
          </a:p>
        </p:txBody>
      </p:sp>
      <p:sp>
        <p:nvSpPr>
          <p:cNvPr id="10" name="TextBox 9"/>
          <p:cNvSpPr txBox="1"/>
          <p:nvPr/>
        </p:nvSpPr>
        <p:spPr>
          <a:xfrm>
            <a:off x="1000000" y="3850000"/>
            <a:ext cx="2600000" cy="700000"/>
          </a:xfrm>
          <a:prstGeom prst="rect">
            <a:avLst/>
          </a:prstGeom>
          <a:noFill/>
        </p:spPr>
        <p:txBody>
          <a:bodyPr wrap="square" lIns="0" tIns="0" rIns="0" bIns="0">
            <a:spAutoFit/>
          </a:bodyPr>
          <a:lstStyle/>
          <a:p>
            <a:pPr algn="l">
              <a:spcAft>
                <a:spcPts val="0"/>
              </a:spcAft>
            </a:pPr>
            <a:r>
              <a:rPr sz="1400" b="1">
                <a:solidFill>
                  <a:srgbClr val="1E2761"/>
                </a:solidFill>
                <a:latin typeface="Calibri"/>
              </a:rPr>
              <a:t>No reuse</a:t>
            </a:r>
          </a:p>
        </p:txBody>
      </p:sp>
      <p:sp>
        <p:nvSpPr>
          <p:cNvPr id="11" name="TextBox 10"/>
          <p:cNvSpPr txBox="1"/>
          <p:nvPr/>
        </p:nvSpPr>
        <p:spPr>
          <a:xfrm>
            <a:off x="4350000" y="3850000"/>
            <a:ext cx="6950000" cy="700000"/>
          </a:xfrm>
          <a:prstGeom prst="rect">
            <a:avLst/>
          </a:prstGeom>
          <a:noFill/>
        </p:spPr>
        <p:txBody>
          <a:bodyPr wrap="square" lIns="0" tIns="0" rIns="0" bIns="0">
            <a:spAutoFit/>
          </a:bodyPr>
          <a:lstStyle/>
          <a:p>
            <a:pPr algn="l">
              <a:spcAft>
                <a:spcPts val="0"/>
              </a:spcAft>
            </a:pPr>
            <a:r>
              <a:rPr sz="1400" b="0">
                <a:solidFill>
                  <a:srgbClr val="44506B"/>
                </a:solidFill>
                <a:latin typeface="Calibri"/>
              </a:rPr>
              <a:t>A new model starts from raw data because existing features are hard to find or trust.</a:t>
            </a:r>
          </a:p>
        </p:txBody>
      </p:sp>
      <p:sp>
        <p:nvSpPr>
          <p:cNvPr id="12" name="Rounded Rectangle 11"/>
          <p:cNvSpPr/>
          <p:nvPr/>
        </p:nvSpPr>
        <p:spPr>
          <a:xfrm>
            <a:off x="502920" y="4750000"/>
            <a:ext cx="10800000" cy="90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00000" y="4930000"/>
            <a:ext cx="10400000" cy="700000"/>
          </a:xfrm>
          <a:prstGeom prst="rect">
            <a:avLst/>
          </a:prstGeom>
          <a:noFill/>
        </p:spPr>
        <p:txBody>
          <a:bodyPr wrap="square" lIns="0" tIns="0" rIns="0" bIns="0">
            <a:spAutoFit/>
          </a:bodyPr>
          <a:lstStyle/>
          <a:p>
            <a:pPr algn="l">
              <a:spcAft>
                <a:spcPts val="0"/>
              </a:spcAft>
            </a:pPr>
            <a:r>
              <a:rPr sz="1400" b="0">
                <a:solidFill>
                  <a:srgbClr val="1E2761"/>
                </a:solidFill>
                <a:latin typeface="Calibri"/>
              </a:rPr>
              <a:t>Skew and leakage are especially important. They can make a model look good during training but perform poorly when it is used.</a:t>
            </a:r>
          </a:p>
        </p:txBody>
      </p:sp>
      <p:sp>
        <p:nvSpPr>
          <p:cNvPr id="14" name="TextBox 13"/>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15" name="TextBox 14"/>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8808604" y="1341057"/>
            <a:ext cx="114633" cy="11463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422344" y="536579"/>
            <a:ext cx="171745" cy="17174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516013" y="690057"/>
            <a:ext cx="135532" cy="13553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153531" y="1723602"/>
            <a:ext cx="155689" cy="15568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708672" y="1291119"/>
            <a:ext cx="128181" cy="12818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1305821" y="1844207"/>
            <a:ext cx="87847" cy="8784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25017" y="1982291"/>
            <a:ext cx="146110" cy="14611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903211" y="704183"/>
            <a:ext cx="163812" cy="16381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507516" y="1518591"/>
            <a:ext cx="172463" cy="17246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9512884" y="519628"/>
            <a:ext cx="89400" cy="8940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47085" y="1071458"/>
            <a:ext cx="88639" cy="8863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880888" y="1022708"/>
            <a:ext cx="128173" cy="12817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027890" y="2016540"/>
            <a:ext cx="84950" cy="8495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110742" y="1805183"/>
            <a:ext cx="151624" cy="15162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978228" y="879065"/>
            <a:ext cx="75219" cy="7521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100179" y="1586134"/>
            <a:ext cx="121054" cy="12105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8892466" y="726537"/>
            <a:ext cx="72171" cy="7217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078381" y="1223792"/>
            <a:ext cx="130310" cy="13031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1494847" y="1372703"/>
            <a:ext cx="127064" cy="12706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237015" y="1345564"/>
            <a:ext cx="158962" cy="15896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804006" y="1179807"/>
            <a:ext cx="96363" cy="9636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849720" y="893700"/>
            <a:ext cx="103149" cy="10314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099364" y="1674942"/>
            <a:ext cx="146518" cy="14651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042547" y="1263509"/>
            <a:ext cx="89841" cy="8984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0689213" y="818860"/>
            <a:ext cx="98103" cy="9810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008894" y="1131645"/>
            <a:ext cx="146072" cy="14607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507176" y="1020854"/>
            <a:ext cx="119383" cy="11938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200000"/>
            <a:ext cx="10000000" cy="1000000"/>
          </a:xfrm>
          <a:prstGeom prst="rect">
            <a:avLst/>
          </a:prstGeom>
          <a:noFill/>
        </p:spPr>
        <p:txBody>
          <a:bodyPr wrap="square" lIns="0" tIns="0" rIns="0" bIns="0">
            <a:spAutoFit/>
          </a:bodyPr>
          <a:lstStyle/>
          <a:p>
            <a:pPr algn="l">
              <a:spcAft>
                <a:spcPts val="0"/>
              </a:spcAft>
            </a:pPr>
            <a:r>
              <a:rPr sz="3400" b="1">
                <a:solidFill>
                  <a:srgbClr val="FFFFFF"/>
                </a:solidFill>
                <a:latin typeface="Calibri"/>
              </a:rPr>
              <a:t>The four pieces</a:t>
            </a:r>
          </a:p>
        </p:txBody>
      </p:sp>
      <p:sp>
        <p:nvSpPr>
          <p:cNvPr id="30" name="TextBox 29"/>
          <p:cNvSpPr txBox="1"/>
          <p:nvPr/>
        </p:nvSpPr>
        <p:spPr>
          <a:xfrm>
            <a:off x="640080" y="4250000"/>
            <a:ext cx="9500000" cy="900000"/>
          </a:xfrm>
          <a:prstGeom prst="rect">
            <a:avLst/>
          </a:prstGeom>
          <a:noFill/>
        </p:spPr>
        <p:txBody>
          <a:bodyPr wrap="square" lIns="0" tIns="0" rIns="0" bIns="0">
            <a:spAutoFit/>
          </a:bodyPr>
          <a:lstStyle/>
          <a:p>
            <a:pPr algn="l">
              <a:spcAft>
                <a:spcPts val="0"/>
              </a:spcAft>
            </a:pPr>
            <a:r>
              <a:rPr sz="1500" b="0">
                <a:solidFill>
                  <a:srgbClr val="CADCFC"/>
                </a:solidFill>
                <a:latin typeface="Calibri"/>
              </a:rPr>
              <a:t>Different tools use different names. The underlying ideas are the same.</a:t>
            </a:r>
          </a:p>
        </p:txBody>
      </p:sp>
      <p:sp>
        <p:nvSpPr>
          <p:cNvPr id="31" name="TextBox 30"/>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CADCFC"/>
                </a:solidFill>
                <a:latin typeface="Calibri"/>
              </a:rPr>
              <a:t>Data engineering och agila metoder · AIM25</a:t>
            </a:r>
          </a:p>
        </p:txBody>
      </p:sp>
      <p:sp>
        <p:nvSpPr>
          <p:cNvPr id="32" name="TextBox 31"/>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CADCFC"/>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VOCABULARY</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Four common terms</a:t>
            </a:r>
          </a:p>
        </p:txBody>
      </p:sp>
      <p:sp>
        <p:nvSpPr>
          <p:cNvPr id="4" name="Rounded Rectangle 3"/>
          <p:cNvSpPr/>
          <p:nvPr/>
        </p:nvSpPr>
        <p:spPr>
          <a:xfrm>
            <a:off x="502920" y="130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00000" y="145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Feature group</a:t>
            </a:r>
          </a:p>
        </p:txBody>
      </p:sp>
      <p:sp>
        <p:nvSpPr>
          <p:cNvPr id="6" name="TextBox 5"/>
          <p:cNvSpPr txBox="1"/>
          <p:nvPr/>
        </p:nvSpPr>
        <p:spPr>
          <a:xfrm>
            <a:off x="700000" y="182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Related features from one source. It has a schema, a primary key and an event-time column. In your project: feat__daily.</a:t>
            </a:r>
          </a:p>
        </p:txBody>
      </p:sp>
      <p:sp>
        <p:nvSpPr>
          <p:cNvPr id="7" name="Rounded Rectangle 6"/>
          <p:cNvSpPr/>
          <p:nvPr/>
        </p:nvSpPr>
        <p:spPr>
          <a:xfrm>
            <a:off x="502920" y="256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00000" y="271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Feature view</a:t>
            </a:r>
          </a:p>
        </p:txBody>
      </p:sp>
      <p:sp>
        <p:nvSpPr>
          <p:cNvPr id="9" name="TextBox 8"/>
          <p:cNvSpPr txBox="1"/>
          <p:nvPr/>
        </p:nvSpPr>
        <p:spPr>
          <a:xfrm>
            <a:off x="700000" y="308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A named selection of features for one model. In your project: the query that selects the columns used for training.</a:t>
            </a:r>
          </a:p>
        </p:txBody>
      </p:sp>
      <p:sp>
        <p:nvSpPr>
          <p:cNvPr id="10" name="Rounded Rectangle 9"/>
          <p:cNvSpPr/>
          <p:nvPr/>
        </p:nvSpPr>
        <p:spPr>
          <a:xfrm>
            <a:off x="502920" y="382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00000" y="397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Training dataset</a:t>
            </a:r>
          </a:p>
        </p:txBody>
      </p:sp>
      <p:sp>
        <p:nvSpPr>
          <p:cNvPr id="12" name="TextBox 11"/>
          <p:cNvSpPr txBox="1"/>
          <p:nvPr/>
        </p:nvSpPr>
        <p:spPr>
          <a:xfrm>
            <a:off x="700000" y="434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A saved version of the selected data, so a training run can be repeated. In your project: the DataFrame used in one run.</a:t>
            </a:r>
          </a:p>
        </p:txBody>
      </p:sp>
      <p:sp>
        <p:nvSpPr>
          <p:cNvPr id="13" name="Rounded Rectangle 12"/>
          <p:cNvSpPr/>
          <p:nvPr/>
        </p:nvSpPr>
        <p:spPr>
          <a:xfrm>
            <a:off x="502920" y="508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00000" y="523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Online store</a:t>
            </a:r>
          </a:p>
        </p:txBody>
      </p:sp>
      <p:sp>
        <p:nvSpPr>
          <p:cNvPr id="15" name="TextBox 14"/>
          <p:cNvSpPr txBox="1"/>
          <p:nvPr/>
        </p:nvSpPr>
        <p:spPr>
          <a:xfrm>
            <a:off x="700000" y="560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Current feature values organised for fast lookup when an API makes one prediction. You do not need a separate one in this project.</a:t>
            </a:r>
          </a:p>
        </p:txBody>
      </p:sp>
      <p:sp>
        <p:nvSpPr>
          <p:cNvPr id="16" name="TextBox 15"/>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17" name="TextBox 16"/>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OFFLINE AND ONLINE</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The same features can be used in two different ways</a:t>
            </a:r>
          </a:p>
        </p:txBody>
      </p:sp>
      <p:sp>
        <p:nvSpPr>
          <p:cNvPr id="4" name="Rounded Rectangle 3"/>
          <p:cNvSpPr/>
          <p:nvPr/>
        </p:nvSpPr>
        <p:spPr>
          <a:xfrm>
            <a:off x="502920" y="1450000"/>
            <a:ext cx="5150000" cy="410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02920" y="1620000"/>
            <a:ext cx="4750000" cy="400000"/>
          </a:xfrm>
          <a:prstGeom prst="rect">
            <a:avLst/>
          </a:prstGeom>
          <a:noFill/>
        </p:spPr>
        <p:txBody>
          <a:bodyPr wrap="square" lIns="0" tIns="0" rIns="0" bIns="0">
            <a:spAutoFit/>
          </a:bodyPr>
          <a:lstStyle/>
          <a:p>
            <a:pPr algn="l">
              <a:spcAft>
                <a:spcPts val="0"/>
              </a:spcAft>
            </a:pPr>
            <a:r>
              <a:rPr sz="1600" b="1">
                <a:solidFill>
                  <a:srgbClr val="1E2761"/>
                </a:solidFill>
                <a:latin typeface="Calibri"/>
              </a:rPr>
              <a:t>Offline store</a:t>
            </a:r>
          </a:p>
        </p:txBody>
      </p:sp>
      <p:sp>
        <p:nvSpPr>
          <p:cNvPr id="6" name="TextBox 5"/>
          <p:cNvSpPr txBox="1"/>
          <p:nvPr/>
        </p:nvSpPr>
        <p:spPr>
          <a:xfrm>
            <a:off x="702920" y="2100000"/>
            <a:ext cx="4750000" cy="3300000"/>
          </a:xfrm>
          <a:prstGeom prst="rect">
            <a:avLst/>
          </a:prstGeom>
          <a:noFill/>
        </p:spPr>
        <p:txBody>
          <a:bodyPr wrap="square" lIns="0" tIns="0" rIns="0" bIns="0">
            <a:spAutoFit/>
          </a:bodyPr>
          <a:lstStyle/>
          <a:p>
            <a:pPr algn="l">
              <a:spcAft>
                <a:spcPts val="200"/>
              </a:spcAft>
            </a:pPr>
            <a:r>
              <a:rPr sz="1400" b="0">
                <a:solidFill>
                  <a:srgbClr val="44506B"/>
                </a:solidFill>
                <a:latin typeface="Calibri"/>
              </a:rPr>
              <a:t>•  Historical data with many rows.</a:t>
            </a:r>
          </a:p>
          <a:p>
            <a:pPr algn="l">
              <a:spcAft>
                <a:spcPts val="200"/>
              </a:spcAft>
            </a:pPr>
            <a:r>
              <a:rPr sz="1400" b="0">
                <a:solidFill>
                  <a:srgbClr val="44506B"/>
                </a:solidFill>
                <a:latin typeface="Calibri"/>
              </a:rPr>
              <a:t/>
            </a:r>
          </a:p>
          <a:p>
            <a:pPr algn="l">
              <a:spcAft>
                <a:spcPts val="200"/>
              </a:spcAft>
            </a:pPr>
            <a:r>
              <a:rPr sz="1400" b="0">
                <a:solidFill>
                  <a:srgbClr val="44506B"/>
                </a:solidFill>
                <a:latin typeface="Calibri"/>
              </a:rPr>
              <a:t>•  Question: give me all rows for training from a period.</a:t>
            </a:r>
          </a:p>
          <a:p>
            <a:pPr algn="l">
              <a:spcAft>
                <a:spcPts val="200"/>
              </a:spcAft>
            </a:pPr>
            <a:r>
              <a:rPr sz="1400" b="0">
                <a:solidFill>
                  <a:srgbClr val="44506B"/>
                </a:solidFill>
                <a:latin typeface="Calibri"/>
              </a:rPr>
              <a:t/>
            </a:r>
          </a:p>
          <a:p>
            <a:pPr algn="l">
              <a:spcAft>
                <a:spcPts val="200"/>
              </a:spcAft>
            </a:pPr>
            <a:r>
              <a:rPr sz="1400" b="0">
                <a:solidFill>
                  <a:srgbClr val="44506B"/>
                </a:solidFill>
                <a:latin typeface="Calibri"/>
              </a:rPr>
              <a:t>•  Used for training and historical rebuilds.</a:t>
            </a:r>
          </a:p>
          <a:p>
            <a:pPr algn="l">
              <a:spcAft>
                <a:spcPts val="200"/>
              </a:spcAft>
            </a:pPr>
            <a:r>
              <a:rPr sz="1400" b="0">
                <a:solidFill>
                  <a:srgbClr val="44506B"/>
                </a:solidFill>
                <a:latin typeface="Calibri"/>
              </a:rPr>
              <a:t/>
            </a:r>
          </a:p>
          <a:p>
            <a:pPr algn="l">
              <a:spcAft>
                <a:spcPts val="200"/>
              </a:spcAft>
            </a:pPr>
            <a:r>
              <a:rPr sz="1400" b="0">
                <a:solidFill>
                  <a:srgbClr val="44506B"/>
                </a:solidFill>
                <a:latin typeface="Calibri"/>
              </a:rPr>
              <a:t>•  Your project: Postgres feat__daily.</a:t>
            </a:r>
          </a:p>
          <a:p>
            <a:pPr algn="l">
              <a:spcAft>
                <a:spcPts val="200"/>
              </a:spcAft>
            </a:pPr>
            <a:r>
              <a:rPr sz="1400" b="0">
                <a:solidFill>
                  <a:srgbClr val="44506B"/>
                </a:solidFill>
                <a:latin typeface="Calibri"/>
              </a:rPr>
              <a:t/>
            </a:r>
          </a:p>
          <a:p>
            <a:pPr algn="l">
              <a:spcAft>
                <a:spcPts val="200"/>
              </a:spcAft>
            </a:pPr>
            <a:r>
              <a:rPr sz="1400" b="0">
                <a:solidFill>
                  <a:srgbClr val="44506B"/>
                </a:solidFill>
                <a:latin typeface="Calibri"/>
              </a:rPr>
              <a:t>•  A query can take seconds.</a:t>
            </a:r>
          </a:p>
          <a:p>
            <a:pPr algn="l">
              <a:spcAft>
                <a:spcPts val="200"/>
              </a:spcAft>
            </a:pPr>
            <a:r>
              <a:rPr sz="1400" b="0">
                <a:solidFill>
                  <a:srgbClr val="44506B"/>
                </a:solidFill>
                <a:latin typeface="Calibri"/>
              </a:rPr>
              <a:t/>
            </a:r>
          </a:p>
        </p:txBody>
      </p:sp>
      <p:sp>
        <p:nvSpPr>
          <p:cNvPr id="7" name="Rounded Rectangle 6"/>
          <p:cNvSpPr/>
          <p:nvPr/>
        </p:nvSpPr>
        <p:spPr>
          <a:xfrm>
            <a:off x="6152920" y="1450000"/>
            <a:ext cx="5150000" cy="410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352920" y="1620000"/>
            <a:ext cx="4750000" cy="400000"/>
          </a:xfrm>
          <a:prstGeom prst="rect">
            <a:avLst/>
          </a:prstGeom>
          <a:noFill/>
        </p:spPr>
        <p:txBody>
          <a:bodyPr wrap="square" lIns="0" tIns="0" rIns="0" bIns="0">
            <a:spAutoFit/>
          </a:bodyPr>
          <a:lstStyle/>
          <a:p>
            <a:pPr algn="l">
              <a:spcAft>
                <a:spcPts val="0"/>
              </a:spcAft>
            </a:pPr>
            <a:r>
              <a:rPr sz="1600" b="1">
                <a:solidFill>
                  <a:srgbClr val="1E2761"/>
                </a:solidFill>
                <a:latin typeface="Calibri"/>
              </a:rPr>
              <a:t>Online store</a:t>
            </a:r>
          </a:p>
        </p:txBody>
      </p:sp>
      <p:sp>
        <p:nvSpPr>
          <p:cNvPr id="9" name="TextBox 8"/>
          <p:cNvSpPr txBox="1"/>
          <p:nvPr/>
        </p:nvSpPr>
        <p:spPr>
          <a:xfrm>
            <a:off x="6352920" y="2100000"/>
            <a:ext cx="4750000" cy="3300000"/>
          </a:xfrm>
          <a:prstGeom prst="rect">
            <a:avLst/>
          </a:prstGeom>
          <a:noFill/>
        </p:spPr>
        <p:txBody>
          <a:bodyPr wrap="square" lIns="0" tIns="0" rIns="0" bIns="0">
            <a:spAutoFit/>
          </a:bodyPr>
          <a:lstStyle/>
          <a:p>
            <a:pPr algn="l">
              <a:spcAft>
                <a:spcPts val="200"/>
              </a:spcAft>
            </a:pPr>
            <a:r>
              <a:rPr sz="1400" b="0">
                <a:solidFill>
                  <a:srgbClr val="44506B"/>
                </a:solidFill>
                <a:latin typeface="Calibri"/>
              </a:rPr>
              <a:t>•  Current data for one entity at a time.</a:t>
            </a:r>
          </a:p>
          <a:p>
            <a:pPr algn="l">
              <a:spcAft>
                <a:spcPts val="200"/>
              </a:spcAft>
            </a:pPr>
            <a:r>
              <a:rPr sz="1400" b="0">
                <a:solidFill>
                  <a:srgbClr val="44506B"/>
                </a:solidFill>
                <a:latin typeface="Calibri"/>
              </a:rPr>
              <a:t/>
            </a:r>
          </a:p>
          <a:p>
            <a:pPr algn="l">
              <a:spcAft>
                <a:spcPts val="200"/>
              </a:spcAft>
            </a:pPr>
            <a:r>
              <a:rPr sz="1400" b="0">
                <a:solidFill>
                  <a:srgbClr val="44506B"/>
                </a:solidFill>
                <a:latin typeface="Calibri"/>
              </a:rPr>
              <a:t>•  Question: what are the latest features for SE3?</a:t>
            </a:r>
          </a:p>
          <a:p>
            <a:pPr algn="l">
              <a:spcAft>
                <a:spcPts val="200"/>
              </a:spcAft>
            </a:pPr>
            <a:r>
              <a:rPr sz="1400" b="0">
                <a:solidFill>
                  <a:srgbClr val="44506B"/>
                </a:solidFill>
                <a:latin typeface="Calibri"/>
              </a:rPr>
              <a:t/>
            </a:r>
          </a:p>
          <a:p>
            <a:pPr algn="l">
              <a:spcAft>
                <a:spcPts val="200"/>
              </a:spcAft>
            </a:pPr>
            <a:r>
              <a:rPr sz="1400" b="0">
                <a:solidFill>
                  <a:srgbClr val="44506B"/>
                </a:solidFill>
                <a:latin typeface="Calibri"/>
              </a:rPr>
              <a:t>•  Used when an API makes a prediction.</a:t>
            </a:r>
          </a:p>
          <a:p>
            <a:pPr algn="l">
              <a:spcAft>
                <a:spcPts val="200"/>
              </a:spcAft>
            </a:pPr>
            <a:r>
              <a:rPr sz="1400" b="0">
                <a:solidFill>
                  <a:srgbClr val="44506B"/>
                </a:solidFill>
                <a:latin typeface="Calibri"/>
              </a:rPr>
              <a:t/>
            </a:r>
          </a:p>
          <a:p>
            <a:pPr algn="l">
              <a:spcAft>
                <a:spcPts val="200"/>
              </a:spcAft>
            </a:pPr>
            <a:r>
              <a:rPr sz="1400" b="0">
                <a:solidFill>
                  <a:srgbClr val="44506B"/>
                </a:solidFill>
                <a:latin typeface="Calibri"/>
              </a:rPr>
              <a:t>•  Your project: a normal query against the same table.</a:t>
            </a:r>
          </a:p>
          <a:p>
            <a:pPr algn="l">
              <a:spcAft>
                <a:spcPts val="200"/>
              </a:spcAft>
            </a:pPr>
            <a:r>
              <a:rPr sz="1400" b="0">
                <a:solidFill>
                  <a:srgbClr val="44506B"/>
                </a:solidFill>
                <a:latin typeface="Calibri"/>
              </a:rPr>
              <a:t/>
            </a:r>
          </a:p>
          <a:p>
            <a:pPr algn="l">
              <a:spcAft>
                <a:spcPts val="200"/>
              </a:spcAft>
            </a:pPr>
            <a:r>
              <a:rPr sz="1400" b="0">
                <a:solidFill>
                  <a:srgbClr val="44506B"/>
                </a:solidFill>
                <a:latin typeface="Calibri"/>
              </a:rPr>
              <a:t>•  For a public service, users expect a quick answer.</a:t>
            </a:r>
          </a:p>
          <a:p>
            <a:pPr algn="l">
              <a:spcAft>
                <a:spcPts val="200"/>
              </a:spcAft>
            </a:pPr>
            <a:r>
              <a:rPr sz="1400" b="0">
                <a:solidFill>
                  <a:srgbClr val="44506B"/>
                </a:solidFill>
                <a:latin typeface="Calibri"/>
              </a:rPr>
              <a:t/>
            </a:r>
          </a:p>
        </p:txBody>
      </p:sp>
      <p:sp>
        <p:nvSpPr>
          <p:cNvPr id="10" name="TextBox 9"/>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11" name="TextBox 10"/>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WHY TWO STORES AT ALL</a:t>
            </a:r>
          </a:p>
        </p:txBody>
      </p:sp>
      <p:sp>
        <p:nvSpPr>
          <p:cNvPr id="3" name="TextBox 2"/>
          <p:cNvSpPr txBox="1"/>
          <p:nvPr/>
        </p:nvSpPr>
        <p:spPr>
          <a:xfrm>
            <a:off x="502920" y="2300000"/>
            <a:ext cx="11000000" cy="2000000"/>
          </a:xfrm>
          <a:prstGeom prst="rect">
            <a:avLst/>
          </a:prstGeom>
          <a:noFill/>
        </p:spPr>
        <p:txBody>
          <a:bodyPr wrap="square" lIns="0" tIns="0" rIns="0" bIns="0">
            <a:spAutoFit/>
          </a:bodyPr>
          <a:lstStyle/>
          <a:p>
            <a:pPr algn="l">
              <a:spcAft>
                <a:spcPts val="0"/>
              </a:spcAft>
            </a:pPr>
            <a:r>
              <a:rPr sz="2400" b="1">
                <a:solidFill>
                  <a:srgbClr val="1E2761"/>
                </a:solidFill>
                <a:latin typeface="Calibri"/>
              </a:rPr>
              <a:t>Training needs many historical rows. An API normally needs the current row for one entity.</a:t>
            </a:r>
          </a:p>
        </p:txBody>
      </p:sp>
      <p:sp>
        <p:nvSpPr>
          <p:cNvPr id="4" name="TextBox 3"/>
          <p:cNvSpPr txBox="1"/>
          <p:nvPr/>
        </p:nvSpPr>
        <p:spPr>
          <a:xfrm>
            <a:off x="502920" y="4400000"/>
            <a:ext cx="10800000" cy="1200000"/>
          </a:xfrm>
          <a:prstGeom prst="rect">
            <a:avLst/>
          </a:prstGeom>
          <a:noFill/>
        </p:spPr>
        <p:txBody>
          <a:bodyPr wrap="square" lIns="0" tIns="0" rIns="0" bIns="0">
            <a:spAutoFit/>
          </a:bodyPr>
          <a:lstStyle/>
          <a:p>
            <a:pPr algn="l">
              <a:spcAft>
                <a:spcPts val="0"/>
              </a:spcAft>
            </a:pPr>
            <a:r>
              <a:rPr sz="1500" b="0">
                <a:solidFill>
                  <a:srgbClr val="44506B"/>
                </a:solidFill>
                <a:latin typeface="Calibri"/>
              </a:rPr>
              <a:t>A dedicated feature store keeps the feature definition the same in both cases, even when the data is stored and read in different ways. If feature logic is written separately for training and for the API, the two versions can gradually become different.</a:t>
            </a: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9042882" y="1892293"/>
            <a:ext cx="96112" cy="9611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63756" y="1315978"/>
            <a:ext cx="132323" cy="13232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918222" y="1861641"/>
            <a:ext cx="87150" cy="8715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34863" y="667958"/>
            <a:ext cx="80860" cy="8086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1277591" y="715376"/>
            <a:ext cx="168544" cy="16854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3466" y="713391"/>
            <a:ext cx="94587" cy="94587"/>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532936" y="1290058"/>
            <a:ext cx="87098" cy="8709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835770" y="1119520"/>
            <a:ext cx="112783" cy="11278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121493" y="1827959"/>
            <a:ext cx="108844" cy="10884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863705" y="506151"/>
            <a:ext cx="150779" cy="15077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8723026" y="1800457"/>
            <a:ext cx="151635" cy="15163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0002589" y="1127331"/>
            <a:ext cx="123340" cy="12334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857158" y="1143868"/>
            <a:ext cx="74468" cy="7446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049183" y="1310756"/>
            <a:ext cx="77840" cy="7784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0932422" y="585714"/>
            <a:ext cx="90801" cy="9080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340471" y="1521531"/>
            <a:ext cx="152824" cy="15282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353248" y="979424"/>
            <a:ext cx="120219" cy="12021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141951" y="1563093"/>
            <a:ext cx="79128" cy="7912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571819" y="1270223"/>
            <a:ext cx="172681" cy="17268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631301" y="764032"/>
            <a:ext cx="94932" cy="9493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364313" y="1812855"/>
            <a:ext cx="146426" cy="14642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8839276" y="598269"/>
            <a:ext cx="164024" cy="16402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749071" y="1780791"/>
            <a:ext cx="153264" cy="15326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8807338" y="1186278"/>
            <a:ext cx="88068" cy="8806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556258" y="1240957"/>
            <a:ext cx="155865" cy="15586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424404" y="1602892"/>
            <a:ext cx="105644" cy="10564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945270" y="806202"/>
            <a:ext cx="75186" cy="7518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200000"/>
            <a:ext cx="10000000" cy="1000000"/>
          </a:xfrm>
          <a:prstGeom prst="rect">
            <a:avLst/>
          </a:prstGeom>
          <a:noFill/>
        </p:spPr>
        <p:txBody>
          <a:bodyPr wrap="square" lIns="0" tIns="0" rIns="0" bIns="0">
            <a:spAutoFit/>
          </a:bodyPr>
          <a:lstStyle/>
          <a:p>
            <a:pPr algn="l">
              <a:spcAft>
                <a:spcPts val="0"/>
              </a:spcAft>
            </a:pPr>
            <a:r>
              <a:rPr sz="3400" b="1">
                <a:solidFill>
                  <a:srgbClr val="FFFFFF"/>
                </a:solidFill>
                <a:latin typeface="Calibri"/>
              </a:rPr>
              <a:t>Point-in-time correctness</a:t>
            </a:r>
          </a:p>
        </p:txBody>
      </p:sp>
      <p:sp>
        <p:nvSpPr>
          <p:cNvPr id="30" name="TextBox 29"/>
          <p:cNvSpPr txBox="1"/>
          <p:nvPr/>
        </p:nvSpPr>
        <p:spPr>
          <a:xfrm>
            <a:off x="640080" y="4250000"/>
            <a:ext cx="9500000" cy="900000"/>
          </a:xfrm>
          <a:prstGeom prst="rect">
            <a:avLst/>
          </a:prstGeom>
          <a:noFill/>
        </p:spPr>
        <p:txBody>
          <a:bodyPr wrap="square" lIns="0" tIns="0" rIns="0" bIns="0">
            <a:spAutoFit/>
          </a:bodyPr>
          <a:lstStyle/>
          <a:p>
            <a:pPr algn="l">
              <a:spcAft>
                <a:spcPts val="0"/>
              </a:spcAft>
            </a:pPr>
            <a:r>
              <a:rPr sz="1500" b="0">
                <a:solidFill>
                  <a:srgbClr val="CADCFC"/>
                </a:solidFill>
                <a:latin typeface="Calibri"/>
              </a:rPr>
              <a:t>The most important idea in this lesson.</a:t>
            </a:r>
          </a:p>
        </p:txBody>
      </p:sp>
      <p:sp>
        <p:nvSpPr>
          <p:cNvPr id="31" name="TextBox 30"/>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CADCFC"/>
                </a:solidFill>
                <a:latin typeface="Calibri"/>
              </a:rPr>
              <a:t>Data engineering och agila metoder · AIM25</a:t>
            </a:r>
          </a:p>
        </p:txBody>
      </p:sp>
      <p:sp>
        <p:nvSpPr>
          <p:cNvPr id="32" name="TextBox 31"/>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CADCFC"/>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ASK THIS QUESTION</a:t>
            </a:r>
          </a:p>
        </p:txBody>
      </p:sp>
      <p:sp>
        <p:nvSpPr>
          <p:cNvPr id="3" name="TextBox 2"/>
          <p:cNvSpPr txBox="1"/>
          <p:nvPr/>
        </p:nvSpPr>
        <p:spPr>
          <a:xfrm>
            <a:off x="502920" y="2300000"/>
            <a:ext cx="11000000" cy="2000000"/>
          </a:xfrm>
          <a:prstGeom prst="rect">
            <a:avLst/>
          </a:prstGeom>
          <a:noFill/>
        </p:spPr>
        <p:txBody>
          <a:bodyPr wrap="square" lIns="0" tIns="0" rIns="0" bIns="0">
            <a:spAutoFit/>
          </a:bodyPr>
          <a:lstStyle/>
          <a:p>
            <a:pPr algn="l">
              <a:spcAft>
                <a:spcPts val="0"/>
              </a:spcAft>
            </a:pPr>
            <a:r>
              <a:rPr sz="2600" b="1">
                <a:solidFill>
                  <a:srgbClr val="1E2761"/>
                </a:solidFill>
                <a:latin typeface="Calibri"/>
              </a:rPr>
              <a:t>For a prediction made on 15 September about 16 September, what information was available on 15 September?</a:t>
            </a:r>
          </a:p>
        </p:txBody>
      </p:sp>
      <p:sp>
        <p:nvSpPr>
          <p:cNvPr id="4" name="TextBox 3"/>
          <p:cNvSpPr txBox="1"/>
          <p:nvPr/>
        </p:nvSpPr>
        <p:spPr>
          <a:xfrm>
            <a:off x="502920" y="4400000"/>
            <a:ext cx="10800000" cy="1200000"/>
          </a:xfrm>
          <a:prstGeom prst="rect">
            <a:avLst/>
          </a:prstGeom>
          <a:noFill/>
        </p:spPr>
        <p:txBody>
          <a:bodyPr wrap="square" lIns="0" tIns="0" rIns="0" bIns="0">
            <a:spAutoFit/>
          </a:bodyPr>
          <a:lstStyle/>
          <a:p>
            <a:pPr algn="l">
              <a:spcAft>
                <a:spcPts val="0"/>
              </a:spcAft>
            </a:pPr>
            <a:r>
              <a:rPr sz="1500" b="0">
                <a:solidFill>
                  <a:srgbClr val="44506B"/>
                </a:solidFill>
                <a:latin typeface="Calibri"/>
              </a:rPr>
              <a:t>It is not enough that data exists in the table today. It must have been published, ingested and available at the time the prediction would have been made. Otherwise the training score will be too optimistic.</a:t>
            </a: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CONCRETELY</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Two similar joins, with an important difference</a:t>
            </a:r>
          </a:p>
        </p:txBody>
      </p:sp>
      <p:sp>
        <p:nvSpPr>
          <p:cNvPr id="4" name="Rounded Rectangle 3"/>
          <p:cNvSpPr/>
          <p:nvPr/>
        </p:nvSpPr>
        <p:spPr>
          <a:xfrm>
            <a:off x="502920" y="1450000"/>
            <a:ext cx="10800000" cy="385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00000" y="1580000"/>
            <a:ext cx="10400000" cy="350000"/>
          </a:xfrm>
          <a:prstGeom prst="rect">
            <a:avLst/>
          </a:prstGeom>
          <a:noFill/>
        </p:spPr>
        <p:txBody>
          <a:bodyPr wrap="square" lIns="0" tIns="0" rIns="0" bIns="0">
            <a:spAutoFit/>
          </a:bodyPr>
          <a:lstStyle/>
          <a:p>
            <a:pPr algn="l">
              <a:spcAft>
                <a:spcPts val="0"/>
              </a:spcAft>
            </a:pPr>
            <a:r>
              <a:rPr sz="1400" b="1">
                <a:solidFill>
                  <a:srgbClr val="1E2761"/>
                </a:solidFill>
                <a:latin typeface="Calibri"/>
              </a:rPr>
              <a:t>The second join only uses data that was available at prediction time</a:t>
            </a:r>
          </a:p>
        </p:txBody>
      </p:sp>
      <p:sp>
        <p:nvSpPr>
          <p:cNvPr id="6" name="TextBox 5"/>
          <p:cNvSpPr txBox="1"/>
          <p:nvPr/>
        </p:nvSpPr>
        <p:spPr>
          <a:xfrm>
            <a:off x="700000" y="1930000"/>
            <a:ext cx="10400000" cy="3200000"/>
          </a:xfrm>
          <a:prstGeom prst="rect">
            <a:avLst/>
          </a:prstGeom>
          <a:noFill/>
        </p:spPr>
        <p:txBody>
          <a:bodyPr wrap="square" lIns="0" tIns="0" rIns="0" bIns="0">
            <a:spAutoFit/>
          </a:bodyPr>
          <a:lstStyle/>
          <a:p>
            <a:pPr algn="l">
              <a:spcAft>
                <a:spcPts val="200"/>
              </a:spcAft>
            </a:pPr>
            <a:r>
              <a:rPr sz="1300" b="0">
                <a:solidFill>
                  <a:srgbClr val="44506B"/>
                </a:solidFill>
                <a:latin typeface="Consolas"/>
              </a:rPr>
              <a:t>-- WRONG: uses the value stored today</a:t>
            </a:r>
          </a:p>
          <a:p>
            <a:pPr algn="l">
              <a:spcAft>
                <a:spcPts val="200"/>
              </a:spcAft>
            </a:pPr>
            <a:r>
              <a:rPr sz="1300" b="0">
                <a:solidFill>
                  <a:srgbClr val="44506B"/>
                </a:solidFill>
                <a:latin typeface="Consolas"/>
              </a:rPr>
              <a:t>SELECT f.target_date, w.temp_mean</a:t>
            </a:r>
          </a:p>
          <a:p>
            <a:pPr algn="l">
              <a:spcAft>
                <a:spcPts val="200"/>
              </a:spcAft>
            </a:pPr>
            <a:r>
              <a:rPr sz="1300" b="0">
                <a:solidFill>
                  <a:srgbClr val="44506B"/>
                </a:solidFill>
                <a:latin typeface="Consolas"/>
              </a:rPr>
              <a:t>FROM   feat__daily f</a:t>
            </a:r>
          </a:p>
          <a:p>
            <a:pPr algn="l">
              <a:spcAft>
                <a:spcPts val="200"/>
              </a:spcAft>
            </a:pPr>
            <a:r>
              <a:rPr sz="1300" b="0">
                <a:solidFill>
                  <a:srgbClr val="44506B"/>
                </a:solidFill>
                <a:latin typeface="Consolas"/>
              </a:rPr>
              <a:t>JOIN   raw__weather w ON w.date = f.target_date;</a:t>
            </a:r>
          </a:p>
          <a:p>
            <a:pPr algn="l">
              <a:spcAft>
                <a:spcPts val="200"/>
              </a:spcAft>
            </a:pPr>
            <a:r>
              <a:rPr sz="1300" b="0">
                <a:solidFill>
                  <a:srgbClr val="44506B"/>
                </a:solidFill>
                <a:latin typeface="Consolas"/>
              </a:rPr>
              <a:t/>
            </a:r>
          </a:p>
          <a:p>
            <a:pPr algn="l">
              <a:spcAft>
                <a:spcPts val="200"/>
              </a:spcAft>
            </a:pPr>
            <a:r>
              <a:rPr sz="1300" b="0">
                <a:solidFill>
                  <a:srgbClr val="44506B"/>
                </a:solidFill>
                <a:latin typeface="Consolas"/>
              </a:rPr>
              <a:t>-- RIGHT: uses the value available at prediction time</a:t>
            </a:r>
          </a:p>
          <a:p>
            <a:pPr algn="l">
              <a:spcAft>
                <a:spcPts val="200"/>
              </a:spcAft>
            </a:pPr>
            <a:r>
              <a:rPr sz="1300" b="0">
                <a:solidFill>
                  <a:srgbClr val="44506B"/>
                </a:solidFill>
                <a:latin typeface="Consolas"/>
              </a:rPr>
              <a:t>SELECT f.target_date, w.temp_mean</a:t>
            </a:r>
          </a:p>
          <a:p>
            <a:pPr algn="l">
              <a:spcAft>
                <a:spcPts val="200"/>
              </a:spcAft>
            </a:pPr>
            <a:r>
              <a:rPr sz="1300" b="0">
                <a:solidFill>
                  <a:srgbClr val="44506B"/>
                </a:solidFill>
                <a:latin typeface="Consolas"/>
              </a:rPr>
              <a:t>FROM   feat__daily f</a:t>
            </a:r>
          </a:p>
          <a:p>
            <a:pPr algn="l">
              <a:spcAft>
                <a:spcPts val="200"/>
              </a:spcAft>
            </a:pPr>
            <a:r>
              <a:rPr sz="1300" b="0">
                <a:solidFill>
                  <a:srgbClr val="44506B"/>
                </a:solidFill>
                <a:latin typeface="Consolas"/>
              </a:rPr>
              <a:t>JOIN   raw__weather w</a:t>
            </a:r>
          </a:p>
          <a:p>
            <a:pPr algn="l">
              <a:spcAft>
                <a:spcPts val="200"/>
              </a:spcAft>
            </a:pPr>
            <a:r>
              <a:rPr sz="1300" b="0">
                <a:solidFill>
                  <a:srgbClr val="44506B"/>
                </a:solidFill>
                <a:latin typeface="Consolas"/>
              </a:rPr>
              <a:t>  ON   w.date        = f.target_date</a:t>
            </a:r>
          </a:p>
          <a:p>
            <a:pPr algn="l">
              <a:spcAft>
                <a:spcPts val="200"/>
              </a:spcAft>
            </a:pPr>
            <a:r>
              <a:rPr sz="1300" b="0">
                <a:solidFill>
                  <a:srgbClr val="44506B"/>
                </a:solidFill>
                <a:latin typeface="Consolas"/>
              </a:rPr>
              <a:t> AND   w.ingested_at &lt;= f.prediction_made_at;</a:t>
            </a:r>
          </a:p>
        </p:txBody>
      </p:sp>
      <p:sp>
        <p:nvSpPr>
          <p:cNvPr id="7" name="TextBox 6"/>
          <p:cNvSpPr txBox="1"/>
          <p:nvPr/>
        </p:nvSpPr>
        <p:spPr>
          <a:xfrm>
            <a:off x="502920" y="5520000"/>
            <a:ext cx="10800000" cy="900000"/>
          </a:xfrm>
          <a:prstGeom prst="rect">
            <a:avLst/>
          </a:prstGeom>
          <a:noFill/>
        </p:spPr>
        <p:txBody>
          <a:bodyPr wrap="square" lIns="0" tIns="0" rIns="0" bIns="0">
            <a:spAutoFit/>
          </a:bodyPr>
          <a:lstStyle/>
          <a:p>
            <a:pPr algn="l">
              <a:spcAft>
                <a:spcPts val="0"/>
              </a:spcAft>
            </a:pPr>
            <a:r>
              <a:rPr sz="1400" b="0">
                <a:solidFill>
                  <a:srgbClr val="44506B"/>
                </a:solidFill>
                <a:latin typeface="Calibri"/>
              </a:rPr>
              <a:t>This requires an ingestion timestamp in the raw table. Without one, you cannot tell which data was available at a particular time.</a:t>
            </a:r>
          </a:p>
        </p:txBody>
      </p:sp>
      <p:sp>
        <p:nvSpPr>
          <p:cNvPr id="8" name="TextBox 7"/>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9" name="TextBox 8"/>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EXAMPLES FROM THIS PROJECT</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Three cases where the time boundary matters</a:t>
            </a:r>
          </a:p>
        </p:txBody>
      </p:sp>
      <p:sp>
        <p:nvSpPr>
          <p:cNvPr id="4" name="TextBox 3"/>
          <p:cNvSpPr txBox="1"/>
          <p:nvPr/>
        </p:nvSpPr>
        <p:spPr>
          <a:xfrm>
            <a:off x="502920" y="1500000"/>
            <a:ext cx="10800000" cy="4200000"/>
          </a:xfrm>
          <a:prstGeom prst="rect">
            <a:avLst/>
          </a:prstGeom>
          <a:noFill/>
        </p:spPr>
        <p:txBody>
          <a:bodyPr wrap="square" lIns="0" tIns="0" rIns="0" bIns="0">
            <a:spAutoFit/>
          </a:bodyPr>
          <a:lstStyle/>
          <a:p>
            <a:pPr algn="l">
              <a:spcAft>
                <a:spcPts val="200"/>
              </a:spcAft>
            </a:pPr>
            <a:r>
              <a:rPr sz="1500" b="1">
                <a:solidFill>
                  <a:srgbClr val="44506B"/>
                </a:solidFill>
                <a:latin typeface="Calibri"/>
              </a:rPr>
              <a:t>•  SMHI corrects observations</a:t>
            </a:r>
          </a:p>
          <a:p>
            <a:pPr algn="l">
              <a:spcAft>
                <a:spcPts val="200"/>
              </a:spcAft>
            </a:pPr>
            <a:r>
              <a:rPr sz="1500" b="0">
                <a:solidFill>
                  <a:srgbClr val="44506B"/>
                </a:solidFill>
                <a:latin typeface="Calibri"/>
              </a:rPr>
              <a:t>     A value read at 06:00 can be changed later. Training on the corrected value means training with information from the future.</a:t>
            </a:r>
          </a:p>
          <a:p>
            <a:pPr algn="l">
              <a:spcAft>
                <a:spcPts val="200"/>
              </a:spcAft>
            </a:pPr>
            <a:r>
              <a:rPr sz="1500" b="0">
                <a:solidFill>
                  <a:srgbClr val="44506B"/>
                </a:solidFill>
                <a:latin typeface="Calibri"/>
              </a:rPr>
              <a:t/>
            </a:r>
          </a:p>
          <a:p>
            <a:pPr algn="l">
              <a:spcAft>
                <a:spcPts val="200"/>
              </a:spcAft>
            </a:pPr>
            <a:r>
              <a:rPr sz="1500" b="1">
                <a:solidFill>
                  <a:srgbClr val="44506B"/>
                </a:solidFill>
                <a:latin typeface="Calibri"/>
              </a:rPr>
              <a:t>•  Tomorrow's prices publish around 13:00</a:t>
            </a:r>
          </a:p>
          <a:p>
            <a:pPr algn="l">
              <a:spcAft>
                <a:spcPts val="200"/>
              </a:spcAft>
            </a:pPr>
            <a:r>
              <a:rPr sz="1500" b="0">
                <a:solidFill>
                  <a:srgbClr val="44506B"/>
                </a:solidFill>
                <a:latin typeface="Calibri"/>
              </a:rPr>
              <a:t>     A feature based on tomorrow's price is only valid if the prediction is made after the price is published.</a:t>
            </a:r>
          </a:p>
          <a:p>
            <a:pPr algn="l">
              <a:spcAft>
                <a:spcPts val="200"/>
              </a:spcAft>
            </a:pPr>
            <a:r>
              <a:rPr sz="1500" b="0">
                <a:solidFill>
                  <a:srgbClr val="44506B"/>
                </a:solidFill>
                <a:latin typeface="Calibri"/>
              </a:rPr>
              <a:t/>
            </a:r>
          </a:p>
          <a:p>
            <a:pPr algn="l">
              <a:spcAft>
                <a:spcPts val="200"/>
              </a:spcAft>
            </a:pPr>
            <a:r>
              <a:rPr sz="1500" b="1">
                <a:solidFill>
                  <a:srgbClr val="44506B"/>
                </a:solidFill>
                <a:latin typeface="Calibri"/>
              </a:rPr>
              <a:t>•  Historical rebuilds</a:t>
            </a:r>
          </a:p>
          <a:p>
            <a:pPr algn="l">
              <a:spcAft>
                <a:spcPts val="200"/>
              </a:spcAft>
            </a:pPr>
            <a:r>
              <a:rPr sz="1500" b="0">
                <a:solidFill>
                  <a:srgbClr val="44506B"/>
                </a:solidFill>
                <a:latin typeface="Calibri"/>
              </a:rPr>
              <a:t>     When you build old rows in one batch, all the historical data is available. That is not how the daily pipeline will work.</a:t>
            </a:r>
          </a:p>
          <a:p>
            <a:pPr algn="l">
              <a:spcAft>
                <a:spcPts val="200"/>
              </a:spcAft>
            </a:pPr>
            <a:r>
              <a:rPr sz="1500" b="0">
                <a:solidFill>
                  <a:srgbClr val="44506B"/>
                </a:solidFill>
                <a:latin typeface="Calibri"/>
              </a:rPr>
              <a:t/>
            </a:r>
          </a:p>
        </p:txBody>
      </p:sp>
      <p:sp>
        <p:nvSpPr>
          <p:cNvPr id="5" name="TextBox 4"/>
          <p:cNvSpPr txBox="1"/>
          <p:nvPr/>
        </p:nvSpPr>
        <p:spPr>
          <a:xfrm>
            <a:off x="502920" y="5900000"/>
            <a:ext cx="10800000" cy="400000"/>
          </a:xfrm>
          <a:prstGeom prst="rect">
            <a:avLst/>
          </a:prstGeom>
          <a:noFill/>
        </p:spPr>
        <p:txBody>
          <a:bodyPr wrap="square" lIns="0" tIns="0" rIns="0" bIns="0">
            <a:spAutoFit/>
          </a:bodyPr>
          <a:lstStyle/>
          <a:p>
            <a:pPr algn="l">
              <a:spcAft>
                <a:spcPts val="0"/>
              </a:spcAft>
            </a:pPr>
            <a:r>
              <a:rPr sz="1300" b="1">
                <a:solidFill>
                  <a:srgbClr val="1E2761"/>
                </a:solidFill>
                <a:latin typeface="Calibri"/>
              </a:rPr>
              <a:t>This is the same information boundary you discussed earlier in the course.</a:t>
            </a:r>
          </a:p>
        </p:txBody>
      </p:sp>
      <p:sp>
        <p:nvSpPr>
          <p:cNvPr id="6" name="TextBox 5"/>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7" name="TextBox 6"/>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E2761"/>
        </a:solidFill>
        <a:effectLst/>
      </p:bgPr>
    </p:bg>
    <p:spTree>
      <p:nvGrpSpPr>
        <p:cNvPr id="1" name=""/>
        <p:cNvGrpSpPr/>
        <p:nvPr/>
      </p:nvGrpSpPr>
      <p:grpSpPr/>
      <p:sp>
        <p:nvSpPr>
          <p:cNvPr id="2" name="Oval 1"/>
          <p:cNvSpPr/>
          <p:nvPr/>
        </p:nvSpPr>
        <p:spPr>
          <a:xfrm>
            <a:off x="8740231" y="1953791"/>
            <a:ext cx="136528" cy="13652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154326" y="1424622"/>
            <a:ext cx="166954" cy="16695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915855" y="1630385"/>
            <a:ext cx="136274" cy="13627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593976" y="1936662"/>
            <a:ext cx="161138" cy="16113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161948" y="1108859"/>
            <a:ext cx="104265" cy="104265"/>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75434" y="1077617"/>
            <a:ext cx="156200" cy="15620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1027847" y="1415191"/>
            <a:ext cx="97041" cy="9704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9805552" y="1675230"/>
            <a:ext cx="128358" cy="12835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9592921" y="2036060"/>
            <a:ext cx="101759" cy="10175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0652840" y="1714580"/>
            <a:ext cx="156696" cy="15669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0569826" y="1696987"/>
            <a:ext cx="164744" cy="16474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321086" y="1510919"/>
            <a:ext cx="83786" cy="8378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9600001" y="797765"/>
            <a:ext cx="107280" cy="10728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135089" y="1808362"/>
            <a:ext cx="101080" cy="10108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753900" y="1404116"/>
            <a:ext cx="74203" cy="74203"/>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818569" y="1116927"/>
            <a:ext cx="91464" cy="9146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281640" y="706161"/>
            <a:ext cx="80591" cy="8059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160115" y="1774498"/>
            <a:ext cx="164166" cy="16416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26492" y="1642404"/>
            <a:ext cx="103981" cy="10398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9581771" y="1588646"/>
            <a:ext cx="97304" cy="9730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9112391" y="1411347"/>
            <a:ext cx="78149" cy="78149"/>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0840362" y="1396097"/>
            <a:ext cx="152356" cy="152356"/>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395650" y="742061"/>
            <a:ext cx="85514" cy="85514"/>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9136211" y="1328659"/>
            <a:ext cx="131770" cy="131770"/>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1246163" y="1472957"/>
            <a:ext cx="89452" cy="89452"/>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11544820" y="1664376"/>
            <a:ext cx="122498" cy="122498"/>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999807" y="1996833"/>
            <a:ext cx="80511" cy="80511"/>
          </a:xfrm>
          <a:prstGeom prst="ellipse">
            <a:avLst/>
          </a:prstGeom>
          <a:solidFill>
            <a:srgbClr val="CADC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3200000"/>
            <a:ext cx="10000000" cy="1000000"/>
          </a:xfrm>
          <a:prstGeom prst="rect">
            <a:avLst/>
          </a:prstGeom>
          <a:noFill/>
        </p:spPr>
        <p:txBody>
          <a:bodyPr wrap="square" lIns="0" tIns="0" rIns="0" bIns="0">
            <a:spAutoFit/>
          </a:bodyPr>
          <a:lstStyle/>
          <a:p>
            <a:pPr algn="l">
              <a:spcAft>
                <a:spcPts val="0"/>
              </a:spcAft>
            </a:pPr>
            <a:r>
              <a:rPr sz="3400" b="1">
                <a:solidFill>
                  <a:srgbClr val="FFFFFF"/>
                </a:solidFill>
                <a:latin typeface="Calibri"/>
              </a:rPr>
              <a:t>Hopsworks</a:t>
            </a:r>
          </a:p>
        </p:txBody>
      </p:sp>
      <p:sp>
        <p:nvSpPr>
          <p:cNvPr id="30" name="TextBox 29"/>
          <p:cNvSpPr txBox="1"/>
          <p:nvPr/>
        </p:nvSpPr>
        <p:spPr>
          <a:xfrm>
            <a:off x="640080" y="4250000"/>
            <a:ext cx="9500000" cy="900000"/>
          </a:xfrm>
          <a:prstGeom prst="rect">
            <a:avLst/>
          </a:prstGeom>
          <a:noFill/>
        </p:spPr>
        <p:txBody>
          <a:bodyPr wrap="square" lIns="0" tIns="0" rIns="0" bIns="0">
            <a:spAutoFit/>
          </a:bodyPr>
          <a:lstStyle/>
          <a:p>
            <a:pPr algn="l">
              <a:spcAft>
                <a:spcPts val="0"/>
              </a:spcAft>
            </a:pPr>
            <a:r>
              <a:rPr sz="1500" b="0">
                <a:solidFill>
                  <a:srgbClr val="CADCFC"/>
                </a:solidFill>
                <a:latin typeface="Calibri"/>
              </a:rPr>
              <a:t>One example of a managed feature-store service.</a:t>
            </a:r>
          </a:p>
        </p:txBody>
      </p:sp>
      <p:sp>
        <p:nvSpPr>
          <p:cNvPr id="31" name="TextBox 30"/>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CADCFC"/>
                </a:solidFill>
                <a:latin typeface="Calibri"/>
              </a:rPr>
              <a:t>Data engineering och agila metoder · AIM25</a:t>
            </a:r>
          </a:p>
        </p:txBody>
      </p:sp>
      <p:sp>
        <p:nvSpPr>
          <p:cNvPr id="32" name="TextBox 31"/>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CADCFC"/>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TRANSLATION</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The same ideas in Hopsworks terminology</a:t>
            </a:r>
          </a:p>
        </p:txBody>
      </p:sp>
      <p:sp>
        <p:nvSpPr>
          <p:cNvPr id="4" name="TextBox 3"/>
          <p:cNvSpPr txBox="1"/>
          <p:nvPr/>
        </p:nvSpPr>
        <p:spPr>
          <a:xfrm>
            <a:off x="1000000" y="1450000"/>
            <a:ext cx="3700000" cy="700000"/>
          </a:xfrm>
          <a:prstGeom prst="rect">
            <a:avLst/>
          </a:prstGeom>
          <a:noFill/>
        </p:spPr>
        <p:txBody>
          <a:bodyPr wrap="square" lIns="0" tIns="0" rIns="0" bIns="0">
            <a:spAutoFit/>
          </a:bodyPr>
          <a:lstStyle/>
          <a:p>
            <a:pPr algn="l">
              <a:spcAft>
                <a:spcPts val="0"/>
              </a:spcAft>
            </a:pPr>
            <a:r>
              <a:rPr sz="1300" b="1">
                <a:solidFill>
                  <a:srgbClr val="1E2761"/>
                </a:solidFill>
                <a:latin typeface="Calibri"/>
              </a:rPr>
              <a:t>CREATE TABLE feat__daily</a:t>
            </a:r>
          </a:p>
        </p:txBody>
      </p:sp>
      <p:sp>
        <p:nvSpPr>
          <p:cNvPr id="5" name="TextBox 4"/>
          <p:cNvSpPr txBox="1"/>
          <p:nvPr/>
        </p:nvSpPr>
        <p:spPr>
          <a:xfrm>
            <a:off x="5450000" y="1450000"/>
            <a:ext cx="5850000" cy="700000"/>
          </a:xfrm>
          <a:prstGeom prst="rect">
            <a:avLst/>
          </a:prstGeom>
          <a:noFill/>
        </p:spPr>
        <p:txBody>
          <a:bodyPr wrap="square" lIns="0" tIns="0" rIns="0" bIns="0">
            <a:spAutoFit/>
          </a:bodyPr>
          <a:lstStyle/>
          <a:p>
            <a:pPr algn="l">
              <a:spcAft>
                <a:spcPts val="0"/>
              </a:spcAft>
            </a:pPr>
            <a:r>
              <a:rPr sz="1300" b="0">
                <a:solidFill>
                  <a:srgbClr val="44506B"/>
                </a:solidFill>
                <a:latin typeface="Calibri"/>
              </a:rPr>
              <a:t>fs.create_feature_group(name, version, primary_key, event_time)</a:t>
            </a:r>
          </a:p>
        </p:txBody>
      </p:sp>
      <p:sp>
        <p:nvSpPr>
          <p:cNvPr id="6" name="TextBox 5"/>
          <p:cNvSpPr txBox="1"/>
          <p:nvPr/>
        </p:nvSpPr>
        <p:spPr>
          <a:xfrm>
            <a:off x="1000000" y="2130000"/>
            <a:ext cx="3700000" cy="700000"/>
          </a:xfrm>
          <a:prstGeom prst="rect">
            <a:avLst/>
          </a:prstGeom>
          <a:noFill/>
        </p:spPr>
        <p:txBody>
          <a:bodyPr wrap="square" lIns="0" tIns="0" rIns="0" bIns="0">
            <a:spAutoFit/>
          </a:bodyPr>
          <a:lstStyle/>
          <a:p>
            <a:pPr algn="l">
              <a:spcAft>
                <a:spcPts val="0"/>
              </a:spcAft>
            </a:pPr>
            <a:r>
              <a:rPr sz="1300" b="1">
                <a:solidFill>
                  <a:srgbClr val="1E2761"/>
                </a:solidFill>
                <a:latin typeface="Calibri"/>
              </a:rPr>
              <a:t>Writing rows from your feature pipeline</a:t>
            </a:r>
          </a:p>
        </p:txBody>
      </p:sp>
      <p:sp>
        <p:nvSpPr>
          <p:cNvPr id="7" name="TextBox 6"/>
          <p:cNvSpPr txBox="1"/>
          <p:nvPr/>
        </p:nvSpPr>
        <p:spPr>
          <a:xfrm>
            <a:off x="5450000" y="2130000"/>
            <a:ext cx="5850000" cy="700000"/>
          </a:xfrm>
          <a:prstGeom prst="rect">
            <a:avLst/>
          </a:prstGeom>
          <a:noFill/>
        </p:spPr>
        <p:txBody>
          <a:bodyPr wrap="square" lIns="0" tIns="0" rIns="0" bIns="0">
            <a:spAutoFit/>
          </a:bodyPr>
          <a:lstStyle/>
          <a:p>
            <a:pPr algn="l">
              <a:spcAft>
                <a:spcPts val="0"/>
              </a:spcAft>
            </a:pPr>
            <a:r>
              <a:rPr sz="1300" b="0">
                <a:solidFill>
                  <a:srgbClr val="44506B"/>
                </a:solidFill>
                <a:latin typeface="Calibri"/>
              </a:rPr>
              <a:t>fg.insert(df) — the same basic operation, with schema checks and versions</a:t>
            </a:r>
          </a:p>
        </p:txBody>
      </p:sp>
      <p:sp>
        <p:nvSpPr>
          <p:cNvPr id="8" name="TextBox 7"/>
          <p:cNvSpPr txBox="1"/>
          <p:nvPr/>
        </p:nvSpPr>
        <p:spPr>
          <a:xfrm>
            <a:off x="1000000" y="2810000"/>
            <a:ext cx="3700000" cy="700000"/>
          </a:xfrm>
          <a:prstGeom prst="rect">
            <a:avLst/>
          </a:prstGeom>
          <a:noFill/>
        </p:spPr>
        <p:txBody>
          <a:bodyPr wrap="square" lIns="0" tIns="0" rIns="0" bIns="0">
            <a:spAutoFit/>
          </a:bodyPr>
          <a:lstStyle/>
          <a:p>
            <a:pPr algn="l">
              <a:spcAft>
                <a:spcPts val="0"/>
              </a:spcAft>
            </a:pPr>
            <a:r>
              <a:rPr sz="1300" b="1">
                <a:solidFill>
                  <a:srgbClr val="1E2761"/>
                </a:solidFill>
                <a:latin typeface="Calibri"/>
              </a:rPr>
              <a:t>The query that selects training features</a:t>
            </a:r>
          </a:p>
        </p:txBody>
      </p:sp>
      <p:sp>
        <p:nvSpPr>
          <p:cNvPr id="9" name="TextBox 8"/>
          <p:cNvSpPr txBox="1"/>
          <p:nvPr/>
        </p:nvSpPr>
        <p:spPr>
          <a:xfrm>
            <a:off x="5450000" y="2810000"/>
            <a:ext cx="5850000" cy="700000"/>
          </a:xfrm>
          <a:prstGeom prst="rect">
            <a:avLst/>
          </a:prstGeom>
          <a:noFill/>
        </p:spPr>
        <p:txBody>
          <a:bodyPr wrap="square" lIns="0" tIns="0" rIns="0" bIns="0">
            <a:spAutoFit/>
          </a:bodyPr>
          <a:lstStyle/>
          <a:p>
            <a:pPr algn="l">
              <a:spcAft>
                <a:spcPts val="0"/>
              </a:spcAft>
            </a:pPr>
            <a:r>
              <a:rPr sz="1300" b="0">
                <a:solidFill>
                  <a:srgbClr val="44506B"/>
                </a:solidFill>
                <a:latin typeface="Calibri"/>
              </a:rPr>
              <a:t>fs.create_feature_view(name, query) — the selection becomes a named object</a:t>
            </a:r>
          </a:p>
        </p:txBody>
      </p:sp>
      <p:sp>
        <p:nvSpPr>
          <p:cNvPr id="10" name="TextBox 9"/>
          <p:cNvSpPr txBox="1"/>
          <p:nvPr/>
        </p:nvSpPr>
        <p:spPr>
          <a:xfrm>
            <a:off x="1000000" y="3490000"/>
            <a:ext cx="3700000" cy="700000"/>
          </a:xfrm>
          <a:prstGeom prst="rect">
            <a:avLst/>
          </a:prstGeom>
          <a:noFill/>
        </p:spPr>
        <p:txBody>
          <a:bodyPr wrap="square" lIns="0" tIns="0" rIns="0" bIns="0">
            <a:spAutoFit/>
          </a:bodyPr>
          <a:lstStyle/>
          <a:p>
            <a:pPr algn="l">
              <a:spcAft>
                <a:spcPts val="0"/>
              </a:spcAft>
            </a:pPr>
            <a:r>
              <a:rPr sz="1300" b="1">
                <a:solidFill>
                  <a:srgbClr val="1E2761"/>
                </a:solidFill>
                <a:latin typeface="Calibri"/>
              </a:rPr>
              <a:t>The DataFrame used for training</a:t>
            </a:r>
          </a:p>
        </p:txBody>
      </p:sp>
      <p:sp>
        <p:nvSpPr>
          <p:cNvPr id="11" name="TextBox 10"/>
          <p:cNvSpPr txBox="1"/>
          <p:nvPr/>
        </p:nvSpPr>
        <p:spPr>
          <a:xfrm>
            <a:off x="5450000" y="3490000"/>
            <a:ext cx="5850000" cy="700000"/>
          </a:xfrm>
          <a:prstGeom prst="rect">
            <a:avLst/>
          </a:prstGeom>
          <a:noFill/>
        </p:spPr>
        <p:txBody>
          <a:bodyPr wrap="square" lIns="0" tIns="0" rIns="0" bIns="0">
            <a:spAutoFit/>
          </a:bodyPr>
          <a:lstStyle/>
          <a:p>
            <a:pPr algn="l">
              <a:spcAft>
                <a:spcPts val="0"/>
              </a:spcAft>
            </a:pPr>
            <a:r>
              <a:rPr sz="1300" b="0">
                <a:solidFill>
                  <a:srgbClr val="44506B"/>
                </a:solidFill>
                <a:latin typeface="Calibri"/>
              </a:rPr>
              <a:t>fv.train_test_split(...) — the dataset can be saved with a version number</a:t>
            </a:r>
          </a:p>
        </p:txBody>
      </p:sp>
      <p:sp>
        <p:nvSpPr>
          <p:cNvPr id="12" name="TextBox 11"/>
          <p:cNvSpPr txBox="1"/>
          <p:nvPr/>
        </p:nvSpPr>
        <p:spPr>
          <a:xfrm>
            <a:off x="1000000" y="4170000"/>
            <a:ext cx="3700000" cy="700000"/>
          </a:xfrm>
          <a:prstGeom prst="rect">
            <a:avLst/>
          </a:prstGeom>
          <a:noFill/>
        </p:spPr>
        <p:txBody>
          <a:bodyPr wrap="square" lIns="0" tIns="0" rIns="0" bIns="0">
            <a:spAutoFit/>
          </a:bodyPr>
          <a:lstStyle/>
          <a:p>
            <a:pPr algn="l">
              <a:spcAft>
                <a:spcPts val="0"/>
              </a:spcAft>
            </a:pPr>
            <a:r>
              <a:rPr sz="1300" b="1">
                <a:solidFill>
                  <a:srgbClr val="1E2761"/>
                </a:solidFill>
                <a:latin typeface="Calibri"/>
              </a:rPr>
              <a:t>A query for one prediction</a:t>
            </a:r>
          </a:p>
        </p:txBody>
      </p:sp>
      <p:sp>
        <p:nvSpPr>
          <p:cNvPr id="13" name="TextBox 12"/>
          <p:cNvSpPr txBox="1"/>
          <p:nvPr/>
        </p:nvSpPr>
        <p:spPr>
          <a:xfrm>
            <a:off x="5450000" y="4170000"/>
            <a:ext cx="5850000" cy="700000"/>
          </a:xfrm>
          <a:prstGeom prst="rect">
            <a:avLst/>
          </a:prstGeom>
          <a:noFill/>
        </p:spPr>
        <p:txBody>
          <a:bodyPr wrap="square" lIns="0" tIns="0" rIns="0" bIns="0">
            <a:spAutoFit/>
          </a:bodyPr>
          <a:lstStyle/>
          <a:p>
            <a:pPr algn="l">
              <a:spcAft>
                <a:spcPts val="0"/>
              </a:spcAft>
            </a:pPr>
            <a:r>
              <a:rPr sz="1300" b="0">
                <a:solidFill>
                  <a:srgbClr val="44506B"/>
                </a:solidFill>
                <a:latin typeface="Calibri"/>
              </a:rPr>
              <a:t>fv.get_feature_vector(key) — reads the current values from the online store</a:t>
            </a:r>
          </a:p>
        </p:txBody>
      </p:sp>
      <p:sp>
        <p:nvSpPr>
          <p:cNvPr id="14" name="TextBox 13"/>
          <p:cNvSpPr txBox="1"/>
          <p:nvPr/>
        </p:nvSpPr>
        <p:spPr>
          <a:xfrm>
            <a:off x="1000000" y="4850000"/>
            <a:ext cx="3700000" cy="700000"/>
          </a:xfrm>
          <a:prstGeom prst="rect">
            <a:avLst/>
          </a:prstGeom>
          <a:noFill/>
        </p:spPr>
        <p:txBody>
          <a:bodyPr wrap="square" lIns="0" tIns="0" rIns="0" bIns="0">
            <a:spAutoFit/>
          </a:bodyPr>
          <a:lstStyle/>
          <a:p>
            <a:pPr algn="l">
              <a:spcAft>
                <a:spcPts val="0"/>
              </a:spcAft>
            </a:pPr>
            <a:r>
              <a:rPr sz="1300" b="1">
                <a:solidFill>
                  <a:srgbClr val="1E2761"/>
                </a:solidFill>
                <a:latin typeface="Calibri"/>
              </a:rPr>
              <a:t>A time-aware join</a:t>
            </a:r>
          </a:p>
        </p:txBody>
      </p:sp>
      <p:sp>
        <p:nvSpPr>
          <p:cNvPr id="15" name="TextBox 14"/>
          <p:cNvSpPr txBox="1"/>
          <p:nvPr/>
        </p:nvSpPr>
        <p:spPr>
          <a:xfrm>
            <a:off x="5450000" y="4850000"/>
            <a:ext cx="5850000" cy="700000"/>
          </a:xfrm>
          <a:prstGeom prst="rect">
            <a:avLst/>
          </a:prstGeom>
          <a:noFill/>
        </p:spPr>
        <p:txBody>
          <a:bodyPr wrap="square" lIns="0" tIns="0" rIns="0" bIns="0">
            <a:spAutoFit/>
          </a:bodyPr>
          <a:lstStyle/>
          <a:p>
            <a:pPr algn="l">
              <a:spcAft>
                <a:spcPts val="0"/>
              </a:spcAft>
            </a:pPr>
            <a:r>
              <a:rPr sz="1300" b="0">
                <a:solidFill>
                  <a:srgbClr val="44506B"/>
                </a:solidFill>
                <a:latin typeface="Calibri"/>
              </a:rPr>
              <a:t>The event-time column helps the tool choose data available at the correct time</a:t>
            </a:r>
          </a:p>
        </p:txBody>
      </p:sp>
      <p:sp>
        <p:nvSpPr>
          <p:cNvPr id="16" name="TextBox 15"/>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17" name="TextBox 16"/>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WHAT IT ADDS</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A managed service is useful, but it also creates more work</a:t>
            </a:r>
          </a:p>
        </p:txBody>
      </p:sp>
      <p:sp>
        <p:nvSpPr>
          <p:cNvPr id="4" name="TextBox 3"/>
          <p:cNvSpPr txBox="1"/>
          <p:nvPr/>
        </p:nvSpPr>
        <p:spPr>
          <a:xfrm>
            <a:off x="502920" y="1500000"/>
            <a:ext cx="10800000" cy="4200000"/>
          </a:xfrm>
          <a:prstGeom prst="rect">
            <a:avLst/>
          </a:prstGeom>
          <a:noFill/>
        </p:spPr>
        <p:txBody>
          <a:bodyPr wrap="square" lIns="0" tIns="0" rIns="0" bIns="0">
            <a:spAutoFit/>
          </a:bodyPr>
          <a:lstStyle/>
          <a:p>
            <a:pPr algn="l">
              <a:spcAft>
                <a:spcPts val="200"/>
              </a:spcAft>
            </a:pPr>
            <a:r>
              <a:rPr sz="1500" b="1">
                <a:solidFill>
                  <a:srgbClr val="44506B"/>
                </a:solidFill>
                <a:latin typeface="Calibri"/>
              </a:rPr>
              <a:t>•  Another service</a:t>
            </a:r>
          </a:p>
          <a:p>
            <a:pPr algn="l">
              <a:spcAft>
                <a:spcPts val="200"/>
              </a:spcAft>
            </a:pPr>
            <a:r>
              <a:rPr sz="1500" b="0">
                <a:solidFill>
                  <a:srgbClr val="44506B"/>
                </a:solidFill>
                <a:latin typeface="Calibri"/>
              </a:rPr>
              <a:t>     Training and predictions depend on a service that can be unavailable.</a:t>
            </a:r>
          </a:p>
          <a:p>
            <a:pPr algn="l">
              <a:spcAft>
                <a:spcPts val="200"/>
              </a:spcAft>
            </a:pPr>
            <a:r>
              <a:rPr sz="1500" b="0">
                <a:solidFill>
                  <a:srgbClr val="44506B"/>
                </a:solidFill>
                <a:latin typeface="Calibri"/>
              </a:rPr>
              <a:t/>
            </a:r>
          </a:p>
          <a:p>
            <a:pPr algn="l">
              <a:spcAft>
                <a:spcPts val="200"/>
              </a:spcAft>
            </a:pPr>
            <a:r>
              <a:rPr sz="1500" b="1">
                <a:solidFill>
                  <a:srgbClr val="44506B"/>
                </a:solidFill>
                <a:latin typeface="Calibri"/>
              </a:rPr>
              <a:t>•  New concepts and setup</a:t>
            </a:r>
          </a:p>
          <a:p>
            <a:pPr algn="l">
              <a:spcAft>
                <a:spcPts val="200"/>
              </a:spcAft>
            </a:pPr>
            <a:r>
              <a:rPr sz="1500" b="0">
                <a:solidFill>
                  <a:srgbClr val="44506B"/>
                </a:solidFill>
                <a:latin typeface="Calibri"/>
              </a:rPr>
              <a:t>     Feature groups, views, versions and configuration must be learned before the system is useful.</a:t>
            </a:r>
          </a:p>
          <a:p>
            <a:pPr algn="l">
              <a:spcAft>
                <a:spcPts val="200"/>
              </a:spcAft>
            </a:pPr>
            <a:r>
              <a:rPr sz="1500" b="0">
                <a:solidFill>
                  <a:srgbClr val="44506B"/>
                </a:solidFill>
                <a:latin typeface="Calibri"/>
              </a:rPr>
              <a:t/>
            </a:r>
          </a:p>
          <a:p>
            <a:pPr algn="l">
              <a:spcAft>
                <a:spcPts val="200"/>
              </a:spcAft>
            </a:pPr>
            <a:r>
              <a:rPr sz="1500" b="1">
                <a:solidFill>
                  <a:srgbClr val="44506B"/>
                </a:solidFill>
                <a:latin typeface="Calibri"/>
              </a:rPr>
              <a:t>•  Free-tier limits</a:t>
            </a:r>
          </a:p>
          <a:p>
            <a:pPr algn="l">
              <a:spcAft>
                <a:spcPts val="200"/>
              </a:spcAft>
            </a:pPr>
            <a:r>
              <a:rPr sz="1500" b="0">
                <a:solidFill>
                  <a:srgbClr val="44506B"/>
                </a:solidFill>
                <a:latin typeface="Calibri"/>
              </a:rPr>
              <a:t>     A free tier can be enough for a course, but may not be enough for a real service. Check the limits first.</a:t>
            </a:r>
          </a:p>
          <a:p>
            <a:pPr algn="l">
              <a:spcAft>
                <a:spcPts val="200"/>
              </a:spcAft>
            </a:pPr>
            <a:r>
              <a:rPr sz="1500" b="0">
                <a:solidFill>
                  <a:srgbClr val="44506B"/>
                </a:solidFill>
                <a:latin typeface="Calibri"/>
              </a:rPr>
              <a:t/>
            </a:r>
          </a:p>
          <a:p>
            <a:pPr algn="l">
              <a:spcAft>
                <a:spcPts val="200"/>
              </a:spcAft>
            </a:pPr>
            <a:r>
              <a:rPr sz="1500" b="1">
                <a:solidFill>
                  <a:srgbClr val="44506B"/>
                </a:solidFill>
                <a:latin typeface="Calibri"/>
              </a:rPr>
              <a:t>•  More value with more reuse</a:t>
            </a:r>
          </a:p>
          <a:p>
            <a:pPr algn="l">
              <a:spcAft>
                <a:spcPts val="200"/>
              </a:spcAft>
            </a:pPr>
            <a:r>
              <a:rPr sz="1500" b="0">
                <a:solidFill>
                  <a:srgbClr val="44506B"/>
                </a:solidFill>
                <a:latin typeface="Calibri"/>
              </a:rPr>
              <a:t>     The main benefit comes when several models and teams use the same features. One team with one model gets less benefit.</a:t>
            </a:r>
          </a:p>
          <a:p>
            <a:pPr algn="l">
              <a:spcAft>
                <a:spcPts val="200"/>
              </a:spcAft>
            </a:pPr>
            <a:r>
              <a:rPr sz="1500" b="0">
                <a:solidFill>
                  <a:srgbClr val="44506B"/>
                </a:solidFill>
                <a:latin typeface="Calibri"/>
              </a:rPr>
              <a:t/>
            </a: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THE COURSE POSITION</a:t>
            </a:r>
          </a:p>
        </p:txBody>
      </p:sp>
      <p:sp>
        <p:nvSpPr>
          <p:cNvPr id="3" name="TextBox 2"/>
          <p:cNvSpPr txBox="1"/>
          <p:nvPr/>
        </p:nvSpPr>
        <p:spPr>
          <a:xfrm>
            <a:off x="502920" y="2300000"/>
            <a:ext cx="11000000" cy="2000000"/>
          </a:xfrm>
          <a:prstGeom prst="rect">
            <a:avLst/>
          </a:prstGeom>
          <a:noFill/>
        </p:spPr>
        <p:txBody>
          <a:bodyPr wrap="square" lIns="0" tIns="0" rIns="0" bIns="0">
            <a:spAutoFit/>
          </a:bodyPr>
          <a:lstStyle/>
          <a:p>
            <a:pPr algn="l">
              <a:spcAft>
                <a:spcPts val="0"/>
              </a:spcAft>
            </a:pPr>
            <a:r>
              <a:rPr sz="2400" b="1">
                <a:solidFill>
                  <a:srgbClr val="1E2761"/>
                </a:solidFill>
                <a:latin typeface="Calibri"/>
              </a:rPr>
              <a:t>Hopsworks is not required for this project. It is useful to know that tools like this exist.</a:t>
            </a:r>
          </a:p>
        </p:txBody>
      </p:sp>
      <p:sp>
        <p:nvSpPr>
          <p:cNvPr id="4" name="TextBox 3"/>
          <p:cNvSpPr txBox="1"/>
          <p:nvPr/>
        </p:nvSpPr>
        <p:spPr>
          <a:xfrm>
            <a:off x="502920" y="4400000"/>
            <a:ext cx="10800000" cy="1200000"/>
          </a:xfrm>
          <a:prstGeom prst="rect">
            <a:avLst/>
          </a:prstGeom>
          <a:noFill/>
        </p:spPr>
        <p:txBody>
          <a:bodyPr wrap="square" lIns="0" tIns="0" rIns="0" bIns="0">
            <a:spAutoFit/>
          </a:bodyPr>
          <a:lstStyle/>
          <a:p>
            <a:pPr algn="l">
              <a:spcAft>
                <a:spcPts val="0"/>
              </a:spcAft>
            </a:pPr>
            <a:r>
              <a:rPr sz="1500" b="0">
                <a:solidFill>
                  <a:srgbClr val="44506B"/>
                </a:solidFill>
                <a:latin typeface="Calibri"/>
              </a:rPr>
              <a:t>Postgres is a good choice for this project. The important thing is to understand why: features need one clear definition, and they must be calculated using only information available at prediction time.</a:t>
            </a:r>
          </a:p>
        </p:txBody>
      </p:sp>
      <p:sp>
        <p:nvSpPr>
          <p:cNvPr id="5" name="TextBox 4"/>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6" name="TextBox 5"/>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1F5FC"/>
        </a:solidFill>
        <a:effectLst/>
      </p:bgPr>
    </p:bg>
    <p:spTree>
      <p:nvGrpSpPr>
        <p:cNvPr id="1" name=""/>
        <p:cNvGrpSpPr/>
        <p:nvPr/>
      </p:nvGrpSpPr>
      <p:grpSpPr/>
      <p:sp>
        <p:nvSpPr>
          <p:cNvPr id="2" name="TextBox 1"/>
          <p:cNvSpPr txBox="1"/>
          <p:nvPr/>
        </p:nvSpPr>
        <p:spPr>
          <a:xfrm>
            <a:off x="502920" y="300000"/>
            <a:ext cx="7500000" cy="300000"/>
          </a:xfrm>
          <a:prstGeom prst="rect">
            <a:avLst/>
          </a:prstGeom>
          <a:noFill/>
        </p:spPr>
        <p:txBody>
          <a:bodyPr wrap="square" lIns="0" tIns="0" rIns="0" bIns="0">
            <a:spAutoFit/>
          </a:bodyPr>
          <a:lstStyle/>
          <a:p>
            <a:pPr algn="l">
              <a:spcAft>
                <a:spcPts val="0"/>
              </a:spcAft>
            </a:pPr>
            <a:r>
              <a:rPr sz="1200" b="1">
                <a:solidFill>
                  <a:srgbClr val="F2994A"/>
                </a:solidFill>
                <a:latin typeface="Calibri"/>
              </a:rPr>
              <a:t>NEXT 30 MINUTES</a:t>
            </a:r>
          </a:p>
        </p:txBody>
      </p:sp>
      <p:sp>
        <p:nvSpPr>
          <p:cNvPr id="3" name="TextBox 2"/>
          <p:cNvSpPr txBox="1"/>
          <p:nvPr/>
        </p:nvSpPr>
        <p:spPr>
          <a:xfrm>
            <a:off x="502920" y="560000"/>
            <a:ext cx="10800000" cy="700000"/>
          </a:xfrm>
          <a:prstGeom prst="rect">
            <a:avLst/>
          </a:prstGeom>
          <a:noFill/>
        </p:spPr>
        <p:txBody>
          <a:bodyPr wrap="square" lIns="0" tIns="0" rIns="0" bIns="0">
            <a:spAutoFit/>
          </a:bodyPr>
          <a:lstStyle/>
          <a:p>
            <a:pPr algn="l">
              <a:spcAft>
                <a:spcPts val="0"/>
              </a:spcAft>
            </a:pPr>
            <a:r>
              <a:rPr sz="2600" b="1">
                <a:solidFill>
                  <a:srgbClr val="1E2761"/>
                </a:solidFill>
                <a:latin typeface="Calibri"/>
              </a:rPr>
              <a:t>Exercise: audit the feature flow you have today</a:t>
            </a:r>
          </a:p>
        </p:txBody>
      </p:sp>
      <p:sp>
        <p:nvSpPr>
          <p:cNvPr id="4" name="Rounded Rectangle 3"/>
          <p:cNvSpPr/>
          <p:nvPr/>
        </p:nvSpPr>
        <p:spPr>
          <a:xfrm>
            <a:off x="502920" y="130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00000" y="145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1. Name what exists</a:t>
            </a:r>
          </a:p>
        </p:txBody>
      </p:sp>
      <p:sp>
        <p:nvSpPr>
          <p:cNvPr id="6" name="TextBox 5"/>
          <p:cNvSpPr txBox="1"/>
          <p:nvPr/>
        </p:nvSpPr>
        <p:spPr>
          <a:xfrm>
            <a:off x="700000" y="182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In your repository, name the feature group, feature view and training dataset. The online lookup does not exist yet for most teams: mark it as a Sprint 2 need.</a:t>
            </a:r>
          </a:p>
        </p:txBody>
      </p:sp>
      <p:sp>
        <p:nvSpPr>
          <p:cNvPr id="7" name="Rounded Rectangle 6"/>
          <p:cNvSpPr/>
          <p:nvPr/>
        </p:nvSpPr>
        <p:spPr>
          <a:xfrm>
            <a:off x="502920" y="256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00000" y="271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2. Follow one feature</a:t>
            </a:r>
          </a:p>
        </p:txBody>
      </p:sp>
      <p:sp>
        <p:nvSpPr>
          <p:cNvPr id="9" name="TextBox 8"/>
          <p:cNvSpPr txBox="1"/>
          <p:nvPr/>
        </p:nvSpPr>
        <p:spPr>
          <a:xfrm>
            <a:off x="700000" y="308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Write its real path: source → raw/staging → calculation → feat__daily → training. Is it calculated in one clear place?</a:t>
            </a:r>
          </a:p>
        </p:txBody>
      </p:sp>
      <p:sp>
        <p:nvSpPr>
          <p:cNvPr id="10" name="Rounded Rectangle 9"/>
          <p:cNvSpPr/>
          <p:nvPr/>
        </p:nvSpPr>
        <p:spPr>
          <a:xfrm>
            <a:off x="502920" y="382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700000" y="397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3. Check one time boundary</a:t>
            </a:r>
          </a:p>
        </p:txBody>
      </p:sp>
      <p:sp>
        <p:nvSpPr>
          <p:cNvPr id="12" name="TextBox 11"/>
          <p:cNvSpPr txBox="1"/>
          <p:nvPr/>
        </p:nvSpPr>
        <p:spPr>
          <a:xfrm>
            <a:off x="700000" y="434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For one feature, state what was available when the prediction would have been made. Does your code respect that boundary?</a:t>
            </a:r>
          </a:p>
        </p:txBody>
      </p:sp>
      <p:sp>
        <p:nvSpPr>
          <p:cNvPr id="13" name="Rounded Rectangle 12"/>
          <p:cNvSpPr/>
          <p:nvPr/>
        </p:nvSpPr>
        <p:spPr>
          <a:xfrm>
            <a:off x="502920" y="5080000"/>
            <a:ext cx="10800000" cy="118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00000" y="5230000"/>
            <a:ext cx="10400000" cy="350000"/>
          </a:xfrm>
          <a:prstGeom prst="rect">
            <a:avLst/>
          </a:prstGeom>
          <a:noFill/>
        </p:spPr>
        <p:txBody>
          <a:bodyPr wrap="square" lIns="0" tIns="0" rIns="0" bIns="0">
            <a:spAutoFit/>
          </a:bodyPr>
          <a:lstStyle/>
          <a:p>
            <a:pPr algn="l">
              <a:spcAft>
                <a:spcPts val="0"/>
              </a:spcAft>
            </a:pPr>
            <a:r>
              <a:rPr sz="1600" b="1">
                <a:solidFill>
                  <a:srgbClr val="1E2761"/>
                </a:solidFill>
                <a:latin typeface="Calibri"/>
              </a:rPr>
              <a:t>4. Save the audit</a:t>
            </a:r>
          </a:p>
        </p:txBody>
      </p:sp>
      <p:sp>
        <p:nvSpPr>
          <p:cNvPr id="15" name="TextBox 14"/>
          <p:cNvSpPr txBox="1"/>
          <p:nvPr/>
        </p:nvSpPr>
        <p:spPr>
          <a:xfrm>
            <a:off x="700000" y="5600000"/>
            <a:ext cx="10400000" cy="420000"/>
          </a:xfrm>
          <a:prstGeom prst="rect">
            <a:avLst/>
          </a:prstGeom>
          <a:noFill/>
        </p:spPr>
        <p:txBody>
          <a:bodyPr wrap="square" lIns="0" tIns="0" rIns="0" bIns="0">
            <a:spAutoFit/>
          </a:bodyPr>
          <a:lstStyle/>
          <a:p>
            <a:pPr algn="l">
              <a:spcAft>
                <a:spcPts val="0"/>
              </a:spcAft>
            </a:pPr>
            <a:r>
              <a:rPr sz="1400" b="0">
                <a:solidFill>
                  <a:srgbClr val="44506B"/>
                </a:solidFill>
                <a:latin typeface="Calibri"/>
              </a:rPr>
              <a:t>Write docs/featureaudit.md, commit it, and add one Sprint 2 ticket if the audit found a gap. End with one sentence on whether a managed feature store is useful for your system.</a:t>
            </a:r>
          </a:p>
        </p:txBody>
      </p:sp>
      <p:sp>
        <p:nvSpPr>
          <p:cNvPr id="16" name="TextBox 15"/>
          <p:cNvSpPr txBox="1"/>
          <p:nvPr/>
        </p:nvSpPr>
        <p:spPr>
          <a:xfrm>
            <a:off x="502920" y="6510528"/>
            <a:ext cx="4572000" cy="274320"/>
          </a:xfrm>
          <a:prstGeom prst="rect">
            <a:avLst/>
          </a:prstGeom>
          <a:noFill/>
        </p:spPr>
        <p:txBody>
          <a:bodyPr wrap="square" lIns="0" tIns="0" rIns="0" bIns="0">
            <a:spAutoFit/>
          </a:bodyPr>
          <a:lstStyle/>
          <a:p>
            <a:pPr algn="l">
              <a:spcAft>
                <a:spcPts val="0"/>
              </a:spcAft>
            </a:pPr>
            <a:r>
              <a:rPr sz="900" b="0">
                <a:solidFill>
                  <a:srgbClr val="9AA6C4"/>
                </a:solidFill>
                <a:latin typeface="Calibri"/>
              </a:rPr>
              <a:t>Data engineering och agila metoder · AIM25</a:t>
            </a:r>
          </a:p>
        </p:txBody>
      </p:sp>
      <p:sp>
        <p:nvSpPr>
          <p:cNvPr id="17" name="TextBox 16"/>
          <p:cNvSpPr txBox="1"/>
          <p:nvPr/>
        </p:nvSpPr>
        <p:spPr>
          <a:xfrm>
            <a:off x="11475720" y="6510528"/>
            <a:ext cx="548640" cy="274320"/>
          </a:xfrm>
          <a:prstGeom prst="rect">
            <a:avLst/>
          </a:prstGeom>
          <a:noFill/>
        </p:spPr>
        <p:txBody>
          <a:bodyPr wrap="square" lIns="0" tIns="0" rIns="0" bIns="0">
            <a:spAutoFit/>
          </a:bodyPr>
          <a:lstStyle/>
          <a:p>
            <a:pPr algn="r">
              <a:spcAft>
                <a:spcPts val="0"/>
              </a:spcAft>
            </a:pPr>
            <a:r>
              <a:rPr sz="900" b="0">
                <a:solidFill>
                  <a:srgbClr val="9AA6C4"/>
                </a:solidFill>
                <a:latin typeface="Calibr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