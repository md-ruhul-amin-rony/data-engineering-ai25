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5"/>
  </p:normalViewPr>
  <p:slideViewPr>
    <p:cSldViewPr snapToGrid="0" snapToObjects="1">
      <p:cViewPr varScale="1">
        <p:scale>
          <a:sx n="113" d="100"/>
          <a:sy n="113" d="100"/>
        </p:scale>
        <p:origin x="5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449373" y="1178691"/>
            <a:ext cx="103904" cy="10390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445815" y="1752202"/>
            <a:ext cx="88504" cy="8850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121802" y="964532"/>
            <a:ext cx="133184" cy="13318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427979" y="1455523"/>
            <a:ext cx="73554" cy="7355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766862" y="883576"/>
            <a:ext cx="86648" cy="8664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469099" y="1703768"/>
            <a:ext cx="125960" cy="12596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585045" y="2023037"/>
            <a:ext cx="97623" cy="9762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99146" y="1001111"/>
            <a:ext cx="125454" cy="12545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993342" y="529384"/>
            <a:ext cx="123792" cy="12379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403517" y="1994282"/>
            <a:ext cx="167757" cy="167757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805447" y="1478352"/>
            <a:ext cx="81870" cy="8187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759435" y="995359"/>
            <a:ext cx="94780" cy="9478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987281" y="688225"/>
            <a:ext cx="78869" cy="7886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180324" y="1036836"/>
            <a:ext cx="97050" cy="9705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181318" y="942685"/>
            <a:ext cx="171931" cy="17193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129998" y="2014142"/>
            <a:ext cx="83538" cy="8353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084758" y="2043658"/>
            <a:ext cx="141519" cy="14151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103586" y="485898"/>
            <a:ext cx="116631" cy="11663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479348" y="776840"/>
            <a:ext cx="86808" cy="8680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796170" y="1064574"/>
            <a:ext cx="101668" cy="10166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807777" y="1413557"/>
            <a:ext cx="166414" cy="16641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871487" y="1405643"/>
            <a:ext cx="113710" cy="11371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157097" y="1434917"/>
            <a:ext cx="110922" cy="11092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181353" y="1639713"/>
            <a:ext cx="154316" cy="15431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978688" y="2014610"/>
            <a:ext cx="152469" cy="15246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245437" y="1671030"/>
            <a:ext cx="139517" cy="139517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476017" y="711494"/>
            <a:ext cx="125785" cy="125785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0080" y="640080"/>
            <a:ext cx="3450000" cy="400000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7 · BLOCK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1600200"/>
            <a:ext cx="9601200" cy="193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Calibri"/>
              </a:rPr>
              <a:t>Monitoring a prediction service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750000"/>
            <a:ext cx="96012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CADCFC"/>
                </a:solidFill>
                <a:latin typeface="Calibri"/>
              </a:rPr>
              <a:t>Mikael Huss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BUILD THE CHAIN IN THE RIGHT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00000"/>
            <a:ext cx="11000000" cy="2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E2761"/>
                </a:solidFill>
                <a:latin typeface="Calibri"/>
              </a:rPr>
              <a:t>Forecast data → feature row → trained model → service → prediction log.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400000"/>
            <a:ext cx="1080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Forecast data is now stored in raw__weather and shown in stg__forecast. The next step is to use forecast temperature and wind when building tomorrow's row in feat__daily. Then train from feat__daily, register a fixed model version, and make a local service. Add prediction logging as soon as /predict 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08604" y="1341057"/>
            <a:ext cx="114633" cy="11463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422344" y="536579"/>
            <a:ext cx="171745" cy="171745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516013" y="690057"/>
            <a:ext cx="135532" cy="13553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53531" y="1723602"/>
            <a:ext cx="155689" cy="15568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708672" y="1291119"/>
            <a:ext cx="128181" cy="12818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05821" y="1844207"/>
            <a:ext cx="87847" cy="87847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025017" y="1982291"/>
            <a:ext cx="146110" cy="14611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903211" y="704183"/>
            <a:ext cx="163812" cy="16381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507516" y="1518591"/>
            <a:ext cx="172463" cy="17246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12884" y="519628"/>
            <a:ext cx="89400" cy="894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747085" y="1071458"/>
            <a:ext cx="88639" cy="8863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880888" y="1022708"/>
            <a:ext cx="128173" cy="12817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027890" y="2016540"/>
            <a:ext cx="84950" cy="8495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110742" y="1805183"/>
            <a:ext cx="151624" cy="15162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978228" y="879065"/>
            <a:ext cx="75219" cy="7521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100179" y="1586134"/>
            <a:ext cx="121054" cy="12105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892466" y="726537"/>
            <a:ext cx="72171" cy="7217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078381" y="1223792"/>
            <a:ext cx="130310" cy="13031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494847" y="1372703"/>
            <a:ext cx="127064" cy="12706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237015" y="1345564"/>
            <a:ext cx="158962" cy="15896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804006" y="1179807"/>
            <a:ext cx="96363" cy="9636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849720" y="893700"/>
            <a:ext cx="103149" cy="10314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099364" y="1674942"/>
            <a:ext cx="146518" cy="14651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042547" y="1263509"/>
            <a:ext cx="89841" cy="8984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689213" y="818860"/>
            <a:ext cx="98103" cy="9810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008894" y="1131645"/>
            <a:ext cx="146072" cy="14607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507176" y="1020854"/>
            <a:ext cx="119383" cy="11938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3200000"/>
            <a:ext cx="100000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1. What monitoring is for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FOUR KINDS OF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They need different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1450000"/>
            <a:ext cx="27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The pipeline stops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50000" y="1450000"/>
            <a:ext cx="68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The workflow fails, or it writes zero rows. This should be visible immediately.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2230000"/>
            <a:ext cx="27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The pipeline writes wrong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50000" y="2230000"/>
            <a:ext cx="68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For example, a changed unit, wrong timezone, or missing weather parameter.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3010000"/>
            <a:ext cx="27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The input changes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0000" y="3010000"/>
            <a:ext cx="68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Autumn data may differ from the period used for training. Nothing has to crash for this to matter.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790000"/>
            <a:ext cx="27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Predictions become worse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0000" y="3790000"/>
            <a:ext cx="68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Only a comparison with the real outcome can show this.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670000"/>
            <a:ext cx="10800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0000" y="4850000"/>
            <a:ext cx="104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2761"/>
                </a:solidFill>
                <a:latin typeface="Calibri"/>
              </a:rPr>
              <a:t>You have already worked with the first two at ingestion. The last two matter after a prediction service has been running.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MONITORING COMPARES PREDICTIONS WITH REAL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00000"/>
            <a:ext cx="11000000" cy="2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dirty="0">
                <a:solidFill>
                  <a:srgbClr val="1E2761"/>
                </a:solidFill>
                <a:latin typeface="Calibri"/>
              </a:rPr>
              <a:t>It is a regular check of what the model predicted and what later happened.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400000"/>
            <a:ext cx="1080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Dashboards, alerts, thresholds, and drift checks are different ways to make that comparison visible.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042882" y="1892293"/>
            <a:ext cx="96112" cy="9611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63756" y="1315978"/>
            <a:ext cx="132323" cy="13232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918222" y="1861641"/>
            <a:ext cx="87150" cy="8715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34863" y="667958"/>
            <a:ext cx="80860" cy="8086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277591" y="715376"/>
            <a:ext cx="168544" cy="16854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83466" y="713391"/>
            <a:ext cx="94587" cy="94587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532936" y="1290058"/>
            <a:ext cx="87098" cy="8709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835770" y="1119520"/>
            <a:ext cx="112783" cy="11278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121493" y="1827959"/>
            <a:ext cx="108844" cy="10884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863705" y="506151"/>
            <a:ext cx="150779" cy="15077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723026" y="1800457"/>
            <a:ext cx="151635" cy="151635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002589" y="1127331"/>
            <a:ext cx="123340" cy="12334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857158" y="1143868"/>
            <a:ext cx="74468" cy="7446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049183" y="1310756"/>
            <a:ext cx="77840" cy="7784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932422" y="585714"/>
            <a:ext cx="90801" cy="9080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340471" y="1521531"/>
            <a:ext cx="152824" cy="15282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353248" y="979424"/>
            <a:ext cx="120219" cy="12021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141951" y="1563093"/>
            <a:ext cx="79128" cy="7912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571819" y="1270223"/>
            <a:ext cx="172681" cy="17268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631301" y="764032"/>
            <a:ext cx="94932" cy="9493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364313" y="1812855"/>
            <a:ext cx="146426" cy="14642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839276" y="598269"/>
            <a:ext cx="164024" cy="16402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749071" y="1780791"/>
            <a:ext cx="153264" cy="15326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807338" y="1186278"/>
            <a:ext cx="88068" cy="8806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556258" y="1240957"/>
            <a:ext cx="155865" cy="155865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424404" y="1602892"/>
            <a:ext cx="105644" cy="10564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945270" y="806202"/>
            <a:ext cx="75186" cy="7518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3200000"/>
            <a:ext cx="100000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2. The log to add after /predict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250000"/>
            <a:ext cx="95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You cannot check a prediction later if it was never saved.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A POSSIBLE PREDICTION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One row for each prediction, written when /predict is called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50000"/>
            <a:ext cx="10800000" cy="35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0000" y="158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Use this after inference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1930000"/>
            <a:ext cx="10400000" cy="28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6B"/>
                </a:solidFill>
                <a:latin typeface="Consolas"/>
              </a:rPr>
              <a:t>CREATE TABLE pred__log (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6B"/>
                </a:solidFill>
                <a:latin typeface="Consolas"/>
              </a:rPr>
              <a:t>  id             bigserial PRIMARY KEY,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6B"/>
                </a:solidFill>
                <a:latin typeface="Consolas"/>
              </a:rPr>
              <a:t>  predicted_at   timestamptz NOT NULL DEFAULT now(),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6B"/>
                </a:solidFill>
                <a:latin typeface="Consolas"/>
              </a:rPr>
              <a:t>  target_date    date        NOT NULL,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6B"/>
                </a:solidFill>
                <a:latin typeface="Consolas"/>
              </a:rPr>
              <a:t>  area           text        NOT NULL,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6B"/>
                </a:solidFill>
                <a:latin typeface="Consolas"/>
              </a:rPr>
              <a:t>  prediction     numeric     NOT NULL,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6B"/>
                </a:solidFill>
                <a:latin typeface="Consolas"/>
              </a:rPr>
              <a:t>  model_revision text        NOT NULL,   -- HF revision or tag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6B"/>
                </a:solidFill>
                <a:latin typeface="Consolas"/>
              </a:rPr>
              <a:t>  git_sha        text        NOT NULL,   -- from the image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6B"/>
                </a:solidFill>
                <a:latin typeface="Consolas"/>
              </a:rPr>
              <a:t>  feature_row    jsonb       NOT NULL,   -- what it actually saw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6B"/>
                </a:solidFill>
                <a:latin typeface="Consolas"/>
              </a:rPr>
              <a:t>  actual         numeric                  -- filled in later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6B"/>
                </a:solidFill>
                <a:latin typeface="Consolas"/>
              </a:rP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90000"/>
            <a:ext cx="108000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dirty="0">
                <a:solidFill>
                  <a:srgbClr val="44506B"/>
                </a:solidFill>
                <a:latin typeface="Calibri"/>
              </a:rPr>
              <a:t>It stores when the prediction was made, what data it used, which model and code made it, and the real outcome when it is known.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TWO SMALL JOBS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Do not try to do both at once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0000"/>
            <a:ext cx="10800000" cy="4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When /predict works: write a row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Save the prediction without actual. Decide whether a logging failure should also stop the response.</a:t>
            </a:r>
          </a:p>
          <a:p>
            <a:pPr algn="l">
              <a:spcAft>
                <a:spcPts val="200"/>
              </a:spcAft>
            </a:pPr>
            <a:endParaRPr sz="1500" b="0">
              <a:solidFill>
                <a:srgbClr val="44506B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Later, on a schedule: add actual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When the real price is known, update rows where actual is still NULL.</a:t>
            </a:r>
          </a:p>
          <a:p>
            <a:pPr algn="l">
              <a:spcAft>
                <a:spcPts val="200"/>
              </a:spcAft>
            </a:pPr>
            <a:endParaRPr sz="1500" b="0">
              <a:solidFill>
                <a:srgbClr val="44506B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Then calculate error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For example, average absolute error grouped by day. The calculation becomes a simple query.</a:t>
            </a:r>
          </a:p>
          <a:p>
            <a:pPr algn="l">
              <a:spcAft>
                <a:spcPts val="200"/>
              </a:spcAft>
            </a:pPr>
            <a:endParaRPr sz="1500" b="0">
              <a:solidFill>
                <a:srgbClr val="44506B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5900000"/>
            <a:ext cx="1080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Saving the feature values as JSON makes it possible to see what the model used for one particular prediction.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40231" y="1953791"/>
            <a:ext cx="136528" cy="13652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154326" y="1424622"/>
            <a:ext cx="166954" cy="16695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915855" y="1630385"/>
            <a:ext cx="136274" cy="13627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593976" y="1936662"/>
            <a:ext cx="161138" cy="16113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61948" y="1108859"/>
            <a:ext cx="104265" cy="104265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375434" y="1077617"/>
            <a:ext cx="156200" cy="1562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027847" y="1415191"/>
            <a:ext cx="97041" cy="9704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05552" y="1675230"/>
            <a:ext cx="128358" cy="12835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592921" y="2036060"/>
            <a:ext cx="101759" cy="10175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652840" y="1714580"/>
            <a:ext cx="156696" cy="15669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569826" y="1696987"/>
            <a:ext cx="164744" cy="16474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321086" y="1510919"/>
            <a:ext cx="83786" cy="8378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600001" y="797765"/>
            <a:ext cx="107280" cy="10728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135089" y="1808362"/>
            <a:ext cx="101080" cy="10108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753900" y="1404116"/>
            <a:ext cx="74203" cy="7420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818569" y="1116927"/>
            <a:ext cx="91464" cy="9146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281640" y="706161"/>
            <a:ext cx="80591" cy="8059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160115" y="1774498"/>
            <a:ext cx="164166" cy="16416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226492" y="1642404"/>
            <a:ext cx="103981" cy="10398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581771" y="1588646"/>
            <a:ext cx="97304" cy="9730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112391" y="1411347"/>
            <a:ext cx="78149" cy="7814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840362" y="1396097"/>
            <a:ext cx="152356" cy="15235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395650" y="742061"/>
            <a:ext cx="85514" cy="8551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136211" y="1328659"/>
            <a:ext cx="131770" cy="13177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1246163" y="1472957"/>
            <a:ext cx="89452" cy="8945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544820" y="1664376"/>
            <a:ext cx="122498" cy="12249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999807" y="1996833"/>
            <a:ext cx="80511" cy="8051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3200000"/>
            <a:ext cx="100000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3. Checks and alerts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250000"/>
            <a:ext cx="95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A measurement needs an owner and a response.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USEFUL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Start with simple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1450000"/>
            <a:ext cx="24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Freshness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50000" y="1450000"/>
            <a:ext cx="71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How old is the newest row? This catches a pipeline that has stopped.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2210000"/>
            <a:ext cx="24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50000" y="2210000"/>
            <a:ext cx="71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How many rows arrived compared with a normal day? This catches partial failures.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970000"/>
            <a:ext cx="24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Input 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50000" y="2970000"/>
            <a:ext cx="71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Has an input moved outside the range seen during training? This can reveal a change in the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730000"/>
            <a:ext cx="24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Error against outcome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50000" y="3730000"/>
            <a:ext cx="71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Compare a rolling average error with the naive baseline. This can show whether the model is becoming less useful.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90000"/>
            <a:ext cx="10800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0000" y="4770000"/>
            <a:ext cx="104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2761"/>
                </a:solidFill>
                <a:latin typeface="Calibri"/>
              </a:rPr>
              <a:t>The naive baseline from training is a useful reference. If the model no longer beats it, investigate before trusting the model.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A THRESHOLD NEEDS A REASON AND AN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00000"/>
            <a:ext cx="11000000" cy="2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E2761"/>
                </a:solidFill>
                <a:latin typeface="Calibri"/>
              </a:rPr>
              <a:t>Choose a limit from your own data, then decide what you will do if it is crossed.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400000"/>
            <a:ext cx="1080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For example: if the newest data is older than 36 hours, one person checks the workflow and reruns it. A number without a planned response is only information, not an alert.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ALERTS FOR 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Keep them small and clear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0000"/>
            <a:ext cx="10800000" cy="4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Decide who is told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A failed GitHub Actions job should reach someone who reads the notification.</a:t>
            </a:r>
          </a:p>
          <a:p>
            <a:pPr algn="l">
              <a:spcAft>
                <a:spcPts val="200"/>
              </a:spcAft>
            </a:pPr>
            <a:endParaRPr sz="1500" b="0">
              <a:solidFill>
                <a:srgbClr val="44506B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Fail the job when a check fails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A warning hidden in a log is easy to miss.</a:t>
            </a:r>
          </a:p>
          <a:p>
            <a:pPr algn="l">
              <a:spcAft>
                <a:spcPts val="200"/>
              </a:spcAft>
            </a:pPr>
            <a:endParaRPr sz="1500" b="0">
              <a:solidFill>
                <a:srgbClr val="44506B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Use few alerts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Two alerts that mean something are better than many messages nobody reads.</a:t>
            </a:r>
          </a:p>
          <a:p>
            <a:pPr algn="l">
              <a:spcAft>
                <a:spcPts val="200"/>
              </a:spcAft>
            </a:pPr>
            <a:endParaRPr sz="1500" b="0">
              <a:solidFill>
                <a:srgbClr val="44506B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Write the next action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For each alert, say who checks what and what happens next.</a:t>
            </a:r>
          </a:p>
          <a:p>
            <a:pPr algn="l">
              <a:spcAft>
                <a:spcPts val="200"/>
              </a:spcAft>
            </a:pPr>
            <a:endParaRPr sz="1500" b="0">
              <a:solidFill>
                <a:srgbClr val="44506B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57742" y="1548179"/>
            <a:ext cx="117279" cy="11727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43684" y="585693"/>
            <a:ext cx="134417" cy="134417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039089" y="1420328"/>
            <a:ext cx="132042" cy="13204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316796" y="1377488"/>
            <a:ext cx="121778" cy="12177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585800" y="495640"/>
            <a:ext cx="72859" cy="7285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48053" y="1358396"/>
            <a:ext cx="93551" cy="9355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710881" y="931130"/>
            <a:ext cx="124109" cy="12410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250722" y="820916"/>
            <a:ext cx="146899" cy="14689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131088" y="2059204"/>
            <a:ext cx="98398" cy="9839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90031" y="963724"/>
            <a:ext cx="80906" cy="8090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532334" y="1546239"/>
            <a:ext cx="82818" cy="8281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577492" y="549586"/>
            <a:ext cx="140448" cy="14044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547265" y="1132228"/>
            <a:ext cx="143541" cy="14354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67367" y="1786052"/>
            <a:ext cx="145899" cy="14589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892852" y="1030410"/>
            <a:ext cx="72739" cy="7273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212498" y="657828"/>
            <a:ext cx="107645" cy="107645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440416" y="535239"/>
            <a:ext cx="123596" cy="12359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389104" y="1200429"/>
            <a:ext cx="148063" cy="14806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825437" y="1985404"/>
            <a:ext cx="127607" cy="127607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058894" y="1895915"/>
            <a:ext cx="150819" cy="15081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330547" y="592543"/>
            <a:ext cx="140425" cy="140425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018536" y="1389434"/>
            <a:ext cx="113549" cy="11354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957460" y="1190609"/>
            <a:ext cx="159230" cy="15923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926070" y="1284285"/>
            <a:ext cx="75456" cy="7545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516010" y="1248195"/>
            <a:ext cx="134276" cy="1342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941278" y="1199378"/>
            <a:ext cx="142749" cy="14274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509571" y="1425025"/>
            <a:ext cx="92621" cy="9262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3200000"/>
            <a:ext cx="100000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4. When a check finds a problem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250000"/>
            <a:ext cx="95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Use a simple order when you investigate.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A FOUR-LINE RUNBOOK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Start with the simplest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1450000"/>
            <a:ext cx="30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Check the data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0000" y="1450000"/>
            <a:ext cx="65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506B"/>
                </a:solidFill>
                <a:latin typeface="Calibri"/>
              </a:rPr>
              <a:t>Check freshness and row counts before changing the model. Missing data causes many apparent model problems.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2210000"/>
            <a:ext cx="30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Check whether it is a one-off or a trend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0000" y="2210000"/>
            <a:ext cx="65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506B"/>
                </a:solidFill>
                <a:latin typeface="Calibri"/>
              </a:rPr>
              <a:t>Look at several days, not only one value.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970000"/>
            <a:ext cx="30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Compare with the naive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0000" y="2970000"/>
            <a:ext cx="65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506B"/>
                </a:solidFill>
                <a:latin typeface="Calibri"/>
              </a:rPr>
              <a:t>If the model no longer beats it, investigate the data and the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730000"/>
            <a:ext cx="30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Choose an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0000" y="3730000"/>
            <a:ext cx="65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506B"/>
                </a:solidFill>
                <a:latin typeface="Calibri"/>
              </a:rPr>
              <a:t>You may retrain, return to an earlier model revision, or wait for more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90000"/>
            <a:ext cx="10800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0000" y="4770000"/>
            <a:ext cx="104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2761"/>
                </a:solidFill>
                <a:latin typeface="Calibri"/>
              </a:rPr>
              <a:t>Write a short version in the repository when the service and log exist. It will also give you concrete material for the report.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WORK IN THIS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Do the next missing step for your team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00000"/>
            <a:ext cx="10800000" cy="1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0000" y="145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Finish the forecast feature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1820000"/>
            <a:ext cx="104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Use forecast temperature and wind to build the next row in feat__daily.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60000"/>
            <a:ext cx="10800000" cy="1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0000" y="271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Train and pin a model 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3080000"/>
            <a:ext cx="104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Train from feat__daily and load one selected Hugging Face revision.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20000"/>
            <a:ext cx="10800000" cy="1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0000" y="397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Make a local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000" y="4340000"/>
            <a:ext cx="104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Start with /health, then make one local /predict response.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080000"/>
            <a:ext cx="10800000" cy="1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0000" y="523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Add the log when /predict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000" y="5600000"/>
            <a:ext cx="104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Save prediction, model revision, code version, and feature values. Add actual later.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1124</Words>
  <Application>Microsoft Macintosh PowerPoint</Application>
  <PresentationFormat>Bredbild</PresentationFormat>
  <Paragraphs>131</Paragraphs>
  <Slides>15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mikael huss</cp:lastModifiedBy>
  <cp:revision>2</cp:revision>
  <dcterms:created xsi:type="dcterms:W3CDTF">2013-01-27T09:14:16Z</dcterms:created>
  <dcterms:modified xsi:type="dcterms:W3CDTF">2026-09-24T19:16:47Z</dcterms:modified>
  <cp:category/>
</cp:coreProperties>
</file>