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449373" y="1178691"/>
            <a:ext cx="103904" cy="1039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5815" y="1752202"/>
            <a:ext cx="88504" cy="885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121802" y="964532"/>
            <a:ext cx="133184" cy="13318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27979" y="1455523"/>
            <a:ext cx="73554" cy="735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66862" y="883576"/>
            <a:ext cx="86648" cy="866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469099" y="1703768"/>
            <a:ext cx="125960" cy="125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85045" y="2023037"/>
            <a:ext cx="97623" cy="976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99146" y="1001111"/>
            <a:ext cx="125454" cy="1254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93342" y="529384"/>
            <a:ext cx="123792" cy="12379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03517" y="1994282"/>
            <a:ext cx="167757" cy="16775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05447" y="1478352"/>
            <a:ext cx="81870" cy="818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59435" y="995359"/>
            <a:ext cx="94780" cy="947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87281" y="688225"/>
            <a:ext cx="78869" cy="788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80324" y="1036836"/>
            <a:ext cx="97050" cy="970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81318" y="942685"/>
            <a:ext cx="171931" cy="1719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29998" y="2014142"/>
            <a:ext cx="83538" cy="835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84758" y="2043658"/>
            <a:ext cx="141519" cy="1415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03586" y="485898"/>
            <a:ext cx="116631" cy="1166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79348" y="776840"/>
            <a:ext cx="86808" cy="8680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96170" y="1064574"/>
            <a:ext cx="101668" cy="1016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07777" y="1413557"/>
            <a:ext cx="166414" cy="1664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71487" y="1405643"/>
            <a:ext cx="113710" cy="1137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157097" y="1434917"/>
            <a:ext cx="110922" cy="11092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81353" y="1639713"/>
            <a:ext cx="154316" cy="15431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78688" y="2014610"/>
            <a:ext cx="152469" cy="1524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245437" y="1671030"/>
            <a:ext cx="139517" cy="1395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76017" y="711494"/>
            <a:ext cx="125785" cy="12578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 y="640080"/>
            <a:ext cx="345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WEEK 6 · BLOCK 1</a:t>
            </a:r>
          </a:p>
        </p:txBody>
      </p:sp>
      <p:sp>
        <p:nvSpPr>
          <p:cNvPr id="30" name="TextBox 29"/>
          <p:cNvSpPr txBox="1"/>
          <p:nvPr/>
        </p:nvSpPr>
        <p:spPr>
          <a:xfrm>
            <a:off x="640080" y="1600200"/>
            <a:ext cx="9601200" cy="1938992"/>
          </a:xfrm>
          <a:prstGeom prst="rect">
            <a:avLst/>
          </a:prstGeom>
          <a:noFill/>
        </p:spPr>
        <p:txBody>
          <a:bodyPr wrap="square" lIns="0" tIns="0" rIns="0" bIns="0">
            <a:spAutoFit/>
          </a:bodyPr>
          <a:lstStyle/>
          <a:p>
            <a:pPr algn="l">
              <a:spcAft>
                <a:spcPts val="0"/>
              </a:spcAft>
            </a:pPr>
            <a:r>
              <a:rPr sz="4000" b="0">
                <a:solidFill>
                  <a:srgbClr val="FFFFFF"/>
                </a:solidFill>
                <a:latin typeface="Calibri"/>
              </a:rPr>
              <a:t>Ethics and regulation</a:t>
            </a:r>
          </a:p>
        </p:txBody>
      </p:sp>
      <p:sp>
        <p:nvSpPr>
          <p:cNvPr id="31" name="TextBox 30"/>
          <p:cNvSpPr txBox="1"/>
          <p:nvPr/>
        </p:nvSpPr>
        <p:spPr>
          <a:xfrm>
            <a:off x="640080" y="4200000"/>
            <a:ext cx="9601200" cy="323165"/>
          </a:xfrm>
          <a:prstGeom prst="rect">
            <a:avLst/>
          </a:prstGeom>
          <a:noFill/>
        </p:spPr>
        <p:txBody>
          <a:bodyPr wrap="square" lIns="0" tIns="0" rIns="0" bIns="0">
            <a:spAutoFit/>
          </a:bodyPr>
          <a:lstStyle/>
          <a:p>
            <a:pPr algn="l">
              <a:spcAft>
                <a:spcPts val="0"/>
              </a:spcAft>
            </a:pPr>
            <a:r>
              <a:rPr sz="1500" b="0">
                <a:solidFill>
                  <a:srgbClr val="CADCFC"/>
                </a:solidFill>
                <a:latin typeface="Calibri"/>
              </a:rPr>
              <a:t>Use this to describe the ethical questions in your own system on Thursday.</a:t>
            </a:r>
          </a:p>
        </p:txBody>
      </p:sp>
      <p:sp>
        <p:nvSpPr>
          <p:cNvPr id="32" name="TextBox 31"/>
          <p:cNvSpPr txBox="1"/>
          <p:nvPr/>
        </p:nvSpPr>
        <p:spPr>
          <a:xfrm>
            <a:off x="640080" y="4750000"/>
            <a:ext cx="9601200" cy="300000"/>
          </a:xfrm>
          <a:prstGeom prst="rect">
            <a:avLst/>
          </a:prstGeom>
          <a:noFill/>
        </p:spPr>
        <p:txBody>
          <a:bodyPr wrap="square" lIns="0" tIns="0" rIns="0" bIns="0">
            <a:spAutoFit/>
          </a:bodyPr>
          <a:lstStyle/>
          <a:p>
            <a:pPr algn="l">
              <a:spcAft>
                <a:spcPts val="0"/>
              </a:spcAft>
            </a:pPr>
            <a:r>
              <a:rPr sz="1200" b="0">
                <a:solidFill>
                  <a:srgbClr val="CADCFC"/>
                </a:solidFill>
                <a:latin typeface="Calibri"/>
              </a:rPr>
              <a:t>Mikael Huss</a:t>
            </a:r>
          </a:p>
        </p:txBody>
      </p:sp>
      <p:sp>
        <p:nvSpPr>
          <p:cNvPr id="33" name="TextBox 32"/>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4" name="TextBox 33"/>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WHY THIS MATTERS</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600" b="1">
                <a:solidFill>
                  <a:srgbClr val="1E2761"/>
                </a:solidFill>
                <a:latin typeface="Calibri"/>
              </a:rPr>
              <a:t>On Thursday, your team will explain the ethical questions in your system.</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Before 12:00 today, write short answers to four questions. Use them in Thursday's presentation.</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808604" y="1341057"/>
            <a:ext cx="114633" cy="11463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22344" y="536579"/>
            <a:ext cx="171745" cy="1717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16013" y="690057"/>
            <a:ext cx="135532" cy="1355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53531" y="1723602"/>
            <a:ext cx="155689" cy="1556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708672" y="1291119"/>
            <a:ext cx="128181" cy="1281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05821" y="1844207"/>
            <a:ext cx="87847" cy="8784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5017" y="1982291"/>
            <a:ext cx="146110" cy="1461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3211" y="704183"/>
            <a:ext cx="163812" cy="1638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07516" y="1518591"/>
            <a:ext cx="172463" cy="1724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12884" y="519628"/>
            <a:ext cx="89400" cy="894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47085" y="1071458"/>
            <a:ext cx="88639" cy="886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880888" y="1022708"/>
            <a:ext cx="128173" cy="12817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27890" y="2016540"/>
            <a:ext cx="84950" cy="849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10742" y="1805183"/>
            <a:ext cx="151624" cy="1516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78228" y="879065"/>
            <a:ext cx="75219" cy="75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00179" y="1586134"/>
            <a:ext cx="121054" cy="1210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892466" y="726537"/>
            <a:ext cx="72171" cy="7217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78381" y="1223792"/>
            <a:ext cx="130310" cy="1303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494847" y="1372703"/>
            <a:ext cx="127064" cy="1270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37015" y="1345564"/>
            <a:ext cx="158962" cy="15896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04006" y="1179807"/>
            <a:ext cx="96363" cy="963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49720" y="893700"/>
            <a:ext cx="103149" cy="103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99364" y="1674942"/>
            <a:ext cx="146518" cy="1465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42547" y="1263509"/>
            <a:ext cx="89841" cy="898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89213" y="818860"/>
            <a:ext cx="98103" cy="981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008894" y="1131645"/>
            <a:ext cx="146072" cy="1460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7176" y="1020854"/>
            <a:ext cx="119383" cy="1193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1. Where personal data can appear</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Your training data may not contain personal data. Your service can still process it.</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TRAINING DATA</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For the standard project, the training data does not describe people</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SMHI observations</a:t>
            </a:r>
          </a:p>
          <a:p>
            <a:pPr algn="l">
              <a:spcAft>
                <a:spcPts val="200"/>
              </a:spcAft>
            </a:pPr>
            <a:r>
              <a:rPr sz="1500" b="0">
                <a:solidFill>
                  <a:srgbClr val="44506B"/>
                </a:solidFill>
                <a:latin typeface="Calibri"/>
              </a:rPr>
              <a:t>     Temperature and wind at a weather station.</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Spot prices</a:t>
            </a:r>
          </a:p>
          <a:p>
            <a:pPr algn="l">
              <a:spcAft>
                <a:spcPts val="200"/>
              </a:spcAft>
            </a:pPr>
            <a:r>
              <a:rPr sz="1500" b="0">
                <a:solidFill>
                  <a:srgbClr val="44506B"/>
                </a:solidFill>
                <a:latin typeface="Calibri"/>
              </a:rPr>
              <a:t>     A market price for a bidding area, not an individual household bill.</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Your feature table</a:t>
            </a:r>
          </a:p>
          <a:p>
            <a:pPr algn="l">
              <a:spcAft>
                <a:spcPts val="200"/>
              </a:spcAft>
            </a:pPr>
            <a:r>
              <a:rPr sz="1500" b="0">
                <a:solidFill>
                  <a:srgbClr val="44506B"/>
                </a:solidFill>
                <a:latin typeface="Calibri"/>
              </a:rPr>
              <a:t>     Calculated values based on these two sources.</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Conclusion</a:t>
            </a:r>
          </a:p>
          <a:p>
            <a:pPr algn="l">
              <a:spcAft>
                <a:spcPts val="200"/>
              </a:spcAft>
            </a:pPr>
            <a:r>
              <a:rPr sz="1500" b="0">
                <a:solidFill>
                  <a:srgbClr val="44506B"/>
                </a:solidFill>
                <a:latin typeface="Calibri"/>
              </a:rPr>
              <a:t>     For the training data, it is reasonable to say that no personal data is used.</a:t>
            </a:r>
          </a:p>
          <a:p>
            <a:pPr algn="l">
              <a:spcAft>
                <a:spcPts val="200"/>
              </a:spcAft>
            </a:pPr>
            <a:r>
              <a:rPr sz="1500" b="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SERVICE YOU MAY BUILD LATER</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600" b="1">
                <a:solidFill>
                  <a:srgbClr val="1E2761"/>
                </a:solidFill>
                <a:latin typeface="Calibri"/>
              </a:rPr>
              <a:t>Your project does not yet have a public API. Plan for it before you publish one.</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A public API can create request logs with an IP address and timestamp. An IP address can be personal data under GDPR. The question today is what you would log, who needs access, and when it should be deleted.</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QUESTIONS TO DECIDE BEFORE PUBLISHING</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If you later keep request logs, consider these points</a:t>
            </a:r>
          </a:p>
        </p:txBody>
      </p:sp>
      <p:sp>
        <p:nvSpPr>
          <p:cNvPr id="4" name="TextBox 3"/>
          <p:cNvSpPr txBox="1"/>
          <p:nvPr/>
        </p:nvSpPr>
        <p:spPr>
          <a:xfrm>
            <a:off x="1000000" y="1450000"/>
            <a:ext cx="24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Purpose</a:t>
            </a:r>
          </a:p>
        </p:txBody>
      </p:sp>
      <p:sp>
        <p:nvSpPr>
          <p:cNvPr id="5" name="TextBox 4"/>
          <p:cNvSpPr txBox="1"/>
          <p:nvPr/>
        </p:nvSpPr>
        <p:spPr>
          <a:xfrm>
            <a:off x="4150000" y="1450000"/>
            <a:ext cx="71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Why would you keep the information: security, debugging or something else?</a:t>
            </a:r>
          </a:p>
        </p:txBody>
      </p:sp>
      <p:sp>
        <p:nvSpPr>
          <p:cNvPr id="6" name="TextBox 5"/>
          <p:cNvSpPr txBox="1"/>
          <p:nvPr/>
        </p:nvSpPr>
        <p:spPr>
          <a:xfrm>
            <a:off x="1000000" y="2190000"/>
            <a:ext cx="24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Minimisation</a:t>
            </a:r>
          </a:p>
        </p:txBody>
      </p:sp>
      <p:sp>
        <p:nvSpPr>
          <p:cNvPr id="7" name="TextBox 6"/>
          <p:cNvSpPr txBox="1"/>
          <p:nvPr/>
        </p:nvSpPr>
        <p:spPr>
          <a:xfrm>
            <a:off x="4150000" y="2190000"/>
            <a:ext cx="71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Keep only what you need. Do you need a full IP address, or only that a request was made?</a:t>
            </a:r>
          </a:p>
        </p:txBody>
      </p:sp>
      <p:sp>
        <p:nvSpPr>
          <p:cNvPr id="8" name="TextBox 7"/>
          <p:cNvSpPr txBox="1"/>
          <p:nvPr/>
        </p:nvSpPr>
        <p:spPr>
          <a:xfrm>
            <a:off x="1000000" y="2930000"/>
            <a:ext cx="24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Access</a:t>
            </a:r>
          </a:p>
        </p:txBody>
      </p:sp>
      <p:sp>
        <p:nvSpPr>
          <p:cNvPr id="9" name="TextBox 8"/>
          <p:cNvSpPr txBox="1"/>
          <p:nvPr/>
        </p:nvSpPr>
        <p:spPr>
          <a:xfrm>
            <a:off x="4150000" y="2930000"/>
            <a:ext cx="71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Who needs access to the logs, and why?</a:t>
            </a:r>
          </a:p>
        </p:txBody>
      </p:sp>
      <p:sp>
        <p:nvSpPr>
          <p:cNvPr id="10" name="TextBox 9"/>
          <p:cNvSpPr txBox="1"/>
          <p:nvPr/>
        </p:nvSpPr>
        <p:spPr>
          <a:xfrm>
            <a:off x="1000000" y="3670000"/>
            <a:ext cx="24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Retention</a:t>
            </a:r>
          </a:p>
        </p:txBody>
      </p:sp>
      <p:sp>
        <p:nvSpPr>
          <p:cNvPr id="11" name="TextBox 10"/>
          <p:cNvSpPr txBox="1"/>
          <p:nvPr/>
        </p:nvSpPr>
        <p:spPr>
          <a:xfrm>
            <a:off x="4150000" y="3670000"/>
            <a:ext cx="71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Decide how long logs should be kept and how they will be deleted.</a:t>
            </a:r>
          </a:p>
        </p:txBody>
      </p:sp>
      <p:sp>
        <p:nvSpPr>
          <p:cNvPr id="12" name="TextBox 11"/>
          <p:cNvSpPr txBox="1"/>
          <p:nvPr/>
        </p:nvSpPr>
        <p:spPr>
          <a:xfrm>
            <a:off x="1000000" y="4410000"/>
            <a:ext cx="24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Responsibility</a:t>
            </a:r>
          </a:p>
        </p:txBody>
      </p:sp>
      <p:sp>
        <p:nvSpPr>
          <p:cNvPr id="13" name="TextBox 12"/>
          <p:cNvSpPr txBox="1"/>
          <p:nvPr/>
        </p:nvSpPr>
        <p:spPr>
          <a:xfrm>
            <a:off x="4150000" y="4410000"/>
            <a:ext cx="71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Who is responsible for this decision and for following it?</a:t>
            </a:r>
          </a:p>
        </p:txBody>
      </p:sp>
      <p:sp>
        <p:nvSpPr>
          <p:cNvPr id="14" name="Rounded Rectangle 13"/>
          <p:cNvSpPr/>
          <p:nvPr/>
        </p:nvSpPr>
        <p:spPr>
          <a:xfrm>
            <a:off x="502920" y="525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0000" y="543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You do not need to solve every detail. Be able to describe the issue clearly for your own system.</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WHAT COUNTS AS PERSONAL DATA?</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It is about whether someone can be identified, not only about names</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Direct identifiers</a:t>
            </a:r>
          </a:p>
          <a:p>
            <a:pPr algn="l">
              <a:spcAft>
                <a:spcPts val="200"/>
              </a:spcAft>
            </a:pPr>
            <a:r>
              <a:rPr sz="1500" b="0">
                <a:solidFill>
                  <a:srgbClr val="44506B"/>
                </a:solidFill>
                <a:latin typeface="Calibri"/>
              </a:rPr>
              <a:t>     For example: name, personnummer or email address.</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Pseudonymous identifiers</a:t>
            </a:r>
          </a:p>
          <a:p>
            <a:pPr algn="l">
              <a:spcAft>
                <a:spcPts val="200"/>
              </a:spcAft>
            </a:pPr>
            <a:r>
              <a:rPr sz="1500" b="0">
                <a:solidFill>
                  <a:srgbClr val="44506B"/>
                </a:solidFill>
                <a:latin typeface="Calibri"/>
              </a:rPr>
              <a:t>     For example: IP address, device ID, session ID or account ID. These can still be personal data.</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Indirect identification</a:t>
            </a:r>
          </a:p>
          <a:p>
            <a:pPr algn="l">
              <a:spcAft>
                <a:spcPts val="200"/>
              </a:spcAft>
            </a:pPr>
            <a:r>
              <a:rPr sz="1500" b="0">
                <a:solidFill>
                  <a:srgbClr val="44506B"/>
                </a:solidFill>
                <a:latin typeface="Calibri"/>
              </a:rPr>
              <a:t>     Several fields together can identify a person, for example postcode, birth date and another detail.</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Anonymous data</a:t>
            </a:r>
          </a:p>
          <a:p>
            <a:pPr algn="l">
              <a:spcAft>
                <a:spcPts val="200"/>
              </a:spcAft>
            </a:pPr>
            <a:r>
              <a:rPr sz="1500" b="0">
                <a:solidFill>
                  <a:srgbClr val="44506B"/>
                </a:solidFill>
                <a:latin typeface="Calibri"/>
              </a:rPr>
              <a:t>     Data that no one can connect back to a person, even with other available information.</a:t>
            </a:r>
          </a:p>
          <a:p>
            <a:pPr algn="l">
              <a:spcAft>
                <a:spcPts val="200"/>
              </a:spcAft>
            </a:pPr>
            <a:r>
              <a:rPr sz="1500" b="0">
                <a:solidFill>
                  <a:srgbClr val="44506B"/>
                </a:solidFill>
                <a:latin typeface="Calibri"/>
              </a:rPr>
              <a:t/>
            </a:r>
          </a:p>
        </p:txBody>
      </p:sp>
      <p:sp>
        <p:nvSpPr>
          <p:cNvPr id="5" name="TextBox 4"/>
          <p:cNvSpPr txBox="1"/>
          <p:nvPr/>
        </p:nvSpPr>
        <p:spPr>
          <a:xfrm>
            <a:off x="502920" y="5900000"/>
            <a:ext cx="10800000" cy="400000"/>
          </a:xfrm>
          <a:prstGeom prst="rect">
            <a:avLst/>
          </a:prstGeom>
          <a:noFill/>
        </p:spPr>
        <p:txBody>
          <a:bodyPr wrap="square" lIns="0" tIns="0" rIns="0" bIns="0">
            <a:spAutoFit/>
          </a:bodyPr>
          <a:lstStyle/>
          <a:p>
            <a:pPr algn="l">
              <a:spcAft>
                <a:spcPts val="0"/>
              </a:spcAft>
            </a:pPr>
            <a:r>
              <a:rPr sz="1300" b="1">
                <a:solidFill>
                  <a:srgbClr val="1E2761"/>
                </a:solidFill>
                <a:latin typeface="Calibri"/>
              </a:rPr>
              <a:t>Rule of thumb: if the information can help identify the same person again, treat it as personal data.</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042882" y="1892293"/>
            <a:ext cx="96112" cy="961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63756" y="1315978"/>
            <a:ext cx="132323" cy="1323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18222" y="1861641"/>
            <a:ext cx="87150" cy="871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34863" y="667958"/>
            <a:ext cx="80860" cy="808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77591" y="715376"/>
            <a:ext cx="168544" cy="1685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3466" y="713391"/>
            <a:ext cx="94587" cy="9458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32936" y="1290058"/>
            <a:ext cx="87098" cy="870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35770" y="1119520"/>
            <a:ext cx="112783" cy="1127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21493" y="1827959"/>
            <a:ext cx="108844" cy="1088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863705" y="506151"/>
            <a:ext cx="150779" cy="15077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23026" y="1800457"/>
            <a:ext cx="151635" cy="15163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02589" y="1127331"/>
            <a:ext cx="123340" cy="1233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57158" y="1143868"/>
            <a:ext cx="74468" cy="744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49183" y="1310756"/>
            <a:ext cx="77840" cy="778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32422" y="585714"/>
            <a:ext cx="90801" cy="9080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340471" y="1521531"/>
            <a:ext cx="152824" cy="1528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53248" y="979424"/>
            <a:ext cx="120219" cy="120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41951" y="1563093"/>
            <a:ext cx="79128" cy="791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71819" y="1270223"/>
            <a:ext cx="172681" cy="1726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31301" y="764032"/>
            <a:ext cx="94932" cy="949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64313" y="1812855"/>
            <a:ext cx="146426" cy="14642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39276" y="598269"/>
            <a:ext cx="164024" cy="1640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49071" y="1780791"/>
            <a:ext cx="153264" cy="1532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07338" y="1186278"/>
            <a:ext cx="88068" cy="880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56258" y="1240957"/>
            <a:ext cx="155865" cy="1558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24404" y="1602892"/>
            <a:ext cx="105644" cy="1056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45270" y="806202"/>
            <a:ext cx="75186" cy="751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2. Open data still has conditions</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Data that is available online may still have rules for how it can be used.</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LICENCES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Check these questions separately</a:t>
            </a:r>
          </a:p>
        </p:txBody>
      </p:sp>
      <p:sp>
        <p:nvSpPr>
          <p:cNvPr id="4" name="Rounded Rectangle 3"/>
          <p:cNvSpPr/>
          <p:nvPr/>
        </p:nvSpPr>
        <p:spPr>
          <a:xfrm>
            <a:off x="502920" y="1400000"/>
            <a:ext cx="10800000" cy="10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0000" y="15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Read it</a:t>
            </a:r>
          </a:p>
        </p:txBody>
      </p:sp>
      <p:sp>
        <p:nvSpPr>
          <p:cNvPr id="6" name="TextBox 5"/>
          <p:cNvSpPr txBox="1"/>
          <p:nvPr/>
        </p:nvSpPr>
        <p:spPr>
          <a:xfrm>
            <a:off x="700000" y="19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Often allowed. This is usually what people mean by “open”.</a:t>
            </a:r>
          </a:p>
        </p:txBody>
      </p:sp>
      <p:sp>
        <p:nvSpPr>
          <p:cNvPr id="7" name="Rounded Rectangle 6"/>
          <p:cNvSpPr/>
          <p:nvPr/>
        </p:nvSpPr>
        <p:spPr>
          <a:xfrm>
            <a:off x="502920" y="2580000"/>
            <a:ext cx="10800000" cy="10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0000" y="27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Use it in your service</a:t>
            </a:r>
          </a:p>
        </p:txBody>
      </p:sp>
      <p:sp>
        <p:nvSpPr>
          <p:cNvPr id="9" name="TextBox 8"/>
          <p:cNvSpPr txBox="1"/>
          <p:nvPr/>
        </p:nvSpPr>
        <p:spPr>
          <a:xfrm>
            <a:off x="700000" y="31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Often allowed, sometimes only if you give attribution.</a:t>
            </a:r>
          </a:p>
        </p:txBody>
      </p:sp>
      <p:sp>
        <p:nvSpPr>
          <p:cNvPr id="10" name="Rounded Rectangle 9"/>
          <p:cNvSpPr/>
          <p:nvPr/>
        </p:nvSpPr>
        <p:spPr>
          <a:xfrm>
            <a:off x="502920" y="3760000"/>
            <a:ext cx="10800000" cy="10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000" y="39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Publish the raw data again</a:t>
            </a:r>
          </a:p>
        </p:txBody>
      </p:sp>
      <p:sp>
        <p:nvSpPr>
          <p:cNvPr id="12" name="TextBox 11"/>
          <p:cNvSpPr txBox="1"/>
          <p:nvPr/>
        </p:nvSpPr>
        <p:spPr>
          <a:xfrm>
            <a:off x="700000" y="42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This may be restricted. Using SMHI data is different from publishing SMHI data as your own file.</a:t>
            </a:r>
          </a:p>
        </p:txBody>
      </p:sp>
      <p:sp>
        <p:nvSpPr>
          <p:cNvPr id="13" name="Rounded Rectangle 12"/>
          <p:cNvSpPr/>
          <p:nvPr/>
        </p:nvSpPr>
        <p:spPr>
          <a:xfrm>
            <a:off x="502920" y="4940000"/>
            <a:ext cx="10800000" cy="10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0000" y="509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Use it commercially</a:t>
            </a:r>
          </a:p>
        </p:txBody>
      </p:sp>
      <p:sp>
        <p:nvSpPr>
          <p:cNvPr id="15" name="TextBox 14"/>
          <p:cNvSpPr txBox="1"/>
          <p:nvPr/>
        </p:nvSpPr>
        <p:spPr>
          <a:xfrm>
            <a:off x="700000" y="546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Check this separately. Some data is free for research but not for commercial use.</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FOR YOUR PRESENTATION</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For each source, check and write down these three things</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Licence and source</a:t>
            </a:r>
          </a:p>
          <a:p>
            <a:pPr algn="l">
              <a:spcAft>
                <a:spcPts val="200"/>
              </a:spcAft>
            </a:pPr>
            <a:r>
              <a:rPr sz="1500" b="0">
                <a:solidFill>
                  <a:srgbClr val="44506B"/>
                </a:solidFill>
                <a:latin typeface="Calibri"/>
              </a:rPr>
              <a:t>     Record the licence name, the page where you found it, and the date you checked it.</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Attribution</a:t>
            </a:r>
          </a:p>
          <a:p>
            <a:pPr algn="l">
              <a:spcAft>
                <a:spcPts val="200"/>
              </a:spcAft>
            </a:pPr>
            <a:r>
              <a:rPr sz="1500" b="0">
                <a:solidFill>
                  <a:srgbClr val="44506B"/>
                </a:solidFill>
                <a:latin typeface="Calibri"/>
              </a:rPr>
              <a:t>     Check whether you need to name the source in your service or documentation.</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API use</a:t>
            </a:r>
          </a:p>
          <a:p>
            <a:pPr algn="l">
              <a:spcAft>
                <a:spcPts val="200"/>
              </a:spcAft>
            </a:pPr>
            <a:r>
              <a:rPr sz="1500" b="0">
                <a:solidFill>
                  <a:srgbClr val="44506B"/>
                </a:solidFill>
                <a:latin typeface="Calibri"/>
              </a:rPr>
              <a:t>     Rate limits and terms of use matter too. A scheduled job uses someone else’s infrastructure.</a:t>
            </a:r>
          </a:p>
          <a:p>
            <a:pPr algn="l">
              <a:spcAft>
                <a:spcPts val="200"/>
              </a:spcAft>
            </a:pPr>
            <a:r>
              <a:rPr sz="1500" b="0">
                <a:solidFill>
                  <a:srgbClr val="44506B"/>
                </a:solidFill>
                <a:latin typeface="Calibri"/>
              </a:rPr>
              <a:t/>
            </a:r>
          </a:p>
        </p:txBody>
      </p:sp>
      <p:sp>
        <p:nvSpPr>
          <p:cNvPr id="5" name="TextBox 4"/>
          <p:cNvSpPr txBox="1"/>
          <p:nvPr/>
        </p:nvSpPr>
        <p:spPr>
          <a:xfrm>
            <a:off x="502920" y="5900000"/>
            <a:ext cx="10800000" cy="400000"/>
          </a:xfrm>
          <a:prstGeom prst="rect">
            <a:avLst/>
          </a:prstGeom>
          <a:noFill/>
        </p:spPr>
        <p:txBody>
          <a:bodyPr wrap="square" lIns="0" tIns="0" rIns="0" bIns="0">
            <a:spAutoFit/>
          </a:bodyPr>
          <a:lstStyle/>
          <a:p>
            <a:pPr algn="l">
              <a:spcAft>
                <a:spcPts val="0"/>
              </a:spcAft>
            </a:pPr>
            <a:r>
              <a:rPr sz="1300" b="1">
                <a:solidFill>
                  <a:srgbClr val="1E2761"/>
                </a:solidFill>
                <a:latin typeface="Calibri"/>
              </a:rPr>
              <a:t>Teams using their own data: include this in your data-governance note.</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740231" y="1953791"/>
            <a:ext cx="136528" cy="1365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4326" y="1424622"/>
            <a:ext cx="166954" cy="1669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15855" y="1630385"/>
            <a:ext cx="136274" cy="13627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93976" y="1936662"/>
            <a:ext cx="161138" cy="1611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61948" y="1108859"/>
            <a:ext cx="104265" cy="1042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75434" y="1077617"/>
            <a:ext cx="156200" cy="156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7847" y="1415191"/>
            <a:ext cx="97041" cy="970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05552" y="1675230"/>
            <a:ext cx="128358" cy="12835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92921" y="2036060"/>
            <a:ext cx="101759" cy="10175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652840" y="1714580"/>
            <a:ext cx="156696" cy="1566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69826" y="1696987"/>
            <a:ext cx="164744" cy="1647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1086" y="1510919"/>
            <a:ext cx="83786" cy="837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0001" y="797765"/>
            <a:ext cx="107280" cy="1072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35089" y="1808362"/>
            <a:ext cx="101080" cy="1010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53900" y="1404116"/>
            <a:ext cx="74203" cy="742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818569" y="1116927"/>
            <a:ext cx="91464" cy="914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81640" y="706161"/>
            <a:ext cx="80591" cy="8059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60115" y="1774498"/>
            <a:ext cx="164166" cy="16416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26492" y="1642404"/>
            <a:ext cx="103981" cy="1039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581771" y="1588646"/>
            <a:ext cx="97304" cy="973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12391" y="1411347"/>
            <a:ext cx="78149" cy="78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40362" y="1396097"/>
            <a:ext cx="152356" cy="1523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95650" y="742061"/>
            <a:ext cx="85514" cy="855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36211" y="1328659"/>
            <a:ext cx="131770" cy="1317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46163" y="1472957"/>
            <a:ext cx="89452" cy="8945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544820" y="1664376"/>
            <a:ext cx="122498" cy="1224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99807" y="1996833"/>
            <a:ext cx="80511" cy="8051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3. Who is helped or harmed?</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Ethics is also about what happens when a forecast is wrong.</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PEOPLE HAVE DIFFERENT CHOICES</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A useful forecast helps most when a household can change when it uses electricity.</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A household with an EV, a heat pump on a timer or a flexible schedule may be able to move its use to a cheaper hour. A household with fixed working hours, electric heating and little money to spare may have far fewer choices.</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ENERGY POVERTY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Questions to consider for an electricity-price forecast</a:t>
            </a:r>
          </a:p>
        </p:txBody>
      </p:sp>
      <p:sp>
        <p:nvSpPr>
          <p:cNvPr id="4" name="TextBox 3"/>
          <p:cNvSpPr txBox="1"/>
          <p:nvPr/>
        </p:nvSpPr>
        <p:spPr>
          <a:xfrm>
            <a:off x="1000000" y="1450000"/>
            <a:ext cx="29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Changing use requires flexibility</a:t>
            </a:r>
          </a:p>
        </p:txBody>
      </p:sp>
      <p:sp>
        <p:nvSpPr>
          <p:cNvPr id="5" name="TextBox 4"/>
          <p:cNvSpPr txBox="1"/>
          <p:nvPr/>
        </p:nvSpPr>
        <p:spPr>
          <a:xfrm>
            <a:off x="4650000" y="1450000"/>
            <a:ext cx="66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Moving electricity use to a cheaper hour assumes that you can choose the hour. Many people cannot.</a:t>
            </a:r>
          </a:p>
        </p:txBody>
      </p:sp>
      <p:sp>
        <p:nvSpPr>
          <p:cNvPr id="6" name="TextBox 5"/>
          <p:cNvSpPr txBox="1"/>
          <p:nvPr/>
        </p:nvSpPr>
        <p:spPr>
          <a:xfrm>
            <a:off x="1000000" y="2210000"/>
            <a:ext cx="29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Errors affect people differently</a:t>
            </a:r>
          </a:p>
        </p:txBody>
      </p:sp>
      <p:sp>
        <p:nvSpPr>
          <p:cNvPr id="7" name="TextBox 6"/>
          <p:cNvSpPr txBox="1"/>
          <p:nvPr/>
        </p:nvSpPr>
        <p:spPr>
          <a:xfrm>
            <a:off x="4650000" y="2210000"/>
            <a:ext cx="66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An inaccurate forecast can be a small inconvenience for one household and a serious cost for another.</a:t>
            </a:r>
          </a:p>
        </p:txBody>
      </p:sp>
      <p:sp>
        <p:nvSpPr>
          <p:cNvPr id="8" name="TextBox 7"/>
          <p:cNvSpPr txBox="1"/>
          <p:nvPr/>
        </p:nvSpPr>
        <p:spPr>
          <a:xfrm>
            <a:off x="1000000" y="2970000"/>
            <a:ext cx="29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Advice can create pressure</a:t>
            </a:r>
          </a:p>
        </p:txBody>
      </p:sp>
      <p:sp>
        <p:nvSpPr>
          <p:cNvPr id="9" name="TextBox 8"/>
          <p:cNvSpPr txBox="1"/>
          <p:nvPr/>
        </p:nvSpPr>
        <p:spPr>
          <a:xfrm>
            <a:off x="4650000" y="2970000"/>
            <a:ext cx="66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Advice such as “use electricity at 03:00” may not be realistic for everyone.</a:t>
            </a:r>
          </a:p>
        </p:txBody>
      </p:sp>
      <p:sp>
        <p:nvSpPr>
          <p:cNvPr id="10" name="TextBox 9"/>
          <p:cNvSpPr txBox="1"/>
          <p:nvPr/>
        </p:nvSpPr>
        <p:spPr>
          <a:xfrm>
            <a:off x="1000000" y="3730000"/>
            <a:ext cx="29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Who gets the benefit?</a:t>
            </a:r>
          </a:p>
        </p:txBody>
      </p:sp>
      <p:sp>
        <p:nvSpPr>
          <p:cNvPr id="11" name="TextBox 10"/>
          <p:cNvSpPr txBox="1"/>
          <p:nvPr/>
        </p:nvSpPr>
        <p:spPr>
          <a:xfrm>
            <a:off x="4650000" y="3730000"/>
            <a:ext cx="66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Consider who can use the service, and who cannot.</a:t>
            </a:r>
          </a:p>
        </p:txBody>
      </p:sp>
      <p:sp>
        <p:nvSpPr>
          <p:cNvPr id="12" name="Rounded Rectangle 11"/>
          <p:cNvSpPr/>
          <p:nvPr/>
        </p:nvSpPr>
        <p:spPr>
          <a:xfrm>
            <a:off x="502920" y="459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0000" y="477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A good ethical discussion identifies a specific group of people and explains the possible consequence.</a:t>
            </a:r>
          </a:p>
        </p:txBody>
      </p:sp>
      <p:sp>
        <p:nvSpPr>
          <p:cNvPr id="14" name="TextBox 13"/>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5" name="TextBox 1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MORE QUESTIONS FOR YOUR SYSTEM</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The answer can change when the service is used differently</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What changes if the service is sold?</a:t>
            </a:r>
          </a:p>
          <a:p>
            <a:pPr algn="l">
              <a:spcAft>
                <a:spcPts val="200"/>
              </a:spcAft>
            </a:pPr>
            <a:r>
              <a:rPr sz="1500" b="0">
                <a:solidFill>
                  <a:srgbClr val="44506B"/>
                </a:solidFill>
                <a:latin typeface="Calibri"/>
              </a:rPr>
              <a:t>     A paid service brings clearer responsibilities for accuracy claims, availability and support.</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What changes if many people use it?</a:t>
            </a:r>
          </a:p>
          <a:p>
            <a:pPr algn="l">
              <a:spcAft>
                <a:spcPts val="200"/>
              </a:spcAft>
            </a:pPr>
            <a:r>
              <a:rPr sz="1500" b="0">
                <a:solidFill>
                  <a:srgbClr val="44506B"/>
                </a:solidFill>
                <a:latin typeface="Calibri"/>
              </a:rPr>
              <a:t>     If enough people act on the same forecast, their actions can affect electricity demand and prices.</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When does a prediction become a decision?</a:t>
            </a:r>
          </a:p>
          <a:p>
            <a:pPr algn="l">
              <a:spcAft>
                <a:spcPts val="200"/>
              </a:spcAft>
            </a:pPr>
            <a:r>
              <a:rPr sz="1500" b="0">
                <a:solidFill>
                  <a:srgbClr val="44506B"/>
                </a:solidFill>
                <a:latin typeface="Calibri"/>
              </a:rPr>
              <a:t>     A number on a page is advice. A prediction connected to a switch that controls heating is part of an automated decision.</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Who is responsible?</a:t>
            </a:r>
          </a:p>
          <a:p>
            <a:pPr algn="l">
              <a:spcAft>
                <a:spcPts val="200"/>
              </a:spcAft>
            </a:pPr>
            <a:r>
              <a:rPr sz="1500" b="0">
                <a:solidFill>
                  <a:srgbClr val="44506B"/>
                </a:solidFill>
                <a:latin typeface="Calibri"/>
              </a:rPr>
              <a:t>     If an automated system causes harm, a person or organisation must still be accountable.</a:t>
            </a:r>
          </a:p>
          <a:p>
            <a:pPr algn="l">
              <a:spcAft>
                <a:spcPts val="200"/>
              </a:spcAft>
            </a:pPr>
            <a:r>
              <a:rPr sz="1500" b="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757742" y="1548179"/>
            <a:ext cx="117279" cy="11727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43684" y="585693"/>
            <a:ext cx="134417" cy="1344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39089" y="1420328"/>
            <a:ext cx="132042" cy="13204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16796" y="1377488"/>
            <a:ext cx="121778" cy="12177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85800" y="495640"/>
            <a:ext cx="72859" cy="7285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48053" y="1358396"/>
            <a:ext cx="93551" cy="9355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10881" y="931130"/>
            <a:ext cx="124109" cy="12410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50722" y="820916"/>
            <a:ext cx="146899" cy="14689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131088" y="2059204"/>
            <a:ext cx="98398" cy="983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90031" y="963724"/>
            <a:ext cx="80906" cy="8090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32334" y="1546239"/>
            <a:ext cx="82818" cy="828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77492" y="549586"/>
            <a:ext cx="140448" cy="140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547265" y="1132228"/>
            <a:ext cx="143541" cy="1435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67367" y="1786052"/>
            <a:ext cx="145899" cy="14589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892852" y="1030410"/>
            <a:ext cx="72739" cy="727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12498" y="657828"/>
            <a:ext cx="107645" cy="1076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440416" y="535239"/>
            <a:ext cx="123596" cy="1235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389104" y="1200429"/>
            <a:ext cx="148063" cy="1480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825437" y="1985404"/>
            <a:ext cx="127607" cy="12760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894" y="1895915"/>
            <a:ext cx="150819" cy="1508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0547" y="592543"/>
            <a:ext cx="140425" cy="14042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18536" y="1389434"/>
            <a:ext cx="113549" cy="1135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57460" y="1190609"/>
            <a:ext cx="159230" cy="15923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26070" y="1284285"/>
            <a:ext cx="75456" cy="754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16010" y="1248195"/>
            <a:ext cx="134276" cy="13427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41278" y="1199378"/>
            <a:ext cx="142749" cy="1427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509571" y="1425025"/>
            <a:ext cx="92621" cy="9262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4. Rules that are relevant</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Name the rules that apply, and avoid claiming that others apply when they do not.</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REGULATION</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For a system like yours</a:t>
            </a:r>
          </a:p>
        </p:txBody>
      </p:sp>
      <p:sp>
        <p:nvSpPr>
          <p:cNvPr id="4" name="TextBox 3"/>
          <p:cNvSpPr txBox="1"/>
          <p:nvPr/>
        </p:nvSpPr>
        <p:spPr>
          <a:xfrm>
            <a:off x="1000000" y="145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GDPR</a:t>
            </a:r>
          </a:p>
        </p:txBody>
      </p:sp>
      <p:sp>
        <p:nvSpPr>
          <p:cNvPr id="5" name="TextBox 4"/>
          <p:cNvSpPr txBox="1"/>
          <p:nvPr/>
        </p:nvSpPr>
        <p:spPr>
          <a:xfrm>
            <a:off x="4250000" y="145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The standard project’s training data does not contain personal data. GDPR becomes relevant if a later service or its logs process it.</a:t>
            </a:r>
          </a:p>
        </p:txBody>
      </p:sp>
      <p:sp>
        <p:nvSpPr>
          <p:cNvPr id="6" name="TextBox 5"/>
          <p:cNvSpPr txBox="1"/>
          <p:nvPr/>
        </p:nvSpPr>
        <p:spPr>
          <a:xfrm>
            <a:off x="1000000" y="227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EU AI Act</a:t>
            </a:r>
          </a:p>
        </p:txBody>
      </p:sp>
      <p:sp>
        <p:nvSpPr>
          <p:cNvPr id="7" name="TextBox 6"/>
          <p:cNvSpPr txBox="1"/>
          <p:nvPr/>
        </p:nvSpPr>
        <p:spPr>
          <a:xfrm>
            <a:off x="4250000" y="227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It uses risk levels. An electricity-price forecast is normally not a high-risk system. Explain why rather than memorising categories.</a:t>
            </a:r>
          </a:p>
        </p:txBody>
      </p:sp>
      <p:sp>
        <p:nvSpPr>
          <p:cNvPr id="8" name="TextBox 7"/>
          <p:cNvSpPr txBox="1"/>
          <p:nvPr/>
        </p:nvSpPr>
        <p:spPr>
          <a:xfrm>
            <a:off x="1000000" y="309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Transparency</a:t>
            </a:r>
          </a:p>
        </p:txBody>
      </p:sp>
      <p:sp>
        <p:nvSpPr>
          <p:cNvPr id="9" name="TextBox 8"/>
          <p:cNvSpPr txBox="1"/>
          <p:nvPr/>
        </p:nvSpPr>
        <p:spPr>
          <a:xfrm>
            <a:off x="4250000" y="309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Tell users that they are seeing a model prediction and show how accurate it usually is.</a:t>
            </a:r>
          </a:p>
        </p:txBody>
      </p:sp>
      <p:sp>
        <p:nvSpPr>
          <p:cNvPr id="10" name="TextBox 9"/>
          <p:cNvSpPr txBox="1"/>
          <p:nvPr/>
        </p:nvSpPr>
        <p:spPr>
          <a:xfrm>
            <a:off x="1000000" y="391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Source terms</a:t>
            </a:r>
          </a:p>
        </p:txBody>
      </p:sp>
      <p:sp>
        <p:nvSpPr>
          <p:cNvPr id="11" name="TextBox 10"/>
          <p:cNvSpPr txBox="1"/>
          <p:nvPr/>
        </p:nvSpPr>
        <p:spPr>
          <a:xfrm>
            <a:off x="4250000" y="391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These are not laws, but you still need to follow them. See part 2.</a:t>
            </a:r>
          </a:p>
        </p:txBody>
      </p:sp>
      <p:sp>
        <p:nvSpPr>
          <p:cNvPr id="12" name="Rounded Rectangle 11"/>
          <p:cNvSpPr/>
          <p:nvPr/>
        </p:nvSpPr>
        <p:spPr>
          <a:xfrm>
            <a:off x="502920" y="483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0000" y="501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Be precise. It is better to explain why your system is low risk than to claim it is high risk without evidence.</a:t>
            </a:r>
          </a:p>
        </p:txBody>
      </p:sp>
      <p:sp>
        <p:nvSpPr>
          <p:cNvPr id="14" name="TextBox 13"/>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5" name="TextBox 1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BE OPEN ABOUT ACCURACY</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Showing an honest error measure helps users understand what they can trust.</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For example, `TARGET=peak` can have a negative R² while still performing better than a naive baseline. Include this information in the model card. It helps a user understand the limits of the prediction.</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011267" y="500077"/>
            <a:ext cx="171594" cy="17159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356546" y="627374"/>
            <a:ext cx="148764" cy="1487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69326" y="1982644"/>
            <a:ext cx="156176" cy="15617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64455" y="532255"/>
            <a:ext cx="166491" cy="16649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426209" y="2006859"/>
            <a:ext cx="127809" cy="12780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31130" y="1133990"/>
            <a:ext cx="111122" cy="11112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8871" y="1516905"/>
            <a:ext cx="164083" cy="1640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77808" y="1737298"/>
            <a:ext cx="123735" cy="12373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49363" y="1856482"/>
            <a:ext cx="154864" cy="1548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480177" y="1758261"/>
            <a:ext cx="166487" cy="16648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27359" y="1062436"/>
            <a:ext cx="171439" cy="1714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285843" y="1201766"/>
            <a:ext cx="172768" cy="1727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71331" y="1774257"/>
            <a:ext cx="112489" cy="1124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79138" y="1926869"/>
            <a:ext cx="170052" cy="17005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23211" y="1748289"/>
            <a:ext cx="114351" cy="11435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08076" y="1157320"/>
            <a:ext cx="87013" cy="8701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767736" y="716714"/>
            <a:ext cx="85839" cy="858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72352" y="1178466"/>
            <a:ext cx="110206" cy="11020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38695" y="557322"/>
            <a:ext cx="92710" cy="927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5406" y="1216990"/>
            <a:ext cx="149631" cy="1496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37927" y="1893655"/>
            <a:ext cx="94342" cy="9434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394115" y="1555001"/>
            <a:ext cx="76716" cy="7671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73292" y="741435"/>
            <a:ext cx="119373" cy="11937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09912" y="1552988"/>
            <a:ext cx="130096" cy="1300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375694" y="789048"/>
            <a:ext cx="149789" cy="1497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00933" y="443829"/>
            <a:ext cx="146477" cy="14647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39329" y="1906640"/>
            <a:ext cx="148876" cy="14887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The four questions</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Answer them together about your own system before you leave today.</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BEFORE 12:00</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Use these answers in Thursday’s presentation</a:t>
            </a:r>
          </a:p>
        </p:txBody>
      </p:sp>
      <p:sp>
        <p:nvSpPr>
          <p:cNvPr id="4" name="Rounded Rectangle 3"/>
          <p:cNvSpPr/>
          <p:nvPr/>
        </p:nvSpPr>
        <p:spPr>
          <a:xfrm>
            <a:off x="502920" y="13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0000" y="14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1. What data do you have today, and what will need a decision later?</a:t>
            </a:r>
          </a:p>
        </p:txBody>
      </p:sp>
      <p:sp>
        <p:nvSpPr>
          <p:cNvPr id="6" name="TextBox 5"/>
          <p:cNvSpPr txBox="1"/>
          <p:nvPr/>
        </p:nvSpPr>
        <p:spPr>
          <a:xfrm>
            <a:off x="700000" y="18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Start with sources, database, responsibility and deletion. Then consider future API logs.</a:t>
            </a:r>
          </a:p>
        </p:txBody>
      </p:sp>
      <p:sp>
        <p:nvSpPr>
          <p:cNvPr id="7" name="Rounded Rectangle 6"/>
          <p:cNvSpPr/>
          <p:nvPr/>
        </p:nvSpPr>
        <p:spPr>
          <a:xfrm>
            <a:off x="502920" y="25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0000" y="27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2. What are you allowed to do with the data you use?</a:t>
            </a:r>
          </a:p>
        </p:txBody>
      </p:sp>
      <p:sp>
        <p:nvSpPr>
          <p:cNvPr id="9" name="TextBox 8"/>
          <p:cNvSpPr txBox="1"/>
          <p:nvPr/>
        </p:nvSpPr>
        <p:spPr>
          <a:xfrm>
            <a:off x="700000" y="30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Name the source, licence, attribution requirement and any limits on redistribution.</a:t>
            </a:r>
          </a:p>
        </p:txBody>
      </p:sp>
      <p:sp>
        <p:nvSpPr>
          <p:cNvPr id="10" name="Rounded Rectangle 9"/>
          <p:cNvSpPr/>
          <p:nvPr/>
        </p:nvSpPr>
        <p:spPr>
          <a:xfrm>
            <a:off x="502920" y="382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000" y="397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3. Who may be harmed if the forecast is wrong?</a:t>
            </a:r>
          </a:p>
        </p:txBody>
      </p:sp>
      <p:sp>
        <p:nvSpPr>
          <p:cNvPr id="12" name="TextBox 11"/>
          <p:cNvSpPr txBox="1"/>
          <p:nvPr/>
        </p:nvSpPr>
        <p:spPr>
          <a:xfrm>
            <a:off x="700000" y="434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Describe a specific person or group, not only “users”.</a:t>
            </a:r>
          </a:p>
        </p:txBody>
      </p:sp>
      <p:sp>
        <p:nvSpPr>
          <p:cNvPr id="13" name="Rounded Rectangle 12"/>
          <p:cNvSpPr/>
          <p:nvPr/>
        </p:nvSpPr>
        <p:spPr>
          <a:xfrm>
            <a:off x="502920" y="50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0000" y="52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4. What would change if the service were sold, widely used or connected to a physical switch?</a:t>
            </a:r>
          </a:p>
        </p:txBody>
      </p:sp>
      <p:sp>
        <p:nvSpPr>
          <p:cNvPr id="15" name="TextBox 14"/>
          <p:cNvSpPr txBox="1"/>
          <p:nvPr/>
        </p:nvSpPr>
        <p:spPr>
          <a:xfrm>
            <a:off x="700000" y="56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Choose the question that fits your system best and explain it.</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HOW TO GIVE A USEFUL ANSWER</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Name a person or group, explain the mechanism, and describe the consequence.</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“There are ethical aspects around data privacy” is too general. A clearer answer is: “Before publishing an API, we must decide what request data to log, who can access it and when it is deleted.”</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