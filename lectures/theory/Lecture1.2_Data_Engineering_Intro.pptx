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E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-2400300"/>
            <a:ext cx="6515100" cy="65151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 rot="2700000">
            <a:off x="822960" y="822960"/>
            <a:ext cx="9144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777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Lecture 1.2 · 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need for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engineering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a .csv on your laptop to a platform that keeps running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Mikael Huss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IT-Högskolan, Stockholm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820095" y="598932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20095" y="5989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so far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.csv 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2194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&amp; 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2194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.csv 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14600" y="31089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&amp; transform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86200" y="31089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31089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 in, one artifact out — run by hand, on your laptop.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ML workflow — training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.csv 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2860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&amp; 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2860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9788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7315200" cy="1005840"/>
          </a:xfrm>
          <a:prstGeom prst="roundRect">
            <a:avLst>
              <a:gd name="adj" fmla="val 10909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520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dataset is frozen. The notebook is the pipeline. The model lives in your kernel memory.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ML workflow — inference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2860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2860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2286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quiet assumptions: the new data looks like the old data, and somebody is there to press run.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have we done so far?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Cleaned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43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Written SQL queries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83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Evaluated ML models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1031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03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Visualised 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2743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43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Prototyped in notebooks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338328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83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a static dashboard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210312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103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to a database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2743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743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ML models locally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38328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383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Deployed that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Then a stakeholder shows up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317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reality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2700000">
            <a:off x="1097280" y="261518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560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keeps updating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097280" y="298094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9260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drifts away from the training 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097280" y="334670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291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sources: logs, APIs, events, social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3317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2700000">
            <a:off x="6583680" y="261518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560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scientists need raw-ish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2700000">
            <a:off x="6583680" y="298094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9260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Analysts and BI need modelled tables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6583680" y="334670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2918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need low-latency serving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6583680" y="371246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657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…and nobody wants to install anything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a model trained on the calm 2010s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Swedish inflation, KPIF and KPI, year-on-year change. Train on 2010–2020 and the world looks stable and low.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4640"/>
          <a:ext cx="512064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KPIF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jan-10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sep-16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jan-20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sep-21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E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2296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Källa: SCB via Macrobond (as used in the 2023 edition of this lecture)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20116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24028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2022 happened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468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Energy prices, war in Ukraine and a weak krona pushed Swedish inflation to levels not seen since the early 1990s — far outside anything in the training window.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3796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KPIF peaked at 10.2% in October 2022; the latest reading (June 2026) is 1.3%.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42976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5262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did not break. It kept predicting confidently — with yesterday's idea of "normal".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Drift is not only macro shocks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input distribution moves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tickets, product reviews and web text are increasingly written or rewritten by language models. Your text features from 2022 describe a different internet.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schema moves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upstream team renames a column, changes a unit, or starts sending nulls. Nothing errors — the numbers just quietly get worse.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world moves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2651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changes, a competitor launches, a policy shifts. The relationship your model learned is no longer the relationship that holds.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actually want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 always visualise the current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632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are retrained on up-to-date parameters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233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human runs scripts by hand whenever data changes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Solution: data engineering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06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2700000">
            <a:off x="1097280" y="288950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097280" y="325526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 &amp; logs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097280" y="362102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streams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2700000">
            <a:off x="1097280" y="398678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8A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480560" y="265176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pipelines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056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· monitored · reproducible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8A7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458200" y="237744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606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2700000">
            <a:off x="8732520" y="288950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2700000">
            <a:off x="8732520" y="325526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2700000">
            <a:off x="8732520" y="362102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products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modern data stack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807208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07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807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198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419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&amp; processing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032504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325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0325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&amp; modeling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645152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645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21945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data platform you will meet — however it is branded — is some arrangement of these five layers.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0" y="338328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611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will walk through them one at a time, then look at who sells them.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ingestion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is moved from a source into your storage.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81528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1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081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694176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69417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69417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&amp;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306824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06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3068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&amp; modeling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919472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19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4919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697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3017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Pulled at a set time or in set groupings. Great for large volumes. Not real time.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402336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4251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45720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Pushed as soon as it exists. Near real time. Harder to operate at large volume.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&amp; processing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premise or cloud? Warehouse, lake — or both at once?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plus compute, structured tables, SQL-first. Built for analytics and BI.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4688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0175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Cheap object storage for structured and unstructured data. Behaves like a very large file system.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24688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Lakehouse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0175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table formats (Delta, Iceberg) put warehouse guarantees — transactions, schema, time travel — on top of lake storage.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transformation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raw data into something a human or a model can actually consume.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 errors, inconsistencies and missing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4688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Normalisation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 to a common range so magnitudes compare.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and summarise into a compact form.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97764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Joining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 sources on shared keys.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397764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Derivation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new features from existing columns.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66760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the subset that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modeling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conceptual representation of the structure and relationships in your data — the blueprint for storing, retrieving and analysing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290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Basically: a continuation of the database course.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6309360" y="205740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01168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 modeling — entities and the relationships between them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2700000">
            <a:off x="6309360" y="251460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46888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design — tables, fields, constraints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2700000">
            <a:off x="6309360" y="297180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92608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Normalisation — minimise redundancy and dependency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2700000">
            <a:off x="6309360" y="342900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338328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integrity — rules that keep data valid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2700000">
            <a:off x="6309360" y="388620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84048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flow diagrams — how data moves through the system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consumption layer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interface between your data and the people making decisions with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81528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1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081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694176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69417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69417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&amp;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306824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06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3068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&amp; modeling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919472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19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4919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&amp; BI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Dashboards, reports, self-service SQL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46888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6676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sets, features, batch scoring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97764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products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66360" y="4526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APIs and data shipped back into the product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97764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layer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66760" y="4526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agreed definition of every metric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ELT vs ETL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81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1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081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69417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69417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6941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&amp;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30682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06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3068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&amp; modeling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91947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19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4919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raw, transform in place. Cheap storage makes it the default.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ETL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24688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468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0815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081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081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 &amp; transformation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69417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69417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6941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&amp; processing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430682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306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43068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9360" y="491947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6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919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4919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936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 in flight. Still right when storage is expensive or data must be scrubbed before landing.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this runs: the cloud landscape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S3, Glue, Redshift, Kinesis, EMR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Cloud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BigQuery, Dataflow, Pub/Sub, Dataproc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Azure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ADLS, Data Factory, Synapse, Event Hubs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Databricks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297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Lakehouse platform on top of your own cloud storage: Spark, Delta Lake, Unity Catalog and MLflow in one workspace. Strong when engineering and ML sit in the same team.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Fabric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297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Microsoft's bundled SaaS stack — OneLake storage, pipelines, warehouse, notebooks and Power BI under one subscription. Strong where the organisation already lives in Microsoft 365.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in this conversation: Snowflake, BigQuery-native stacks, dbt, Airflow, Kafka. Learn the layers, not the logos — the mapping is always the same.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22960" y="5029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475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there is more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1097280" y="238658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3317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097280" y="275234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6974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governance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700000">
            <a:off x="1097280" y="311810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0632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2700000">
            <a:off x="1097280" y="348386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429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layers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2700000">
            <a:off x="1097280" y="3849624"/>
            <a:ext cx="5486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7947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 &amp; observability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317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of these is a course of its own. We will meet most of them again later in the programme.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3" name="Shape 1"/>
          <p:cNvSpPr/>
          <p:nvPr/>
        </p:nvSpPr>
        <p:spPr>
          <a:xfrm>
            <a:off x="-2400300" y="3086100"/>
            <a:ext cx="5829300" cy="5829300"/>
          </a:xfrm>
          <a:prstGeom prst="ellipse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That's the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should now understand the journey your data takes — and why someone has to build the road.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Mikael Huss · IT-Högskolan, Stockholm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2026-07-31T08:51:55Z</dcterms:created>
  <dcterms:modified xsi:type="dcterms:W3CDTF">2026-07-31T08:51:55Z</dcterms:modified>
</cp:coreProperties>
</file>