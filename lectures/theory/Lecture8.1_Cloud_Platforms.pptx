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3"/>
  </p:normalViewPr>
  <p:slideViewPr>
    <p:cSldViewPr snapToGrid="0" snapToObjects="1">
      <p:cViewPr varScale="1">
        <p:scale>
          <a:sx n="113" d="100"/>
          <a:sy n="113" d="100"/>
        </p:scale>
        <p:origin x="544"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Oval 1"/>
          <p:cNvSpPr/>
          <p:nvPr/>
        </p:nvSpPr>
        <p:spPr>
          <a:xfrm>
            <a:off x="9449373" y="1178691"/>
            <a:ext cx="103904" cy="10390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445815" y="1752202"/>
            <a:ext cx="88504" cy="8850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121802" y="964532"/>
            <a:ext cx="133184" cy="13318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427979" y="1455523"/>
            <a:ext cx="73554" cy="7355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766862" y="883576"/>
            <a:ext cx="86648" cy="8664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469099" y="1703768"/>
            <a:ext cx="125960" cy="12596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585045" y="2023037"/>
            <a:ext cx="97623" cy="97623"/>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399146" y="1001111"/>
            <a:ext cx="125454" cy="12545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8993342" y="529384"/>
            <a:ext cx="123792" cy="123792"/>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0403517" y="1994282"/>
            <a:ext cx="167757" cy="167757"/>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9805447" y="1478352"/>
            <a:ext cx="81870" cy="8187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0759435" y="995359"/>
            <a:ext cx="94780" cy="9478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8987281" y="688225"/>
            <a:ext cx="78869" cy="7886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180324" y="1036836"/>
            <a:ext cx="97050" cy="9705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181318" y="942685"/>
            <a:ext cx="171931" cy="17193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0129998" y="2014142"/>
            <a:ext cx="83538" cy="8353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084758" y="2043658"/>
            <a:ext cx="141519" cy="14151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103586" y="485898"/>
            <a:ext cx="116631" cy="11663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9479348" y="776840"/>
            <a:ext cx="86808" cy="8680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9796170" y="1064574"/>
            <a:ext cx="101668" cy="10166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807777" y="1413557"/>
            <a:ext cx="166414" cy="16641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0871487" y="1405643"/>
            <a:ext cx="113710" cy="11371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1157097" y="1434917"/>
            <a:ext cx="110922" cy="110922"/>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0181353" y="1639713"/>
            <a:ext cx="154316" cy="154316"/>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0978688" y="2014610"/>
            <a:ext cx="152469" cy="15246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1245437" y="1671030"/>
            <a:ext cx="139517" cy="139517"/>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9476017" y="711494"/>
            <a:ext cx="125785" cy="125785"/>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640080" y="640080"/>
            <a:ext cx="3450000" cy="400000"/>
          </a:xfrm>
          <a:prstGeom prst="roundRect">
            <a:avLst>
              <a:gd name="adj" fmla="val 50000"/>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Calibri"/>
              </a:rPr>
              <a:t>DATA ENGINEERING · WEEK 5</a:t>
            </a:r>
          </a:p>
        </p:txBody>
      </p:sp>
      <p:sp>
        <p:nvSpPr>
          <p:cNvPr id="30" name="TextBox 29"/>
          <p:cNvSpPr txBox="1"/>
          <p:nvPr/>
        </p:nvSpPr>
        <p:spPr>
          <a:xfrm>
            <a:off x="640080" y="1600200"/>
            <a:ext cx="9601200" cy="1938992"/>
          </a:xfrm>
          <a:prstGeom prst="rect">
            <a:avLst/>
          </a:prstGeom>
          <a:noFill/>
        </p:spPr>
        <p:txBody>
          <a:bodyPr wrap="square" lIns="0" tIns="0" rIns="0" bIns="0">
            <a:spAutoFit/>
          </a:bodyPr>
          <a:lstStyle/>
          <a:p>
            <a:pPr algn="l">
              <a:spcAft>
                <a:spcPts val="0"/>
              </a:spcAft>
            </a:pPr>
            <a:r>
              <a:rPr sz="4000" b="0">
                <a:solidFill>
                  <a:srgbClr val="FFFFFF"/>
                </a:solidFill>
                <a:latin typeface="Calibri"/>
              </a:rPr>
              <a:t>Cloud platforms</a:t>
            </a:r>
          </a:p>
        </p:txBody>
      </p:sp>
      <p:sp>
        <p:nvSpPr>
          <p:cNvPr id="31" name="TextBox 30"/>
          <p:cNvSpPr txBox="1"/>
          <p:nvPr/>
        </p:nvSpPr>
        <p:spPr>
          <a:xfrm>
            <a:off x="640080" y="4200000"/>
            <a:ext cx="9601200" cy="323165"/>
          </a:xfrm>
          <a:prstGeom prst="rect">
            <a:avLst/>
          </a:prstGeom>
          <a:noFill/>
        </p:spPr>
        <p:txBody>
          <a:bodyPr wrap="square" lIns="0" tIns="0" rIns="0" bIns="0">
            <a:spAutoFit/>
          </a:bodyPr>
          <a:lstStyle/>
          <a:p>
            <a:pPr algn="l">
              <a:spcAft>
                <a:spcPts val="0"/>
              </a:spcAft>
            </a:pPr>
            <a:r>
              <a:rPr sz="1500" b="0">
                <a:solidFill>
                  <a:srgbClr val="CADCFC"/>
                </a:solidFill>
                <a:latin typeface="Calibri"/>
              </a:rPr>
              <a:t>Data engineering och Agila metoder — IT Högskolan · Tue 8/9</a:t>
            </a:r>
          </a:p>
        </p:txBody>
      </p:sp>
      <p:sp>
        <p:nvSpPr>
          <p:cNvPr id="32" name="TextBox 31"/>
          <p:cNvSpPr txBox="1"/>
          <p:nvPr/>
        </p:nvSpPr>
        <p:spPr>
          <a:xfrm>
            <a:off x="640080" y="4750000"/>
            <a:ext cx="9601200" cy="300000"/>
          </a:xfrm>
          <a:prstGeom prst="rect">
            <a:avLst/>
          </a:prstGeom>
          <a:noFill/>
        </p:spPr>
        <p:txBody>
          <a:bodyPr wrap="square" lIns="0" tIns="0" rIns="0" bIns="0">
            <a:spAutoFit/>
          </a:bodyPr>
          <a:lstStyle/>
          <a:p>
            <a:pPr algn="l">
              <a:spcAft>
                <a:spcPts val="0"/>
              </a:spcAft>
            </a:pPr>
            <a:r>
              <a:rPr sz="1200" b="0">
                <a:solidFill>
                  <a:srgbClr val="CADCFC"/>
                </a:solidFill>
                <a:latin typeface="Calibri"/>
              </a:rPr>
              <a:t>Mikael Huss  ·  IT Högskolan</a:t>
            </a:r>
          </a:p>
        </p:txBody>
      </p:sp>
      <p:sp>
        <p:nvSpPr>
          <p:cNvPr id="33" name="TextBox 32"/>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CADCFC"/>
                </a:solidFill>
                <a:latin typeface="Calibri"/>
              </a:rPr>
              <a:t>Data Engineering och Agila metoder · Week 5</a:t>
            </a:r>
          </a:p>
        </p:txBody>
      </p:sp>
      <p:sp>
        <p:nvSpPr>
          <p:cNvPr id="34" name="TextBox 33"/>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CADCFC"/>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bIns="0" lIns="0" rIns="0" tIns="0" wrap="square">
            <a:spAutoFit/>
          </a:bodyPr>
          <a:lstStyle/>
          <a:p>
            <a:pPr algn="l">
              <a:spcAft>
                <a:spcPts val="0"/>
              </a:spcAft>
            </a:pPr>
            <a:r>
              <a:rPr b="1" sz="1200">
                <a:solidFill>
                  <a:srgbClr val="F2994A"/>
                </a:solidFill>
                <a:latin typeface="Calibri"/>
              </a:rPr>
              <a:t>TODAY</a:t>
            </a:r>
          </a:p>
        </p:txBody>
      </p:sp>
      <p:sp>
        <p:nvSpPr>
          <p:cNvPr id="3" name="TextBox 2"/>
          <p:cNvSpPr txBox="1"/>
          <p:nvPr/>
        </p:nvSpPr>
        <p:spPr>
          <a:xfrm>
            <a:off x="502920" y="560000"/>
            <a:ext cx="10800000" cy="700000"/>
          </a:xfrm>
          <a:prstGeom prst="rect">
            <a:avLst/>
          </a:prstGeom>
          <a:noFill/>
        </p:spPr>
        <p:txBody>
          <a:bodyPr bIns="0" lIns="0" rIns="0" tIns="0" wrap="square">
            <a:spAutoFit/>
          </a:bodyPr>
          <a:lstStyle/>
          <a:p>
            <a:pPr algn="l">
              <a:spcAft>
                <a:spcPts val="0"/>
              </a:spcAft>
            </a:pPr>
            <a:r>
              <a:rPr b="1" sz="2600">
                <a:solidFill>
                  <a:srgbClr val="1E2761"/>
                </a:solidFill>
                <a:latin typeface="Calibri"/>
              </a:rPr>
              <a:t>What we will do</a:t>
            </a:r>
          </a:p>
        </p:txBody>
      </p:sp>
      <p:sp>
        <p:nvSpPr>
          <p:cNvPr id="4" name="TextBox 3"/>
          <p:cNvSpPr txBox="1"/>
          <p:nvPr/>
        </p:nvSpPr>
        <p:spPr>
          <a:xfrm>
            <a:off x="502920" y="1500000"/>
            <a:ext cx="10800000" cy="4200000"/>
          </a:xfrm>
          <a:prstGeom prst="rect">
            <a:avLst/>
          </a:prstGeom>
          <a:noFill/>
        </p:spPr>
        <p:txBody>
          <a:bodyPr bIns="0" lIns="0" rIns="0" tIns="0" wrap="square">
            <a:spAutoFit/>
          </a:bodyPr>
          <a:lstStyle/>
          <a:p>
            <a:pPr algn="l">
              <a:spcAft>
                <a:spcPts val="200"/>
              </a:spcAft>
            </a:pPr>
            <a:r>
              <a:rPr b="1" sz="1600">
                <a:solidFill>
                  <a:srgbClr val="44506B"/>
                </a:solidFill>
                <a:latin typeface="Calibri"/>
              </a:rPr>
              <a:t>•  Block 1</a:t>
            </a:r>
          </a:p>
          <a:p>
            <a:pPr algn="l">
              <a:spcAft>
                <a:spcPts val="200"/>
              </a:spcAft>
            </a:pPr>
            <a:r>
              <a:rPr b="0" sz="1600">
                <a:solidFill>
                  <a:srgbClr val="44506B"/>
                </a:solidFill>
                <a:latin typeface="Calibri"/>
              </a:rPr>
              <a:t xml:space="preserve">     Cloud platforms: service types, costs, and the services used in this course.</a:t>
            </a:r>
          </a:p>
          <a:p>
            <a:pPr algn="l">
              <a:spcAft>
                <a:spcPts val="200"/>
              </a:spcAft>
            </a:pPr>
            <a:endParaRPr b="0" sz="1600">
              <a:solidFill>
                <a:srgbClr val="44506B"/>
              </a:solidFill>
              <a:latin typeface="Calibri"/>
            </a:endParaRPr>
          </a:p>
          <a:p>
            <a:pPr algn="l">
              <a:spcAft>
                <a:spcPts val="200"/>
              </a:spcAft>
            </a:pPr>
            <a:r>
              <a:rPr b="1" sz="1600">
                <a:solidFill>
                  <a:srgbClr val="44506B"/>
                </a:solidFill>
                <a:latin typeface="Calibri"/>
              </a:rPr>
              <a:t>•  10:20–11:00</a:t>
            </a:r>
          </a:p>
          <a:p>
            <a:pPr algn="l">
              <a:spcAft>
                <a:spcPts val="200"/>
              </a:spcAft>
            </a:pPr>
            <a:r>
              <a:rPr b="0" sz="1600">
                <a:solidFill>
                  <a:srgbClr val="44506B"/>
                </a:solidFill>
                <a:latin typeface="Calibri"/>
              </a:rPr>
              <a:t xml:space="preserve">     Compare the prices your teams looked up yesterday.</a:t>
            </a:r>
          </a:p>
          <a:p>
            <a:pPr algn="l">
              <a:spcAft>
                <a:spcPts val="200"/>
              </a:spcAft>
            </a:pPr>
            <a:endParaRPr b="0" sz="1600">
              <a:solidFill>
                <a:srgbClr val="44506B"/>
              </a:solidFill>
              <a:latin typeface="Calibri"/>
            </a:endParaRPr>
          </a:p>
          <a:p>
            <a:pPr algn="l">
              <a:spcAft>
                <a:spcPts val="200"/>
              </a:spcAft>
            </a:pPr>
            <a:r>
              <a:rPr b="1" sz="1600">
                <a:solidFill>
                  <a:srgbClr val="44506B"/>
                </a:solidFill>
                <a:latin typeface="Calibri"/>
              </a:rPr>
              <a:t>•  11:00–11:40</a:t>
            </a:r>
          </a:p>
          <a:p>
            <a:pPr algn="l">
              <a:spcAft>
                <a:spcPts val="200"/>
              </a:spcAft>
            </a:pPr>
            <a:r>
              <a:rPr b="0" sz="1600">
                <a:solidFill>
                  <a:srgbClr val="44506B"/>
                </a:solidFill>
                <a:latin typeface="Calibri"/>
              </a:rPr>
              <a:t xml:space="preserve">     Docker and Kubernetes: the concepts you need to understand.</a:t>
            </a:r>
          </a:p>
          <a:p>
            <a:pPr algn="l">
              <a:spcAft>
                <a:spcPts val="200"/>
              </a:spcAft>
            </a:pPr>
            <a:endParaRPr b="0" sz="1600">
              <a:solidFill>
                <a:srgbClr val="44506B"/>
              </a:solidFill>
              <a:latin typeface="Calibri"/>
            </a:endParaRPr>
          </a:p>
          <a:p>
            <a:pPr algn="l">
              <a:spcAft>
                <a:spcPts val="200"/>
              </a:spcAft>
            </a:pPr>
            <a:r>
              <a:rPr b="1" sz="1600">
                <a:solidFill>
                  <a:srgbClr val="44506B"/>
                </a:solidFill>
                <a:latin typeface="Calibri"/>
              </a:rPr>
              <a:t>•  13:00</a:t>
            </a:r>
          </a:p>
          <a:p>
            <a:pPr algn="l">
              <a:spcAft>
                <a:spcPts val="200"/>
              </a:spcAft>
            </a:pPr>
            <a:r>
              <a:rPr b="0" sz="1600">
                <a:solidFill>
                  <a:srgbClr val="44506B"/>
                </a:solidFill>
                <a:latin typeface="Calibri"/>
              </a:rPr>
              <a:t xml:space="preserve">     Studio. Sprint 1 ends on Thursday.</a:t>
            </a:r>
          </a:p>
          <a:p>
            <a:pPr algn="l">
              <a:spcAft>
                <a:spcPts val="200"/>
              </a:spcAft>
            </a:pPr>
            <a:endParaRPr b="0" sz="1600">
              <a:solidFill>
                <a:srgbClr val="44506B"/>
              </a:solidFill>
              <a:latin typeface="Calibri"/>
            </a:endParaRPr>
          </a:p>
        </p:txBody>
      </p:sp>
      <p:sp>
        <p:nvSpPr>
          <p:cNvPr id="5" name="TextBox 4"/>
          <p:cNvSpPr txBox="1"/>
          <p:nvPr/>
        </p:nvSpPr>
        <p:spPr>
          <a:xfrm>
            <a:off x="502920" y="6510528"/>
            <a:ext cx="4572000" cy="274320"/>
          </a:xfrm>
          <a:prstGeom prst="rect">
            <a:avLst/>
          </a:prstGeom>
          <a:noFill/>
        </p:spPr>
        <p:txBody>
          <a:bodyPr bIns="0" lIns="0" rIns="0" tIns="0" wrap="square">
            <a:spAutoFit/>
          </a:bodyPr>
          <a:lstStyle/>
          <a:p>
            <a:pPr algn="l">
              <a:spcAft>
                <a:spcPts val="0"/>
              </a:spcAft>
            </a:pPr>
            <a:r>
              <a:rPr b="0" sz="900">
                <a:solidFill>
                  <a:srgbClr val="9AA6C4"/>
                </a:solidFill>
                <a:latin typeface="Calibri"/>
              </a:rPr>
              <a:t>Data Engineering och Agila metoder · Week 5</a:t>
            </a:r>
          </a:p>
        </p:txBody>
      </p:sp>
      <p:sp>
        <p:nvSpPr>
          <p:cNvPr id="6" name="TextBox 5"/>
          <p:cNvSpPr txBox="1"/>
          <p:nvPr/>
        </p:nvSpPr>
        <p:spPr>
          <a:xfrm>
            <a:off x="11475720" y="6510528"/>
            <a:ext cx="548640" cy="274320"/>
          </a:xfrm>
          <a:prstGeom prst="rect">
            <a:avLst/>
          </a:prstGeom>
          <a:noFill/>
        </p:spPr>
        <p:txBody>
          <a:bodyPr bIns="0" lIns="0" rIns="0" tIns="0" wrap="square">
            <a:spAutoFit/>
          </a:bodyPr>
          <a:lstStyle/>
          <a:p>
            <a:pPr algn="r">
              <a:spcAft>
                <a:spcPts val="0"/>
              </a:spcAft>
            </a:pPr>
            <a:r>
              <a:rPr b="0" sz="900">
                <a:solidFill>
                  <a:srgbClr val="9AA6C4"/>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a:xfrm>
          <a:off x="0" y="0"/>
          <a:ext cx="0" cy="0"/>
          <a:chOff x="0" y="0"/>
          <a:chExt cx="0" cy="0"/>
        </a:xfrm>
      </p:grpSpPr>
      <p:sp>
        <p:nvSpPr>
          <p:cNvPr id="2" name="Oval 1"/>
          <p:cNvSpPr/>
          <p:nvPr/>
        </p:nvSpPr>
        <p:spPr>
          <a:xfrm>
            <a:off x="8808604" y="1341057"/>
            <a:ext cx="114633" cy="114633"/>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3" name="Oval 2"/>
          <p:cNvSpPr/>
          <p:nvPr/>
        </p:nvSpPr>
        <p:spPr>
          <a:xfrm>
            <a:off x="9422344" y="536579"/>
            <a:ext cx="171745" cy="171745"/>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4" name="Oval 3"/>
          <p:cNvSpPr/>
          <p:nvPr/>
        </p:nvSpPr>
        <p:spPr>
          <a:xfrm>
            <a:off x="9516013" y="690057"/>
            <a:ext cx="135532" cy="135532"/>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5" name="Oval 4"/>
          <p:cNvSpPr/>
          <p:nvPr/>
        </p:nvSpPr>
        <p:spPr>
          <a:xfrm>
            <a:off x="10153531" y="1723602"/>
            <a:ext cx="155689" cy="15568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6" name="Oval 5"/>
          <p:cNvSpPr/>
          <p:nvPr/>
        </p:nvSpPr>
        <p:spPr>
          <a:xfrm>
            <a:off x="9708672" y="1291119"/>
            <a:ext cx="128181" cy="12818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7" name="Oval 6"/>
          <p:cNvSpPr/>
          <p:nvPr/>
        </p:nvSpPr>
        <p:spPr>
          <a:xfrm>
            <a:off x="11305821" y="1844207"/>
            <a:ext cx="87847" cy="87847"/>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8" name="Oval 7"/>
          <p:cNvSpPr/>
          <p:nvPr/>
        </p:nvSpPr>
        <p:spPr>
          <a:xfrm>
            <a:off x="11025017" y="1982291"/>
            <a:ext cx="146110" cy="14611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9" name="Oval 8"/>
          <p:cNvSpPr/>
          <p:nvPr/>
        </p:nvSpPr>
        <p:spPr>
          <a:xfrm>
            <a:off x="9903211" y="704183"/>
            <a:ext cx="163812" cy="163812"/>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10" name="Oval 9"/>
          <p:cNvSpPr/>
          <p:nvPr/>
        </p:nvSpPr>
        <p:spPr>
          <a:xfrm>
            <a:off x="10507516" y="1518591"/>
            <a:ext cx="172463" cy="172463"/>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11" name="Oval 10"/>
          <p:cNvSpPr/>
          <p:nvPr/>
        </p:nvSpPr>
        <p:spPr>
          <a:xfrm>
            <a:off x="9512884" y="519628"/>
            <a:ext cx="89400" cy="8940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12" name="Oval 11"/>
          <p:cNvSpPr/>
          <p:nvPr/>
        </p:nvSpPr>
        <p:spPr>
          <a:xfrm>
            <a:off x="8747085" y="1071458"/>
            <a:ext cx="88639" cy="8863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13" name="Oval 12"/>
          <p:cNvSpPr/>
          <p:nvPr/>
        </p:nvSpPr>
        <p:spPr>
          <a:xfrm>
            <a:off x="10880888" y="1022708"/>
            <a:ext cx="128173" cy="128173"/>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14" name="Oval 13"/>
          <p:cNvSpPr/>
          <p:nvPr/>
        </p:nvSpPr>
        <p:spPr>
          <a:xfrm>
            <a:off x="11027890" y="2016540"/>
            <a:ext cx="84950" cy="8495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15" name="Oval 14"/>
          <p:cNvSpPr/>
          <p:nvPr/>
        </p:nvSpPr>
        <p:spPr>
          <a:xfrm>
            <a:off x="11110742" y="1805183"/>
            <a:ext cx="151624" cy="15162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16" name="Oval 15"/>
          <p:cNvSpPr/>
          <p:nvPr/>
        </p:nvSpPr>
        <p:spPr>
          <a:xfrm>
            <a:off x="10978228" y="879065"/>
            <a:ext cx="75219" cy="7521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17" name="Oval 16"/>
          <p:cNvSpPr/>
          <p:nvPr/>
        </p:nvSpPr>
        <p:spPr>
          <a:xfrm>
            <a:off x="9100179" y="1586134"/>
            <a:ext cx="121054" cy="12105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18" name="Oval 17"/>
          <p:cNvSpPr/>
          <p:nvPr/>
        </p:nvSpPr>
        <p:spPr>
          <a:xfrm>
            <a:off x="8892466" y="726537"/>
            <a:ext cx="72171" cy="7217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19" name="Oval 18"/>
          <p:cNvSpPr/>
          <p:nvPr/>
        </p:nvSpPr>
        <p:spPr>
          <a:xfrm>
            <a:off x="11078381" y="1223792"/>
            <a:ext cx="130310" cy="13031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20" name="Oval 19"/>
          <p:cNvSpPr/>
          <p:nvPr/>
        </p:nvSpPr>
        <p:spPr>
          <a:xfrm>
            <a:off x="11494847" y="1372703"/>
            <a:ext cx="127064" cy="12706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21" name="Oval 20"/>
          <p:cNvSpPr/>
          <p:nvPr/>
        </p:nvSpPr>
        <p:spPr>
          <a:xfrm>
            <a:off x="10237015" y="1345564"/>
            <a:ext cx="158962" cy="158962"/>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22" name="Oval 21"/>
          <p:cNvSpPr/>
          <p:nvPr/>
        </p:nvSpPr>
        <p:spPr>
          <a:xfrm>
            <a:off x="8804006" y="1179807"/>
            <a:ext cx="96363" cy="96363"/>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23" name="Oval 22"/>
          <p:cNvSpPr/>
          <p:nvPr/>
        </p:nvSpPr>
        <p:spPr>
          <a:xfrm>
            <a:off x="8849720" y="893700"/>
            <a:ext cx="103149" cy="10314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24" name="Oval 23"/>
          <p:cNvSpPr/>
          <p:nvPr/>
        </p:nvSpPr>
        <p:spPr>
          <a:xfrm>
            <a:off x="10099364" y="1674942"/>
            <a:ext cx="146518" cy="14651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25" name="Oval 24"/>
          <p:cNvSpPr/>
          <p:nvPr/>
        </p:nvSpPr>
        <p:spPr>
          <a:xfrm>
            <a:off x="9042547" y="1263509"/>
            <a:ext cx="89841" cy="8984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26" name="Oval 25"/>
          <p:cNvSpPr/>
          <p:nvPr/>
        </p:nvSpPr>
        <p:spPr>
          <a:xfrm>
            <a:off x="10689213" y="818860"/>
            <a:ext cx="98103" cy="98103"/>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27" name="Oval 26"/>
          <p:cNvSpPr/>
          <p:nvPr/>
        </p:nvSpPr>
        <p:spPr>
          <a:xfrm>
            <a:off x="11008894" y="1131645"/>
            <a:ext cx="146072" cy="146072"/>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28" name="Oval 27"/>
          <p:cNvSpPr/>
          <p:nvPr/>
        </p:nvSpPr>
        <p:spPr>
          <a:xfrm>
            <a:off x="9507176" y="1020854"/>
            <a:ext cx="119383" cy="119383"/>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29" name="TextBox 28"/>
          <p:cNvSpPr txBox="1"/>
          <p:nvPr/>
        </p:nvSpPr>
        <p:spPr>
          <a:xfrm>
            <a:off x="640080" y="3200000"/>
            <a:ext cx="10000000" cy="1000000"/>
          </a:xfrm>
          <a:prstGeom prst="rect">
            <a:avLst/>
          </a:prstGeom>
          <a:noFill/>
        </p:spPr>
        <p:txBody>
          <a:bodyPr bIns="0" lIns="0" rIns="0" tIns="0" wrap="square">
            <a:spAutoFit/>
          </a:bodyPr>
          <a:lstStyle/>
          <a:p>
            <a:pPr algn="l">
              <a:spcAft>
                <a:spcPts val="0"/>
              </a:spcAft>
            </a:pPr>
            <a:r>
              <a:rPr b="1" sz="3400">
                <a:solidFill>
                  <a:srgbClr val="FFFFFF"/>
                </a:solidFill>
                <a:latin typeface="Calibri"/>
              </a:rPr>
              <a:t>Part 1 — Cloud platforms</a:t>
            </a:r>
          </a:p>
        </p:txBody>
      </p:sp>
      <p:sp>
        <p:nvSpPr>
          <p:cNvPr id="30" name="TextBox 29"/>
          <p:cNvSpPr txBox="1"/>
          <p:nvPr/>
        </p:nvSpPr>
        <p:spPr>
          <a:xfrm>
            <a:off x="640080" y="4250000"/>
            <a:ext cx="9500000" cy="900000"/>
          </a:xfrm>
          <a:prstGeom prst="rect">
            <a:avLst/>
          </a:prstGeom>
          <a:noFill/>
        </p:spPr>
        <p:txBody>
          <a:bodyPr bIns="0" lIns="0" rIns="0" tIns="0" wrap="square">
            <a:spAutoFit/>
          </a:bodyPr>
          <a:lstStyle/>
          <a:p>
            <a:pPr algn="l">
              <a:spcAft>
                <a:spcPts val="0"/>
              </a:spcAft>
            </a:pPr>
            <a:r>
              <a:rPr b="0" sz="1500">
                <a:solidFill>
                  <a:srgbClr val="CADCFC"/>
                </a:solidFill>
                <a:latin typeface="Calibri"/>
              </a:rPr>
              <a:t>You have used cloud services in this course. Today we describe what they are.</a:t>
            </a:r>
          </a:p>
        </p:txBody>
      </p:sp>
      <p:sp>
        <p:nvSpPr>
          <p:cNvPr id="31" name="TextBox 30"/>
          <p:cNvSpPr txBox="1"/>
          <p:nvPr/>
        </p:nvSpPr>
        <p:spPr>
          <a:xfrm>
            <a:off x="502920" y="6510528"/>
            <a:ext cx="4572000" cy="274320"/>
          </a:xfrm>
          <a:prstGeom prst="rect">
            <a:avLst/>
          </a:prstGeom>
          <a:noFill/>
        </p:spPr>
        <p:txBody>
          <a:bodyPr bIns="0" lIns="0" rIns="0" tIns="0" wrap="square">
            <a:spAutoFit/>
          </a:bodyPr>
          <a:lstStyle/>
          <a:p>
            <a:pPr algn="l">
              <a:spcAft>
                <a:spcPts val="0"/>
              </a:spcAft>
            </a:pPr>
            <a:r>
              <a:rPr b="0" sz="900">
                <a:solidFill>
                  <a:srgbClr val="CADCFC"/>
                </a:solidFill>
                <a:latin typeface="Calibri"/>
              </a:rPr>
              <a:t>Data Engineering och Agila metoder · Week 5</a:t>
            </a:r>
          </a:p>
        </p:txBody>
      </p:sp>
      <p:sp>
        <p:nvSpPr>
          <p:cNvPr id="32" name="TextBox 31"/>
          <p:cNvSpPr txBox="1"/>
          <p:nvPr/>
        </p:nvSpPr>
        <p:spPr>
          <a:xfrm>
            <a:off x="11475720" y="6510528"/>
            <a:ext cx="548640" cy="274320"/>
          </a:xfrm>
          <a:prstGeom prst="rect">
            <a:avLst/>
          </a:prstGeom>
          <a:noFill/>
        </p:spPr>
        <p:txBody>
          <a:bodyPr bIns="0" lIns="0" rIns="0" tIns="0" wrap="square">
            <a:spAutoFit/>
          </a:bodyPr>
          <a:lstStyle/>
          <a:p>
            <a:pPr algn="r">
              <a:spcAft>
                <a:spcPts val="0"/>
              </a:spcAft>
            </a:pPr>
            <a:r>
              <a:rPr b="0" sz="900">
                <a:solidFill>
                  <a:srgbClr val="CADCFC"/>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bIns="0" lIns="0" rIns="0" tIns="0" wrap="square">
            <a:spAutoFit/>
          </a:bodyPr>
          <a:lstStyle/>
          <a:p>
            <a:pPr algn="l">
              <a:spcAft>
                <a:spcPts val="0"/>
              </a:spcAft>
            </a:pPr>
            <a:r>
              <a:rPr b="1" sz="1200">
                <a:solidFill>
                  <a:srgbClr val="F2994A"/>
                </a:solidFill>
                <a:latin typeface="Calibri"/>
              </a:rPr>
              <a:t>CLOUD SERVICES IN THE COURSE</a:t>
            </a:r>
          </a:p>
        </p:txBody>
      </p:sp>
      <p:sp>
        <p:nvSpPr>
          <p:cNvPr id="3" name="TextBox 2"/>
          <p:cNvSpPr txBox="1"/>
          <p:nvPr/>
        </p:nvSpPr>
        <p:spPr>
          <a:xfrm>
            <a:off x="502920" y="2300000"/>
            <a:ext cx="11000000" cy="2000000"/>
          </a:xfrm>
          <a:prstGeom prst="rect">
            <a:avLst/>
          </a:prstGeom>
          <a:noFill/>
        </p:spPr>
        <p:txBody>
          <a:bodyPr bIns="0" lIns="0" rIns="0" tIns="0" wrap="square">
            <a:spAutoFit/>
          </a:bodyPr>
          <a:lstStyle/>
          <a:p>
            <a:pPr algn="l">
              <a:spcAft>
                <a:spcPts val="0"/>
              </a:spcAft>
            </a:pPr>
            <a:r>
              <a:rPr b="1" sz="3000">
                <a:solidFill>
                  <a:srgbClr val="1E2761"/>
                </a:solidFill>
                <a:latin typeface="Calibri"/>
              </a:rPr>
              <a:t>You are already using cloud services.</a:t>
            </a:r>
          </a:p>
        </p:txBody>
      </p:sp>
      <p:sp>
        <p:nvSpPr>
          <p:cNvPr id="4" name="TextBox 3"/>
          <p:cNvSpPr txBox="1"/>
          <p:nvPr/>
        </p:nvSpPr>
        <p:spPr>
          <a:xfrm>
            <a:off x="502920" y="4400000"/>
            <a:ext cx="10800000" cy="692497"/>
          </a:xfrm>
          <a:prstGeom prst="rect">
            <a:avLst/>
          </a:prstGeom>
          <a:noFill/>
        </p:spPr>
        <p:txBody>
          <a:bodyPr bIns="0" lIns="0" rIns="0" tIns="0" wrap="square">
            <a:spAutoFit/>
          </a:bodyPr>
          <a:lstStyle/>
          <a:p>
            <a:pPr algn="l">
              <a:spcAft>
                <a:spcPts val="0"/>
              </a:spcAft>
            </a:pPr>
            <a:r>
              <a:rPr b="0" dirty="0" sz="1500">
                <a:solidFill>
                  <a:srgbClr val="44506B"/>
                </a:solidFill>
                <a:latin typeface="Calibri"/>
              </a:rPr>
              <a:t>Neon hosts your database. GitHub Actions runs scheduled workflows. Render will run your API. Hugging Face will store your model. These services use hardware managed by someone else. Today we look at service types, likely costs, and how to explain a choice.</a:t>
            </a:r>
            <a:r>
              <a:rPr b="0" dirty="0" err="1" lang="sv-SE" sz="1500">
                <a:solidFill>
                  <a:srgbClr val="44506B"/>
                </a:solidFill>
                <a:latin typeface="Calibri"/>
              </a:rPr>
              <a:t/>
            </a:r>
            <a:r>
              <a:rPr b="0" dirty="0" lang="sv-SE" sz="1500">
                <a:solidFill>
                  <a:srgbClr val="44506B"/>
                </a:solidFill>
                <a:latin typeface="Calibri"/>
              </a:rPr>
              <a:t/>
            </a:r>
            <a:r>
              <a:rPr b="0" dirty="0" sz="1500">
                <a:solidFill>
                  <a:srgbClr val="44506B"/>
                </a:solidFill>
                <a:latin typeface="Calibri"/>
              </a:rPr>
              <a:t/>
            </a:r>
            <a:r>
              <a:rPr b="0" dirty="0" err="1" lang="sv-SE" sz="1500">
                <a:solidFill>
                  <a:srgbClr val="44506B"/>
                </a:solidFill>
                <a:latin typeface="Calibri"/>
              </a:rPr>
              <a:t/>
            </a:r>
            <a:r>
              <a:rPr b="0" dirty="0" lang="sv-SE" sz="1500">
                <a:solidFill>
                  <a:srgbClr val="44506B"/>
                </a:solidFill>
                <a:latin typeface="Calibri"/>
              </a:rPr>
              <a:t/>
            </a:r>
            <a:r>
              <a:rPr b="0" dirty="0" sz="1500">
                <a:solidFill>
                  <a:srgbClr val="44506B"/>
                </a:solidFill>
                <a:latin typeface="Calibri"/>
              </a:rPr>
              <a:t/>
            </a:r>
          </a:p>
        </p:txBody>
      </p:sp>
      <p:sp>
        <p:nvSpPr>
          <p:cNvPr id="5" name="TextBox 4"/>
          <p:cNvSpPr txBox="1"/>
          <p:nvPr/>
        </p:nvSpPr>
        <p:spPr>
          <a:xfrm>
            <a:off x="502920" y="6510528"/>
            <a:ext cx="4572000" cy="274320"/>
          </a:xfrm>
          <a:prstGeom prst="rect">
            <a:avLst/>
          </a:prstGeom>
          <a:noFill/>
        </p:spPr>
        <p:txBody>
          <a:bodyPr bIns="0" lIns="0" rIns="0" tIns="0" wrap="square">
            <a:spAutoFit/>
          </a:bodyPr>
          <a:lstStyle/>
          <a:p>
            <a:pPr algn="l">
              <a:spcAft>
                <a:spcPts val="0"/>
              </a:spcAft>
            </a:pPr>
            <a:r>
              <a:rPr b="0" sz="900">
                <a:solidFill>
                  <a:srgbClr val="9AA6C4"/>
                </a:solidFill>
                <a:latin typeface="Calibri"/>
              </a:rPr>
              <a:t>Data Engineering och Agila metoder · Week 5</a:t>
            </a:r>
          </a:p>
        </p:txBody>
      </p:sp>
      <p:sp>
        <p:nvSpPr>
          <p:cNvPr id="6" name="TextBox 5"/>
          <p:cNvSpPr txBox="1"/>
          <p:nvPr/>
        </p:nvSpPr>
        <p:spPr>
          <a:xfrm>
            <a:off x="11475720" y="6510528"/>
            <a:ext cx="548640" cy="274320"/>
          </a:xfrm>
          <a:prstGeom prst="rect">
            <a:avLst/>
          </a:prstGeom>
          <a:noFill/>
        </p:spPr>
        <p:txBody>
          <a:bodyPr bIns="0" lIns="0" rIns="0" tIns="0" wrap="square">
            <a:spAutoFit/>
          </a:bodyPr>
          <a:lstStyle/>
          <a:p>
            <a:pPr algn="r">
              <a:spcAft>
                <a:spcPts val="0"/>
              </a:spcAft>
            </a:pPr>
            <a:r>
              <a:rPr b="0" sz="900">
                <a:solidFill>
                  <a:srgbClr val="9AA6C4"/>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bIns="0" lIns="0" rIns="0" tIns="0" wrap="square">
            <a:spAutoFit/>
          </a:bodyPr>
          <a:lstStyle/>
          <a:p>
            <a:pPr algn="l">
              <a:spcAft>
                <a:spcPts val="0"/>
              </a:spcAft>
            </a:pPr>
            <a:r>
              <a:rPr b="1" sz="1200">
                <a:solidFill>
                  <a:srgbClr val="F2994A"/>
                </a:solidFill>
                <a:latin typeface="Calibri"/>
              </a:rPr>
              <a:t>THE MAP</a:t>
            </a:r>
          </a:p>
        </p:txBody>
      </p:sp>
      <p:sp>
        <p:nvSpPr>
          <p:cNvPr id="3" name="TextBox 2"/>
          <p:cNvSpPr txBox="1"/>
          <p:nvPr/>
        </p:nvSpPr>
        <p:spPr>
          <a:xfrm>
            <a:off x="502920" y="560000"/>
            <a:ext cx="10800000" cy="700000"/>
          </a:xfrm>
          <a:prstGeom prst="rect">
            <a:avLst/>
          </a:prstGeom>
          <a:noFill/>
        </p:spPr>
        <p:txBody>
          <a:bodyPr bIns="0" lIns="0" rIns="0" tIns="0" wrap="square">
            <a:spAutoFit/>
          </a:bodyPr>
          <a:lstStyle/>
          <a:p>
            <a:pPr algn="l">
              <a:spcAft>
                <a:spcPts val="0"/>
              </a:spcAft>
            </a:pPr>
            <a:r>
              <a:rPr b="1" sz="2600">
                <a:solidFill>
                  <a:srgbClr val="1E2761"/>
                </a:solidFill>
                <a:latin typeface="Calibri"/>
              </a:rPr>
              <a:t>The same roles have different names at each provider</a:t>
            </a:r>
          </a:p>
        </p:txBody>
      </p:sp>
      <p:sp>
        <p:nvSpPr>
          <p:cNvPr id="4" name="TextBox 3"/>
          <p:cNvSpPr txBox="1"/>
          <p:nvPr/>
        </p:nvSpPr>
        <p:spPr>
          <a:xfrm>
            <a:off x="1000000" y="1450000"/>
            <a:ext cx="2400000" cy="700000"/>
          </a:xfrm>
          <a:prstGeom prst="rect">
            <a:avLst/>
          </a:prstGeom>
          <a:noFill/>
        </p:spPr>
        <p:txBody>
          <a:bodyPr bIns="0" lIns="0" rIns="0" tIns="0" wrap="square">
            <a:spAutoFit/>
          </a:bodyPr>
          <a:lstStyle/>
          <a:p>
            <a:pPr algn="l">
              <a:spcAft>
                <a:spcPts val="0"/>
              </a:spcAft>
            </a:pPr>
            <a:r>
              <a:rPr b="1" sz="1400">
                <a:solidFill>
                  <a:srgbClr val="1E2761"/>
                </a:solidFill>
                <a:latin typeface="Calibri"/>
              </a:rPr>
              <a:t>Your database</a:t>
            </a:r>
          </a:p>
        </p:txBody>
      </p:sp>
      <p:sp>
        <p:nvSpPr>
          <p:cNvPr id="5" name="TextBox 4"/>
          <p:cNvSpPr txBox="1"/>
          <p:nvPr/>
        </p:nvSpPr>
        <p:spPr>
          <a:xfrm>
            <a:off x="4150000" y="1450000"/>
            <a:ext cx="7150000" cy="700000"/>
          </a:xfrm>
          <a:prstGeom prst="rect">
            <a:avLst/>
          </a:prstGeom>
          <a:noFill/>
        </p:spPr>
        <p:txBody>
          <a:bodyPr bIns="0" lIns="0" rIns="0" tIns="0" wrap="square">
            <a:spAutoFit/>
          </a:bodyPr>
          <a:lstStyle/>
          <a:p>
            <a:pPr algn="l">
              <a:spcAft>
                <a:spcPts val="0"/>
              </a:spcAft>
            </a:pPr>
            <a:r>
              <a:rPr b="0" sz="1400">
                <a:solidFill>
                  <a:srgbClr val="44506B"/>
                </a:solidFill>
                <a:latin typeface="Calibri"/>
              </a:rPr>
              <a:t>Neon.  AWS RDS / Aurora · Azure Database for PostgreSQL · Google Cloud SQL.</a:t>
            </a:r>
          </a:p>
        </p:txBody>
      </p:sp>
      <p:sp>
        <p:nvSpPr>
          <p:cNvPr id="6" name="TextBox 5"/>
          <p:cNvSpPr txBox="1"/>
          <p:nvPr/>
        </p:nvSpPr>
        <p:spPr>
          <a:xfrm>
            <a:off x="1000000" y="2190000"/>
            <a:ext cx="2400000" cy="700000"/>
          </a:xfrm>
          <a:prstGeom prst="rect">
            <a:avLst/>
          </a:prstGeom>
          <a:noFill/>
        </p:spPr>
        <p:txBody>
          <a:bodyPr bIns="0" lIns="0" rIns="0" tIns="0" wrap="square">
            <a:spAutoFit/>
          </a:bodyPr>
          <a:lstStyle/>
          <a:p>
            <a:pPr algn="l">
              <a:spcAft>
                <a:spcPts val="0"/>
              </a:spcAft>
            </a:pPr>
            <a:r>
              <a:rPr b="1" sz="1400">
                <a:solidFill>
                  <a:srgbClr val="1E2761"/>
                </a:solidFill>
                <a:latin typeface="Calibri"/>
              </a:rPr>
              <a:t>Your API</a:t>
            </a:r>
          </a:p>
        </p:txBody>
      </p:sp>
      <p:sp>
        <p:nvSpPr>
          <p:cNvPr id="7" name="TextBox 6"/>
          <p:cNvSpPr txBox="1"/>
          <p:nvPr/>
        </p:nvSpPr>
        <p:spPr>
          <a:xfrm>
            <a:off x="4150000" y="2190000"/>
            <a:ext cx="7150000" cy="700000"/>
          </a:xfrm>
          <a:prstGeom prst="rect">
            <a:avLst/>
          </a:prstGeom>
          <a:noFill/>
        </p:spPr>
        <p:txBody>
          <a:bodyPr bIns="0" lIns="0" rIns="0" tIns="0" wrap="square">
            <a:spAutoFit/>
          </a:bodyPr>
          <a:lstStyle/>
          <a:p>
            <a:pPr algn="l">
              <a:spcAft>
                <a:spcPts val="0"/>
              </a:spcAft>
            </a:pPr>
            <a:r>
              <a:rPr b="0" sz="1400">
                <a:solidFill>
                  <a:srgbClr val="44506B"/>
                </a:solidFill>
                <a:latin typeface="Calibri"/>
              </a:rPr>
              <a:t>Render.  AWS App Runner / ECS · Azure Container Apps · Google Cloud Run.</a:t>
            </a:r>
          </a:p>
        </p:txBody>
      </p:sp>
      <p:sp>
        <p:nvSpPr>
          <p:cNvPr id="8" name="TextBox 7"/>
          <p:cNvSpPr txBox="1"/>
          <p:nvPr/>
        </p:nvSpPr>
        <p:spPr>
          <a:xfrm>
            <a:off x="1000000" y="2930000"/>
            <a:ext cx="2400000" cy="700000"/>
          </a:xfrm>
          <a:prstGeom prst="rect">
            <a:avLst/>
          </a:prstGeom>
          <a:noFill/>
        </p:spPr>
        <p:txBody>
          <a:bodyPr bIns="0" lIns="0" rIns="0" tIns="0" wrap="square">
            <a:spAutoFit/>
          </a:bodyPr>
          <a:lstStyle/>
          <a:p>
            <a:pPr algn="l">
              <a:spcAft>
                <a:spcPts val="0"/>
              </a:spcAft>
            </a:pPr>
            <a:r>
              <a:rPr b="1" sz="1400">
                <a:solidFill>
                  <a:srgbClr val="1E2761"/>
                </a:solidFill>
                <a:latin typeface="Calibri"/>
              </a:rPr>
              <a:t>Your scheduler</a:t>
            </a:r>
          </a:p>
        </p:txBody>
      </p:sp>
      <p:sp>
        <p:nvSpPr>
          <p:cNvPr id="9" name="TextBox 8"/>
          <p:cNvSpPr txBox="1"/>
          <p:nvPr/>
        </p:nvSpPr>
        <p:spPr>
          <a:xfrm>
            <a:off x="4150000" y="2930000"/>
            <a:ext cx="7150000" cy="700000"/>
          </a:xfrm>
          <a:prstGeom prst="rect">
            <a:avLst/>
          </a:prstGeom>
          <a:noFill/>
        </p:spPr>
        <p:txBody>
          <a:bodyPr bIns="0" lIns="0" rIns="0" tIns="0" wrap="square">
            <a:spAutoFit/>
          </a:bodyPr>
          <a:lstStyle/>
          <a:p>
            <a:pPr algn="l">
              <a:spcAft>
                <a:spcPts val="0"/>
              </a:spcAft>
            </a:pPr>
            <a:r>
              <a:rPr b="0" sz="1400">
                <a:solidFill>
                  <a:srgbClr val="44506B"/>
                </a:solidFill>
                <a:latin typeface="Calibri"/>
              </a:rPr>
              <a:t>GitHub Actions cron.  EventBridge Scheduler · Azure Logic Apps · Cloud Scheduler.</a:t>
            </a:r>
          </a:p>
        </p:txBody>
      </p:sp>
      <p:sp>
        <p:nvSpPr>
          <p:cNvPr id="10" name="TextBox 9"/>
          <p:cNvSpPr txBox="1"/>
          <p:nvPr/>
        </p:nvSpPr>
        <p:spPr>
          <a:xfrm>
            <a:off x="1000000" y="3670000"/>
            <a:ext cx="2400000" cy="700000"/>
          </a:xfrm>
          <a:prstGeom prst="rect">
            <a:avLst/>
          </a:prstGeom>
          <a:noFill/>
        </p:spPr>
        <p:txBody>
          <a:bodyPr bIns="0" lIns="0" rIns="0" tIns="0" wrap="square">
            <a:spAutoFit/>
          </a:bodyPr>
          <a:lstStyle/>
          <a:p>
            <a:pPr algn="l">
              <a:spcAft>
                <a:spcPts val="0"/>
              </a:spcAft>
            </a:pPr>
            <a:r>
              <a:rPr b="1" sz="1400">
                <a:solidFill>
                  <a:srgbClr val="1E2761"/>
                </a:solidFill>
                <a:latin typeface="Calibri"/>
              </a:rPr>
              <a:t>Your model store</a:t>
            </a:r>
          </a:p>
        </p:txBody>
      </p:sp>
      <p:sp>
        <p:nvSpPr>
          <p:cNvPr id="11" name="TextBox 10"/>
          <p:cNvSpPr txBox="1"/>
          <p:nvPr/>
        </p:nvSpPr>
        <p:spPr>
          <a:xfrm>
            <a:off x="4150000" y="3670000"/>
            <a:ext cx="7150000" cy="700000"/>
          </a:xfrm>
          <a:prstGeom prst="rect">
            <a:avLst/>
          </a:prstGeom>
          <a:noFill/>
        </p:spPr>
        <p:txBody>
          <a:bodyPr bIns="0" lIns="0" rIns="0" tIns="0" wrap="square">
            <a:spAutoFit/>
          </a:bodyPr>
          <a:lstStyle/>
          <a:p>
            <a:pPr algn="l">
              <a:spcAft>
                <a:spcPts val="0"/>
              </a:spcAft>
            </a:pPr>
            <a:r>
              <a:rPr b="0" sz="1400">
                <a:solidFill>
                  <a:srgbClr val="44506B"/>
                </a:solidFill>
                <a:latin typeface="Calibri"/>
              </a:rPr>
              <a:t>Hugging Face Hub.  S3 + SageMaker · Azure ML registry · Vertex AI Model Registry.</a:t>
            </a:r>
          </a:p>
        </p:txBody>
      </p:sp>
      <p:sp>
        <p:nvSpPr>
          <p:cNvPr id="12" name="TextBox 11"/>
          <p:cNvSpPr txBox="1"/>
          <p:nvPr/>
        </p:nvSpPr>
        <p:spPr>
          <a:xfrm>
            <a:off x="1000000" y="4410000"/>
            <a:ext cx="2400000" cy="700000"/>
          </a:xfrm>
          <a:prstGeom prst="rect">
            <a:avLst/>
          </a:prstGeom>
          <a:noFill/>
        </p:spPr>
        <p:txBody>
          <a:bodyPr bIns="0" lIns="0" rIns="0" tIns="0" wrap="square">
            <a:spAutoFit/>
          </a:bodyPr>
          <a:lstStyle/>
          <a:p>
            <a:pPr algn="l">
              <a:spcAft>
                <a:spcPts val="0"/>
              </a:spcAft>
            </a:pPr>
            <a:r>
              <a:rPr b="1" sz="1400">
                <a:solidFill>
                  <a:srgbClr val="1E2761"/>
                </a:solidFill>
                <a:latin typeface="Calibri"/>
              </a:rPr>
              <a:t>Your secrets</a:t>
            </a:r>
          </a:p>
        </p:txBody>
      </p:sp>
      <p:sp>
        <p:nvSpPr>
          <p:cNvPr id="13" name="TextBox 12"/>
          <p:cNvSpPr txBox="1"/>
          <p:nvPr/>
        </p:nvSpPr>
        <p:spPr>
          <a:xfrm>
            <a:off x="4150000" y="4410000"/>
            <a:ext cx="7150000" cy="700000"/>
          </a:xfrm>
          <a:prstGeom prst="rect">
            <a:avLst/>
          </a:prstGeom>
          <a:noFill/>
        </p:spPr>
        <p:txBody>
          <a:bodyPr bIns="0" lIns="0" rIns="0" tIns="0" wrap="square">
            <a:spAutoFit/>
          </a:bodyPr>
          <a:lstStyle/>
          <a:p>
            <a:pPr algn="l">
              <a:spcAft>
                <a:spcPts val="0"/>
              </a:spcAft>
            </a:pPr>
            <a:r>
              <a:rPr b="0" sz="1400">
                <a:solidFill>
                  <a:srgbClr val="44506B"/>
                </a:solidFill>
                <a:latin typeface="Calibri"/>
              </a:rPr>
              <a:t>Actions secrets.  Secrets Manager · Key Vault · Secret Manager.</a:t>
            </a:r>
          </a:p>
        </p:txBody>
      </p:sp>
      <p:sp>
        <p:nvSpPr>
          <p:cNvPr id="14" name="Rounded Rectangle 13"/>
          <p:cNvSpPr/>
          <p:nvPr/>
        </p:nvSpPr>
        <p:spPr>
          <a:xfrm>
            <a:off x="502920" y="5250000"/>
            <a:ext cx="10800000" cy="900000"/>
          </a:xfrm>
          <a:prstGeom prst="roundRect">
            <a:avLst>
              <a:gd fmla="val 6000" name="adj"/>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endParaRPr/>
          </a:p>
        </p:txBody>
      </p:sp>
      <p:sp>
        <p:nvSpPr>
          <p:cNvPr id="15" name="TextBox 14"/>
          <p:cNvSpPr txBox="1"/>
          <p:nvPr/>
        </p:nvSpPr>
        <p:spPr>
          <a:xfrm>
            <a:off x="700000" y="5430000"/>
            <a:ext cx="10400000" cy="700000"/>
          </a:xfrm>
          <a:prstGeom prst="rect">
            <a:avLst/>
          </a:prstGeom>
          <a:noFill/>
        </p:spPr>
        <p:txBody>
          <a:bodyPr bIns="0" lIns="0" rIns="0" tIns="0" wrap="square">
            <a:spAutoFit/>
          </a:bodyPr>
          <a:lstStyle/>
          <a:p>
            <a:pPr algn="l">
              <a:spcAft>
                <a:spcPts val="0"/>
              </a:spcAft>
            </a:pPr>
            <a:r>
              <a:rPr b="0" dirty="0" sz="1400">
                <a:solidFill>
                  <a:srgbClr val="1E2761"/>
                </a:solidFill>
                <a:latin typeface="Calibri"/>
              </a:rPr>
              <a:t>Service names differ, but the roles are similar.</a:t>
            </a:r>
          </a:p>
        </p:txBody>
      </p:sp>
      <p:sp>
        <p:nvSpPr>
          <p:cNvPr id="16" name="TextBox 15"/>
          <p:cNvSpPr txBox="1"/>
          <p:nvPr/>
        </p:nvSpPr>
        <p:spPr>
          <a:xfrm>
            <a:off x="502920" y="6510528"/>
            <a:ext cx="4572000" cy="274320"/>
          </a:xfrm>
          <a:prstGeom prst="rect">
            <a:avLst/>
          </a:prstGeom>
          <a:noFill/>
        </p:spPr>
        <p:txBody>
          <a:bodyPr bIns="0" lIns="0" rIns="0" tIns="0" wrap="square">
            <a:spAutoFit/>
          </a:bodyPr>
          <a:lstStyle/>
          <a:p>
            <a:pPr algn="l">
              <a:spcAft>
                <a:spcPts val="0"/>
              </a:spcAft>
            </a:pPr>
            <a:r>
              <a:rPr b="0" sz="900">
                <a:solidFill>
                  <a:srgbClr val="9AA6C4"/>
                </a:solidFill>
                <a:latin typeface="Calibri"/>
              </a:rPr>
              <a:t>Data Engineering och Agila metoder · Week 5</a:t>
            </a:r>
          </a:p>
        </p:txBody>
      </p:sp>
      <p:sp>
        <p:nvSpPr>
          <p:cNvPr id="17" name="TextBox 16"/>
          <p:cNvSpPr txBox="1"/>
          <p:nvPr/>
        </p:nvSpPr>
        <p:spPr>
          <a:xfrm>
            <a:off x="11475720" y="6510528"/>
            <a:ext cx="548640" cy="274320"/>
          </a:xfrm>
          <a:prstGeom prst="rect">
            <a:avLst/>
          </a:prstGeom>
          <a:noFill/>
        </p:spPr>
        <p:txBody>
          <a:bodyPr bIns="0" lIns="0" rIns="0" tIns="0" wrap="square">
            <a:spAutoFit/>
          </a:bodyPr>
          <a:lstStyle/>
          <a:p>
            <a:pPr algn="r">
              <a:spcAft>
                <a:spcPts val="0"/>
              </a:spcAft>
            </a:pPr>
            <a:r>
              <a:rPr b="0" sz="900">
                <a:solidFill>
                  <a:srgbClr val="9AA6C4"/>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bIns="0" lIns="0" rIns="0" tIns="0" wrap="square">
            <a:spAutoFit/>
          </a:bodyPr>
          <a:lstStyle/>
          <a:p>
            <a:pPr algn="l">
              <a:spcAft>
                <a:spcPts val="0"/>
              </a:spcAft>
            </a:pPr>
            <a:r>
              <a:rPr b="1" sz="1200">
                <a:solidFill>
                  <a:srgbClr val="F2994A"/>
                </a:solidFill>
                <a:latin typeface="Calibri"/>
              </a:rPr>
              <a:t>SERVICE MODELS</a:t>
            </a:r>
          </a:p>
        </p:txBody>
      </p:sp>
      <p:sp>
        <p:nvSpPr>
          <p:cNvPr id="3" name="TextBox 2"/>
          <p:cNvSpPr txBox="1"/>
          <p:nvPr/>
        </p:nvSpPr>
        <p:spPr>
          <a:xfrm>
            <a:off x="502920" y="560000"/>
            <a:ext cx="10800000" cy="700000"/>
          </a:xfrm>
          <a:prstGeom prst="rect">
            <a:avLst/>
          </a:prstGeom>
          <a:noFill/>
        </p:spPr>
        <p:txBody>
          <a:bodyPr bIns="0" lIns="0" rIns="0" tIns="0" wrap="square">
            <a:spAutoFit/>
          </a:bodyPr>
          <a:lstStyle/>
          <a:p>
            <a:pPr algn="l">
              <a:spcAft>
                <a:spcPts val="0"/>
              </a:spcAft>
            </a:pPr>
            <a:r>
              <a:rPr b="1" sz="2600">
                <a:solidFill>
                  <a:srgbClr val="1E2761"/>
                </a:solidFill>
                <a:latin typeface="Calibri"/>
              </a:rPr>
              <a:t>What the provider manages for you</a:t>
            </a:r>
          </a:p>
        </p:txBody>
      </p:sp>
      <p:sp>
        <p:nvSpPr>
          <p:cNvPr id="4" name="TextBox 3"/>
          <p:cNvSpPr txBox="1"/>
          <p:nvPr/>
        </p:nvSpPr>
        <p:spPr>
          <a:xfrm>
            <a:off x="502920" y="1500000"/>
            <a:ext cx="10800000" cy="4200000"/>
          </a:xfrm>
          <a:prstGeom prst="rect">
            <a:avLst/>
          </a:prstGeom>
          <a:noFill/>
        </p:spPr>
        <p:txBody>
          <a:bodyPr bIns="0" lIns="0" rIns="0" tIns="0" wrap="square">
            <a:spAutoFit/>
          </a:bodyPr>
          <a:lstStyle/>
          <a:p>
            <a:pPr algn="l">
              <a:spcAft>
                <a:spcPts val="200"/>
              </a:spcAft>
            </a:pPr>
            <a:r>
              <a:rPr b="1" sz="1500">
                <a:solidFill>
                  <a:srgbClr val="44506B"/>
                </a:solidFill>
                <a:latin typeface="Calibri"/>
              </a:rPr>
              <a:t>•  On-premise</a:t>
            </a:r>
          </a:p>
          <a:p>
            <a:pPr algn="l">
              <a:spcAft>
                <a:spcPts val="200"/>
              </a:spcAft>
            </a:pPr>
            <a:r>
              <a:rPr b="0" sz="1500">
                <a:solidFill>
                  <a:srgbClr val="44506B"/>
                </a:solidFill>
                <a:latin typeface="Calibri"/>
              </a:rPr>
              <a:t xml:space="preserve">     You manage the building, machines, operating system, runtime, and application.</a:t>
            </a:r>
          </a:p>
          <a:p>
            <a:pPr algn="l">
              <a:spcAft>
                <a:spcPts val="200"/>
              </a:spcAft>
            </a:pPr>
            <a:endParaRPr b="0" sz="1500">
              <a:solidFill>
                <a:srgbClr val="44506B"/>
              </a:solidFill>
              <a:latin typeface="Calibri"/>
            </a:endParaRPr>
          </a:p>
          <a:p>
            <a:pPr algn="l">
              <a:spcAft>
                <a:spcPts val="200"/>
              </a:spcAft>
            </a:pPr>
            <a:r>
              <a:rPr b="1" sz="1500">
                <a:solidFill>
                  <a:srgbClr val="44506B"/>
                </a:solidFill>
                <a:latin typeface="Calibri"/>
              </a:rPr>
              <a:t>•  IaaS — infrastructure</a:t>
            </a:r>
          </a:p>
          <a:p>
            <a:pPr algn="l">
              <a:spcAft>
                <a:spcPts val="200"/>
              </a:spcAft>
            </a:pPr>
            <a:r>
              <a:rPr b="0" sz="1500">
                <a:solidFill>
                  <a:srgbClr val="44506B"/>
                </a:solidFill>
                <a:latin typeface="Calibri"/>
              </a:rPr>
              <a:t xml:space="preserve">     You rent a virtual machine but still manage the operating system and software. Examples: AWS EC2, Azure VM, GCE.</a:t>
            </a:r>
          </a:p>
          <a:p>
            <a:pPr algn="l">
              <a:spcAft>
                <a:spcPts val="200"/>
              </a:spcAft>
            </a:pPr>
            <a:endParaRPr b="0" sz="1500">
              <a:solidFill>
                <a:srgbClr val="44506B"/>
              </a:solidFill>
              <a:latin typeface="Calibri"/>
            </a:endParaRPr>
          </a:p>
          <a:p>
            <a:pPr algn="l">
              <a:spcAft>
                <a:spcPts val="200"/>
              </a:spcAft>
            </a:pPr>
            <a:r>
              <a:rPr b="1" sz="1500">
                <a:solidFill>
                  <a:srgbClr val="44506B"/>
                </a:solidFill>
                <a:latin typeface="Calibri"/>
              </a:rPr>
              <a:t>•  PaaS — platform</a:t>
            </a:r>
          </a:p>
          <a:p>
            <a:pPr algn="l">
              <a:spcAft>
                <a:spcPts val="200"/>
              </a:spcAft>
            </a:pPr>
            <a:r>
              <a:rPr b="0" sz="1500">
                <a:solidFill>
                  <a:srgbClr val="44506B"/>
                </a:solidFill>
                <a:latin typeface="Calibri"/>
              </a:rPr>
              <a:t xml:space="preserve">     You provide a container or repository and the platform runs it. Examples: Render, Cloud Run, Container Apps.</a:t>
            </a:r>
          </a:p>
          <a:p>
            <a:pPr algn="l">
              <a:spcAft>
                <a:spcPts val="200"/>
              </a:spcAft>
            </a:pPr>
            <a:endParaRPr b="0" sz="1500">
              <a:solidFill>
                <a:srgbClr val="44506B"/>
              </a:solidFill>
              <a:latin typeface="Calibri"/>
            </a:endParaRPr>
          </a:p>
          <a:p>
            <a:pPr algn="l">
              <a:spcAft>
                <a:spcPts val="200"/>
              </a:spcAft>
            </a:pPr>
            <a:r>
              <a:rPr b="1" sz="1500">
                <a:solidFill>
                  <a:srgbClr val="44506B"/>
                </a:solidFill>
                <a:latin typeface="Calibri"/>
              </a:rPr>
              <a:t>•  SaaS — software</a:t>
            </a:r>
          </a:p>
          <a:p>
            <a:pPr algn="l">
              <a:spcAft>
                <a:spcPts val="200"/>
              </a:spcAft>
            </a:pPr>
            <a:r>
              <a:rPr b="0" sz="1500">
                <a:solidFill>
                  <a:srgbClr val="44506B"/>
                </a:solidFill>
                <a:latin typeface="Calibri"/>
              </a:rPr>
              <a:t xml:space="preserve">     You use finished software through a login. GitHub is an example.</a:t>
            </a:r>
          </a:p>
          <a:p>
            <a:pPr algn="l">
              <a:spcAft>
                <a:spcPts val="200"/>
              </a:spcAft>
            </a:pPr>
            <a:endParaRPr b="0" sz="1500">
              <a:solidFill>
                <a:srgbClr val="44506B"/>
              </a:solidFill>
              <a:latin typeface="Calibri"/>
            </a:endParaRPr>
          </a:p>
        </p:txBody>
      </p:sp>
      <p:sp>
        <p:nvSpPr>
          <p:cNvPr id="5" name="TextBox 4"/>
          <p:cNvSpPr txBox="1"/>
          <p:nvPr/>
        </p:nvSpPr>
        <p:spPr>
          <a:xfrm>
            <a:off x="502920" y="5900000"/>
            <a:ext cx="10800000" cy="400000"/>
          </a:xfrm>
          <a:prstGeom prst="rect">
            <a:avLst/>
          </a:prstGeom>
          <a:noFill/>
        </p:spPr>
        <p:txBody>
          <a:bodyPr bIns="0" lIns="0" rIns="0" tIns="0" wrap="square">
            <a:spAutoFit/>
          </a:bodyPr>
          <a:lstStyle/>
          <a:p>
            <a:pPr algn="l">
              <a:spcAft>
                <a:spcPts val="0"/>
              </a:spcAft>
            </a:pPr>
            <a:r>
              <a:rPr b="1" sz="1300">
                <a:solidFill>
                  <a:srgbClr val="1E2761"/>
                </a:solidFill>
                <a:latin typeface="Calibri"/>
              </a:rPr>
              <a:t>The important question is which parts the provider manages and which parts remain the team's responsibility.</a:t>
            </a:r>
          </a:p>
        </p:txBody>
      </p:sp>
      <p:sp>
        <p:nvSpPr>
          <p:cNvPr id="6" name="TextBox 5"/>
          <p:cNvSpPr txBox="1"/>
          <p:nvPr/>
        </p:nvSpPr>
        <p:spPr>
          <a:xfrm>
            <a:off x="502920" y="6510528"/>
            <a:ext cx="4572000" cy="274320"/>
          </a:xfrm>
          <a:prstGeom prst="rect">
            <a:avLst/>
          </a:prstGeom>
          <a:noFill/>
        </p:spPr>
        <p:txBody>
          <a:bodyPr bIns="0" lIns="0" rIns="0" tIns="0" wrap="square">
            <a:spAutoFit/>
          </a:bodyPr>
          <a:lstStyle/>
          <a:p>
            <a:pPr algn="l">
              <a:spcAft>
                <a:spcPts val="0"/>
              </a:spcAft>
            </a:pPr>
            <a:r>
              <a:rPr b="0" sz="900">
                <a:solidFill>
                  <a:srgbClr val="9AA6C4"/>
                </a:solidFill>
                <a:latin typeface="Calibri"/>
              </a:rPr>
              <a:t>Data Engineering och Agila metoder · Week 5</a:t>
            </a:r>
          </a:p>
        </p:txBody>
      </p:sp>
      <p:sp>
        <p:nvSpPr>
          <p:cNvPr id="7" name="TextBox 6"/>
          <p:cNvSpPr txBox="1"/>
          <p:nvPr/>
        </p:nvSpPr>
        <p:spPr>
          <a:xfrm>
            <a:off x="11475720" y="6510528"/>
            <a:ext cx="548640" cy="274320"/>
          </a:xfrm>
          <a:prstGeom prst="rect">
            <a:avLst/>
          </a:prstGeom>
          <a:noFill/>
        </p:spPr>
        <p:txBody>
          <a:bodyPr bIns="0" lIns="0" rIns="0" tIns="0" wrap="square">
            <a:spAutoFit/>
          </a:bodyPr>
          <a:lstStyle/>
          <a:p>
            <a:pPr algn="r">
              <a:spcAft>
                <a:spcPts val="0"/>
              </a:spcAft>
            </a:pPr>
            <a:r>
              <a:rPr b="0" sz="900">
                <a:solidFill>
                  <a:srgbClr val="9AA6C4"/>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bIns="0" lIns="0" rIns="0" tIns="0" wrap="square">
            <a:spAutoFit/>
          </a:bodyPr>
          <a:lstStyle/>
          <a:p>
            <a:pPr algn="l">
              <a:spcAft>
                <a:spcPts val="0"/>
              </a:spcAft>
            </a:pPr>
            <a:r>
              <a:rPr b="1" sz="1200">
                <a:solidFill>
                  <a:srgbClr val="F2994A"/>
                </a:solidFill>
                <a:latin typeface="Calibri"/>
              </a:rPr>
              <a:t>CONVENIENCE AND CONTROL</a:t>
            </a:r>
          </a:p>
        </p:txBody>
      </p:sp>
      <p:sp>
        <p:nvSpPr>
          <p:cNvPr id="3" name="TextBox 2"/>
          <p:cNvSpPr txBox="1"/>
          <p:nvPr/>
        </p:nvSpPr>
        <p:spPr>
          <a:xfrm>
            <a:off x="502920" y="2300000"/>
            <a:ext cx="11000000" cy="2000000"/>
          </a:xfrm>
          <a:prstGeom prst="rect">
            <a:avLst/>
          </a:prstGeom>
          <a:noFill/>
        </p:spPr>
        <p:txBody>
          <a:bodyPr bIns="0" lIns="0" rIns="0" tIns="0" wrap="square">
            <a:spAutoFit/>
          </a:bodyPr>
          <a:lstStyle/>
          <a:p>
            <a:pPr algn="l">
              <a:spcAft>
                <a:spcPts val="0"/>
              </a:spcAft>
            </a:pPr>
            <a:r>
              <a:rPr b="1" sz="3000">
                <a:solidFill>
                  <a:srgbClr val="1E2761"/>
                </a:solidFill>
                <a:latin typeface="Calibri"/>
              </a:rPr>
              <a:t>Managed services save time but give you less control.</a:t>
            </a:r>
          </a:p>
        </p:txBody>
      </p:sp>
      <p:sp>
        <p:nvSpPr>
          <p:cNvPr id="4" name="TextBox 3"/>
          <p:cNvSpPr txBox="1"/>
          <p:nvPr/>
        </p:nvSpPr>
        <p:spPr>
          <a:xfrm>
            <a:off x="502920" y="4400000"/>
            <a:ext cx="10800000" cy="461665"/>
          </a:xfrm>
          <a:prstGeom prst="rect">
            <a:avLst/>
          </a:prstGeom>
          <a:noFill/>
        </p:spPr>
        <p:txBody>
          <a:bodyPr bIns="0" lIns="0" rIns="0" tIns="0" wrap="square">
            <a:spAutoFit/>
          </a:bodyPr>
          <a:lstStyle/>
          <a:p>
            <a:pPr algn="l">
              <a:spcAft>
                <a:spcPts val="0"/>
              </a:spcAft>
            </a:pPr>
            <a:r>
              <a:rPr b="0" dirty="0" sz="1500">
                <a:solidFill>
                  <a:srgbClr val="44506B"/>
                </a:solidFill>
                <a:latin typeface="Calibri"/>
              </a:rPr>
              <a:t>With Neon, the provider manages PostgreSQL updates and operations. In return, you cannot use every extension, and you depend on the provider when there is an incident.</a:t>
            </a:r>
            <a:r>
              <a:rPr b="0" dirty="0" err="1" lang="sv-SE" sz="1500">
                <a:solidFill>
                  <a:srgbClr val="44506B"/>
                </a:solidFill>
                <a:latin typeface="Calibri"/>
              </a:rPr>
              <a:t/>
            </a:r>
            <a:r>
              <a:rPr b="0" dirty="0" lang="sv-SE" sz="1500">
                <a:solidFill>
                  <a:srgbClr val="44506B"/>
                </a:solidFill>
                <a:latin typeface="Calibri"/>
              </a:rPr>
              <a:t/>
            </a:r>
            <a:r>
              <a:rPr b="0" dirty="0" err="1" lang="sv-SE" sz="1500">
                <a:solidFill>
                  <a:srgbClr val="44506B"/>
                </a:solidFill>
                <a:latin typeface="Calibri"/>
              </a:rPr>
              <a:t/>
            </a:r>
            <a:r>
              <a:rPr b="0" dirty="0" sz="1500">
                <a:solidFill>
                  <a:srgbClr val="44506B"/>
                </a:solidFill>
                <a:latin typeface="Calibri"/>
              </a:rPr>
              <a:t/>
            </a:r>
          </a:p>
        </p:txBody>
      </p:sp>
      <p:sp>
        <p:nvSpPr>
          <p:cNvPr id="5" name="TextBox 4"/>
          <p:cNvSpPr txBox="1"/>
          <p:nvPr/>
        </p:nvSpPr>
        <p:spPr>
          <a:xfrm>
            <a:off x="502920" y="6510528"/>
            <a:ext cx="4572000" cy="274320"/>
          </a:xfrm>
          <a:prstGeom prst="rect">
            <a:avLst/>
          </a:prstGeom>
          <a:noFill/>
        </p:spPr>
        <p:txBody>
          <a:bodyPr bIns="0" lIns="0" rIns="0" tIns="0" wrap="square">
            <a:spAutoFit/>
          </a:bodyPr>
          <a:lstStyle/>
          <a:p>
            <a:pPr algn="l">
              <a:spcAft>
                <a:spcPts val="0"/>
              </a:spcAft>
            </a:pPr>
            <a:r>
              <a:rPr b="0" sz="900">
                <a:solidFill>
                  <a:srgbClr val="9AA6C4"/>
                </a:solidFill>
                <a:latin typeface="Calibri"/>
              </a:rPr>
              <a:t>Data Engineering och Agila metoder · Week 5</a:t>
            </a:r>
          </a:p>
        </p:txBody>
      </p:sp>
      <p:sp>
        <p:nvSpPr>
          <p:cNvPr id="6" name="TextBox 5"/>
          <p:cNvSpPr txBox="1"/>
          <p:nvPr/>
        </p:nvSpPr>
        <p:spPr>
          <a:xfrm>
            <a:off x="11475720" y="6510528"/>
            <a:ext cx="548640" cy="274320"/>
          </a:xfrm>
          <a:prstGeom prst="rect">
            <a:avLst/>
          </a:prstGeom>
          <a:noFill/>
        </p:spPr>
        <p:txBody>
          <a:bodyPr bIns="0" lIns="0" rIns="0" tIns="0" wrap="square">
            <a:spAutoFit/>
          </a:bodyPr>
          <a:lstStyle/>
          <a:p>
            <a:pPr algn="r">
              <a:spcAft>
                <a:spcPts val="0"/>
              </a:spcAft>
            </a:pPr>
            <a:r>
              <a:rPr b="0" sz="900">
                <a:solidFill>
                  <a:srgbClr val="9AA6C4"/>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a:xfrm>
          <a:off x="0" y="0"/>
          <a:ext cx="0" cy="0"/>
          <a:chOff x="0" y="0"/>
          <a:chExt cx="0" cy="0"/>
        </a:xfrm>
      </p:grpSpPr>
      <p:sp>
        <p:nvSpPr>
          <p:cNvPr id="2" name="Oval 1"/>
          <p:cNvSpPr/>
          <p:nvPr/>
        </p:nvSpPr>
        <p:spPr>
          <a:xfrm>
            <a:off x="9042882" y="1892293"/>
            <a:ext cx="96112" cy="96112"/>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3" name="Oval 2"/>
          <p:cNvSpPr/>
          <p:nvPr/>
        </p:nvSpPr>
        <p:spPr>
          <a:xfrm>
            <a:off x="9663756" y="1315978"/>
            <a:ext cx="132323" cy="132323"/>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4" name="Oval 3"/>
          <p:cNvSpPr/>
          <p:nvPr/>
        </p:nvSpPr>
        <p:spPr>
          <a:xfrm>
            <a:off x="9918222" y="1861641"/>
            <a:ext cx="87150" cy="8715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5" name="Oval 4"/>
          <p:cNvSpPr/>
          <p:nvPr/>
        </p:nvSpPr>
        <p:spPr>
          <a:xfrm>
            <a:off x="10634863" y="667958"/>
            <a:ext cx="80860" cy="8086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6" name="Oval 5"/>
          <p:cNvSpPr/>
          <p:nvPr/>
        </p:nvSpPr>
        <p:spPr>
          <a:xfrm>
            <a:off x="11277591" y="715376"/>
            <a:ext cx="168544" cy="16854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7" name="Oval 6"/>
          <p:cNvSpPr/>
          <p:nvPr/>
        </p:nvSpPr>
        <p:spPr>
          <a:xfrm>
            <a:off x="10883466" y="713391"/>
            <a:ext cx="94587" cy="94587"/>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8" name="Oval 7"/>
          <p:cNvSpPr/>
          <p:nvPr/>
        </p:nvSpPr>
        <p:spPr>
          <a:xfrm>
            <a:off x="9532936" y="1290058"/>
            <a:ext cx="87098" cy="8709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9" name="Oval 8"/>
          <p:cNvSpPr/>
          <p:nvPr/>
        </p:nvSpPr>
        <p:spPr>
          <a:xfrm>
            <a:off x="8835770" y="1119520"/>
            <a:ext cx="112783" cy="112783"/>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10" name="Oval 9"/>
          <p:cNvSpPr/>
          <p:nvPr/>
        </p:nvSpPr>
        <p:spPr>
          <a:xfrm>
            <a:off x="11121493" y="1827959"/>
            <a:ext cx="108844" cy="10884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11" name="Oval 10"/>
          <p:cNvSpPr/>
          <p:nvPr/>
        </p:nvSpPr>
        <p:spPr>
          <a:xfrm>
            <a:off x="8863705" y="506151"/>
            <a:ext cx="150779" cy="15077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12" name="Oval 11"/>
          <p:cNvSpPr/>
          <p:nvPr/>
        </p:nvSpPr>
        <p:spPr>
          <a:xfrm>
            <a:off x="8723026" y="1800457"/>
            <a:ext cx="151635" cy="151635"/>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13" name="Oval 12"/>
          <p:cNvSpPr/>
          <p:nvPr/>
        </p:nvSpPr>
        <p:spPr>
          <a:xfrm>
            <a:off x="10002589" y="1127331"/>
            <a:ext cx="123340" cy="12334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14" name="Oval 13"/>
          <p:cNvSpPr/>
          <p:nvPr/>
        </p:nvSpPr>
        <p:spPr>
          <a:xfrm>
            <a:off x="9857158" y="1143868"/>
            <a:ext cx="74468" cy="7446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15" name="Oval 14"/>
          <p:cNvSpPr/>
          <p:nvPr/>
        </p:nvSpPr>
        <p:spPr>
          <a:xfrm>
            <a:off x="9049183" y="1310756"/>
            <a:ext cx="77840" cy="7784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16" name="Oval 15"/>
          <p:cNvSpPr/>
          <p:nvPr/>
        </p:nvSpPr>
        <p:spPr>
          <a:xfrm>
            <a:off x="10932422" y="585714"/>
            <a:ext cx="90801" cy="9080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17" name="Oval 16"/>
          <p:cNvSpPr/>
          <p:nvPr/>
        </p:nvSpPr>
        <p:spPr>
          <a:xfrm>
            <a:off x="11340471" y="1521531"/>
            <a:ext cx="152824" cy="15282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18" name="Oval 17"/>
          <p:cNvSpPr/>
          <p:nvPr/>
        </p:nvSpPr>
        <p:spPr>
          <a:xfrm>
            <a:off x="9353248" y="979424"/>
            <a:ext cx="120219" cy="12021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19" name="Oval 18"/>
          <p:cNvSpPr/>
          <p:nvPr/>
        </p:nvSpPr>
        <p:spPr>
          <a:xfrm>
            <a:off x="11141951" y="1563093"/>
            <a:ext cx="79128" cy="7912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20" name="Oval 19"/>
          <p:cNvSpPr/>
          <p:nvPr/>
        </p:nvSpPr>
        <p:spPr>
          <a:xfrm>
            <a:off x="10571819" y="1270223"/>
            <a:ext cx="172681" cy="17268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21" name="Oval 20"/>
          <p:cNvSpPr/>
          <p:nvPr/>
        </p:nvSpPr>
        <p:spPr>
          <a:xfrm>
            <a:off x="9631301" y="764032"/>
            <a:ext cx="94932" cy="94932"/>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22" name="Oval 21"/>
          <p:cNvSpPr/>
          <p:nvPr/>
        </p:nvSpPr>
        <p:spPr>
          <a:xfrm>
            <a:off x="9364313" y="1812855"/>
            <a:ext cx="146426" cy="146426"/>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23" name="Oval 22"/>
          <p:cNvSpPr/>
          <p:nvPr/>
        </p:nvSpPr>
        <p:spPr>
          <a:xfrm>
            <a:off x="8839276" y="598269"/>
            <a:ext cx="164024" cy="16402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24" name="Oval 23"/>
          <p:cNvSpPr/>
          <p:nvPr/>
        </p:nvSpPr>
        <p:spPr>
          <a:xfrm>
            <a:off x="9749071" y="1780791"/>
            <a:ext cx="153264" cy="15326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25" name="Oval 24"/>
          <p:cNvSpPr/>
          <p:nvPr/>
        </p:nvSpPr>
        <p:spPr>
          <a:xfrm>
            <a:off x="8807338" y="1186278"/>
            <a:ext cx="88068" cy="8806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26" name="Oval 25"/>
          <p:cNvSpPr/>
          <p:nvPr/>
        </p:nvSpPr>
        <p:spPr>
          <a:xfrm>
            <a:off x="9556258" y="1240957"/>
            <a:ext cx="155865" cy="155865"/>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27" name="Oval 26"/>
          <p:cNvSpPr/>
          <p:nvPr/>
        </p:nvSpPr>
        <p:spPr>
          <a:xfrm>
            <a:off x="9424404" y="1602892"/>
            <a:ext cx="105644" cy="10564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28" name="Oval 27"/>
          <p:cNvSpPr/>
          <p:nvPr/>
        </p:nvSpPr>
        <p:spPr>
          <a:xfrm>
            <a:off x="8945270" y="806202"/>
            <a:ext cx="75186" cy="75186"/>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29" name="TextBox 28"/>
          <p:cNvSpPr txBox="1"/>
          <p:nvPr/>
        </p:nvSpPr>
        <p:spPr>
          <a:xfrm>
            <a:off x="640080" y="3200000"/>
            <a:ext cx="10000000" cy="1000000"/>
          </a:xfrm>
          <a:prstGeom prst="rect">
            <a:avLst/>
          </a:prstGeom>
          <a:noFill/>
        </p:spPr>
        <p:txBody>
          <a:bodyPr bIns="0" lIns="0" rIns="0" tIns="0" wrap="square">
            <a:spAutoFit/>
          </a:bodyPr>
          <a:lstStyle/>
          <a:p>
            <a:pPr algn="l">
              <a:spcAft>
                <a:spcPts val="0"/>
              </a:spcAft>
            </a:pPr>
            <a:r>
              <a:rPr b="1" sz="3400">
                <a:solidFill>
                  <a:srgbClr val="FFFFFF"/>
                </a:solidFill>
                <a:latin typeface="Calibri"/>
              </a:rPr>
              <a:t>Cost discussion</a:t>
            </a:r>
          </a:p>
        </p:txBody>
      </p:sp>
      <p:sp>
        <p:nvSpPr>
          <p:cNvPr id="30" name="TextBox 29"/>
          <p:cNvSpPr txBox="1"/>
          <p:nvPr/>
        </p:nvSpPr>
        <p:spPr>
          <a:xfrm>
            <a:off x="640080" y="4250000"/>
            <a:ext cx="9500000" cy="900000"/>
          </a:xfrm>
          <a:prstGeom prst="rect">
            <a:avLst/>
          </a:prstGeom>
          <a:noFill/>
        </p:spPr>
        <p:txBody>
          <a:bodyPr bIns="0" lIns="0" rIns="0" tIns="0" wrap="square">
            <a:spAutoFit/>
          </a:bodyPr>
          <a:lstStyle/>
          <a:p>
            <a:pPr algn="l">
              <a:spcAft>
                <a:spcPts val="0"/>
              </a:spcAft>
            </a:pPr>
            <a:r>
              <a:rPr b="0" sz="1500">
                <a:solidFill>
                  <a:srgbClr val="CADCFC"/>
                </a:solidFill>
                <a:latin typeface="Calibri"/>
              </a:rPr>
              <a:t>Each team looked up four prices. Compare the figures and note why they differ.</a:t>
            </a:r>
          </a:p>
        </p:txBody>
      </p:sp>
      <p:sp>
        <p:nvSpPr>
          <p:cNvPr id="31" name="TextBox 30"/>
          <p:cNvSpPr txBox="1"/>
          <p:nvPr/>
        </p:nvSpPr>
        <p:spPr>
          <a:xfrm>
            <a:off x="502920" y="6510528"/>
            <a:ext cx="4572000" cy="274320"/>
          </a:xfrm>
          <a:prstGeom prst="rect">
            <a:avLst/>
          </a:prstGeom>
          <a:noFill/>
        </p:spPr>
        <p:txBody>
          <a:bodyPr bIns="0" lIns="0" rIns="0" tIns="0" wrap="square">
            <a:spAutoFit/>
          </a:bodyPr>
          <a:lstStyle/>
          <a:p>
            <a:pPr algn="l">
              <a:spcAft>
                <a:spcPts val="0"/>
              </a:spcAft>
            </a:pPr>
            <a:r>
              <a:rPr b="0" sz="900">
                <a:solidFill>
                  <a:srgbClr val="CADCFC"/>
                </a:solidFill>
                <a:latin typeface="Calibri"/>
              </a:rPr>
              <a:t>Data Engineering och Agila metoder · Week 5</a:t>
            </a:r>
          </a:p>
        </p:txBody>
      </p:sp>
      <p:sp>
        <p:nvSpPr>
          <p:cNvPr id="32" name="TextBox 31"/>
          <p:cNvSpPr txBox="1"/>
          <p:nvPr/>
        </p:nvSpPr>
        <p:spPr>
          <a:xfrm>
            <a:off x="11475720" y="6510528"/>
            <a:ext cx="548640" cy="274320"/>
          </a:xfrm>
          <a:prstGeom prst="rect">
            <a:avLst/>
          </a:prstGeom>
          <a:noFill/>
        </p:spPr>
        <p:txBody>
          <a:bodyPr bIns="0" lIns="0" rIns="0" tIns="0" wrap="square">
            <a:spAutoFit/>
          </a:bodyPr>
          <a:lstStyle/>
          <a:p>
            <a:pPr algn="r">
              <a:spcAft>
                <a:spcPts val="0"/>
              </a:spcAft>
            </a:pPr>
            <a:r>
              <a:rPr b="0" sz="900">
                <a:solidFill>
                  <a:srgbClr val="CADCFC"/>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bIns="0" lIns="0" rIns="0" tIns="0" wrap="square">
            <a:spAutoFit/>
          </a:bodyPr>
          <a:lstStyle/>
          <a:p>
            <a:pPr algn="l">
              <a:spcAft>
                <a:spcPts val="0"/>
              </a:spcAft>
            </a:pPr>
            <a:r>
              <a:rPr b="1" sz="1200">
                <a:solidFill>
                  <a:srgbClr val="F2994A"/>
                </a:solidFill>
                <a:latin typeface="Calibri"/>
              </a:rPr>
              <a:t>COST</a:t>
            </a:r>
          </a:p>
        </p:txBody>
      </p:sp>
      <p:sp>
        <p:nvSpPr>
          <p:cNvPr id="3" name="TextBox 2"/>
          <p:cNvSpPr txBox="1"/>
          <p:nvPr/>
        </p:nvSpPr>
        <p:spPr>
          <a:xfrm>
            <a:off x="502920" y="560000"/>
            <a:ext cx="10800000" cy="700000"/>
          </a:xfrm>
          <a:prstGeom prst="rect">
            <a:avLst/>
          </a:prstGeom>
          <a:noFill/>
        </p:spPr>
        <p:txBody>
          <a:bodyPr bIns="0" lIns="0" rIns="0" tIns="0" wrap="square">
            <a:spAutoFit/>
          </a:bodyPr>
          <a:lstStyle/>
          <a:p>
            <a:pPr algn="l">
              <a:spcAft>
                <a:spcPts val="0"/>
              </a:spcAft>
            </a:pPr>
            <a:r>
              <a:rPr b="1" sz="2600">
                <a:solidFill>
                  <a:srgbClr val="1E2761"/>
                </a:solidFill>
                <a:latin typeface="Calibri"/>
              </a:rPr>
              <a:t>Four prices to compare</a:t>
            </a:r>
          </a:p>
        </p:txBody>
      </p:sp>
      <p:sp>
        <p:nvSpPr>
          <p:cNvPr id="4" name="TextBox 3"/>
          <p:cNvSpPr txBox="1"/>
          <p:nvPr/>
        </p:nvSpPr>
        <p:spPr>
          <a:xfrm>
            <a:off x="502920" y="1500000"/>
            <a:ext cx="10800000" cy="4200000"/>
          </a:xfrm>
          <a:prstGeom prst="rect">
            <a:avLst/>
          </a:prstGeom>
          <a:noFill/>
        </p:spPr>
        <p:txBody>
          <a:bodyPr bIns="0" lIns="0" rIns="0" tIns="0" wrap="square">
            <a:spAutoFit/>
          </a:bodyPr>
          <a:lstStyle/>
          <a:p>
            <a:pPr algn="l">
              <a:spcAft>
                <a:spcPts val="200"/>
              </a:spcAft>
            </a:pPr>
            <a:r>
              <a:rPr b="1" sz="1400">
                <a:solidFill>
                  <a:srgbClr val="44506B"/>
                </a:solidFill>
                <a:latin typeface="Calibri"/>
              </a:rPr>
              <a:t>•  A small always-on container</a:t>
            </a:r>
          </a:p>
          <a:p>
            <a:pPr algn="l">
              <a:spcAft>
                <a:spcPts val="200"/>
              </a:spcAft>
            </a:pPr>
            <a:r>
              <a:rPr b="0" sz="1400">
                <a:solidFill>
                  <a:srgbClr val="44506B"/>
                </a:solidFill>
                <a:latin typeface="Calibri"/>
              </a:rPr>
              <a:t xml:space="preserve">     It may be free if it scales to zero. If it runs continuously, it can cost about $10–20 per month.</a:t>
            </a:r>
          </a:p>
          <a:p>
            <a:pPr algn="l">
              <a:spcAft>
                <a:spcPts val="200"/>
              </a:spcAft>
            </a:pPr>
            <a:endParaRPr b="0" sz="1400">
              <a:solidFill>
                <a:srgbClr val="44506B"/>
              </a:solidFill>
              <a:latin typeface="Calibri"/>
            </a:endParaRPr>
          </a:p>
          <a:p>
            <a:pPr algn="l">
              <a:spcAft>
                <a:spcPts val="200"/>
              </a:spcAft>
            </a:pPr>
            <a:r>
              <a:rPr b="1" sz="1400">
                <a:solidFill>
                  <a:srgbClr val="44506B"/>
                </a:solidFill>
                <a:latin typeface="Calibri"/>
              </a:rPr>
              <a:t>•  The smallest managed PostgreSQL database</a:t>
            </a:r>
          </a:p>
          <a:p>
            <a:pPr algn="l">
              <a:spcAft>
                <a:spcPts val="200"/>
              </a:spcAft>
            </a:pPr>
            <a:r>
              <a:rPr b="0" sz="1400">
                <a:solidFill>
                  <a:srgbClr val="44506B"/>
                </a:solidFill>
                <a:latin typeface="Calibri"/>
              </a:rPr>
              <a:t xml:space="preserve">     At the large providers, it is often at least about $15 per month outside a free tier.</a:t>
            </a:r>
          </a:p>
          <a:p>
            <a:pPr algn="l">
              <a:spcAft>
                <a:spcPts val="200"/>
              </a:spcAft>
            </a:pPr>
            <a:endParaRPr b="0" sz="1400">
              <a:solidFill>
                <a:srgbClr val="44506B"/>
              </a:solidFill>
              <a:latin typeface="Calibri"/>
            </a:endParaRPr>
          </a:p>
          <a:p>
            <a:pPr algn="l">
              <a:spcAft>
                <a:spcPts val="200"/>
              </a:spcAft>
            </a:pPr>
            <a:r>
              <a:rPr b="1" sz="1400">
                <a:solidFill>
                  <a:srgbClr val="44506B"/>
                </a:solidFill>
                <a:latin typeface="Calibri"/>
              </a:rPr>
              <a:t>•  Storing 10 GB</a:t>
            </a:r>
          </a:p>
          <a:p>
            <a:pPr algn="l">
              <a:spcAft>
                <a:spcPts val="200"/>
              </a:spcAft>
            </a:pPr>
            <a:r>
              <a:rPr b="0" sz="1400">
                <a:solidFill>
                  <a:srgbClr val="44506B"/>
                </a:solidFill>
                <a:latin typeface="Calibri"/>
              </a:rPr>
              <a:t xml:space="preserve">     Object storage usually costs very little at this size.</a:t>
            </a:r>
          </a:p>
          <a:p>
            <a:pPr algn="l">
              <a:spcAft>
                <a:spcPts val="200"/>
              </a:spcAft>
            </a:pPr>
            <a:endParaRPr b="0" sz="1400">
              <a:solidFill>
                <a:srgbClr val="44506B"/>
              </a:solidFill>
              <a:latin typeface="Calibri"/>
            </a:endParaRPr>
          </a:p>
          <a:p>
            <a:pPr algn="l">
              <a:spcAft>
                <a:spcPts val="200"/>
              </a:spcAft>
            </a:pPr>
            <a:r>
              <a:rPr b="1" sz="1400">
                <a:solidFill>
                  <a:srgbClr val="44506B"/>
                </a:solidFill>
                <a:latin typeface="Calibri"/>
              </a:rPr>
              <a:t>•  Sending 10 GB out</a:t>
            </a:r>
          </a:p>
          <a:p>
            <a:pPr algn="l">
              <a:spcAft>
                <a:spcPts val="200"/>
              </a:spcAft>
            </a:pPr>
            <a:r>
              <a:rPr b="0" sz="1400">
                <a:solidFill>
                  <a:srgbClr val="44506B"/>
                </a:solidFill>
                <a:latin typeface="Calibri"/>
              </a:rPr>
              <a:t xml:space="preserve">     Egress can cost much more than storage. Check this price carefully.</a:t>
            </a:r>
          </a:p>
          <a:p>
            <a:pPr algn="l">
              <a:spcAft>
                <a:spcPts val="200"/>
              </a:spcAft>
            </a:pPr>
            <a:endParaRPr b="0" sz="1400">
              <a:solidFill>
                <a:srgbClr val="44506B"/>
              </a:solidFill>
              <a:latin typeface="Calibri"/>
            </a:endParaRPr>
          </a:p>
        </p:txBody>
      </p:sp>
      <p:sp>
        <p:nvSpPr>
          <p:cNvPr id="5" name="TextBox 4"/>
          <p:cNvSpPr txBox="1"/>
          <p:nvPr/>
        </p:nvSpPr>
        <p:spPr>
          <a:xfrm>
            <a:off x="502920" y="6510528"/>
            <a:ext cx="4572000" cy="274320"/>
          </a:xfrm>
          <a:prstGeom prst="rect">
            <a:avLst/>
          </a:prstGeom>
          <a:noFill/>
        </p:spPr>
        <p:txBody>
          <a:bodyPr bIns="0" lIns="0" rIns="0" tIns="0" wrap="square">
            <a:spAutoFit/>
          </a:bodyPr>
          <a:lstStyle/>
          <a:p>
            <a:pPr algn="l">
              <a:spcAft>
                <a:spcPts val="0"/>
              </a:spcAft>
            </a:pPr>
            <a:r>
              <a:rPr b="0" sz="900">
                <a:solidFill>
                  <a:srgbClr val="9AA6C4"/>
                </a:solidFill>
                <a:latin typeface="Calibri"/>
              </a:rPr>
              <a:t>Data Engineering och Agila metoder · Week 5</a:t>
            </a:r>
          </a:p>
        </p:txBody>
      </p:sp>
      <p:sp>
        <p:nvSpPr>
          <p:cNvPr id="6" name="TextBox 5"/>
          <p:cNvSpPr txBox="1"/>
          <p:nvPr/>
        </p:nvSpPr>
        <p:spPr>
          <a:xfrm>
            <a:off x="11475720" y="6510528"/>
            <a:ext cx="548640" cy="274320"/>
          </a:xfrm>
          <a:prstGeom prst="rect">
            <a:avLst/>
          </a:prstGeom>
          <a:noFill/>
        </p:spPr>
        <p:txBody>
          <a:bodyPr bIns="0" lIns="0" rIns="0" tIns="0" wrap="square">
            <a:spAutoFit/>
          </a:bodyPr>
          <a:lstStyle/>
          <a:p>
            <a:pPr algn="r">
              <a:spcAft>
                <a:spcPts val="0"/>
              </a:spcAft>
            </a:pPr>
            <a:r>
              <a:rPr b="0" sz="900">
                <a:solidFill>
                  <a:srgbClr val="9AA6C4"/>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bIns="0" lIns="0" rIns="0" tIns="0" wrap="square">
            <a:spAutoFit/>
          </a:bodyPr>
          <a:lstStyle/>
          <a:p>
            <a:pPr algn="l">
              <a:spcAft>
                <a:spcPts val="0"/>
              </a:spcAft>
            </a:pPr>
            <a:r>
              <a:rPr b="1" sz="1200">
                <a:solidFill>
                  <a:srgbClr val="F2994A"/>
                </a:solidFill>
                <a:latin typeface="Calibri"/>
              </a:rPr>
              <a:t>A COST TO REMEMBER</a:t>
            </a:r>
          </a:p>
        </p:txBody>
      </p:sp>
      <p:sp>
        <p:nvSpPr>
          <p:cNvPr id="3" name="TextBox 2"/>
          <p:cNvSpPr txBox="1"/>
          <p:nvPr/>
        </p:nvSpPr>
        <p:spPr>
          <a:xfrm>
            <a:off x="502920" y="2300000"/>
            <a:ext cx="11000000" cy="2000000"/>
          </a:xfrm>
          <a:prstGeom prst="rect">
            <a:avLst/>
          </a:prstGeom>
          <a:noFill/>
        </p:spPr>
        <p:txBody>
          <a:bodyPr bIns="0" lIns="0" rIns="0" tIns="0" wrap="square">
            <a:spAutoFit/>
          </a:bodyPr>
          <a:lstStyle/>
          <a:p>
            <a:pPr algn="l">
              <a:spcAft>
                <a:spcPts val="0"/>
              </a:spcAft>
            </a:pPr>
            <a:r>
              <a:rPr b="1" sz="3000">
                <a:solidFill>
                  <a:srgbClr val="1E2761"/>
                </a:solidFill>
                <a:latin typeface="Calibri"/>
              </a:rPr>
              <a:t>Sending data into the cloud is usually free. Sending it out can cost money.</a:t>
            </a:r>
          </a:p>
        </p:txBody>
      </p:sp>
      <p:sp>
        <p:nvSpPr>
          <p:cNvPr id="4" name="TextBox 3"/>
          <p:cNvSpPr txBox="1"/>
          <p:nvPr/>
        </p:nvSpPr>
        <p:spPr>
          <a:xfrm>
            <a:off x="502920" y="4400000"/>
            <a:ext cx="10800000" cy="1200000"/>
          </a:xfrm>
          <a:prstGeom prst="rect">
            <a:avLst/>
          </a:prstGeom>
          <a:noFill/>
        </p:spPr>
        <p:txBody>
          <a:bodyPr bIns="0" lIns="0" rIns="0" tIns="0" wrap="square">
            <a:spAutoFit/>
          </a:bodyPr>
          <a:lstStyle/>
          <a:p>
            <a:pPr algn="l">
              <a:spcAft>
                <a:spcPts val="0"/>
              </a:spcAft>
            </a:pPr>
            <a:r>
              <a:rPr b="0" sz="1500">
                <a:solidFill>
                  <a:srgbClr val="44506B"/>
                </a:solidFill>
                <a:latin typeface="Calibri"/>
              </a:rPr>
              <a:t>Ingress is normally free. Egress is charged per GB when data leaves the provider's network, including when it is sent to users. Check the egress price before choosing a service.</a:t>
            </a:r>
          </a:p>
        </p:txBody>
      </p:sp>
      <p:sp>
        <p:nvSpPr>
          <p:cNvPr id="5" name="TextBox 4"/>
          <p:cNvSpPr txBox="1"/>
          <p:nvPr/>
        </p:nvSpPr>
        <p:spPr>
          <a:xfrm>
            <a:off x="502920" y="6510528"/>
            <a:ext cx="4572000" cy="274320"/>
          </a:xfrm>
          <a:prstGeom prst="rect">
            <a:avLst/>
          </a:prstGeom>
          <a:noFill/>
        </p:spPr>
        <p:txBody>
          <a:bodyPr bIns="0" lIns="0" rIns="0" tIns="0" wrap="square">
            <a:spAutoFit/>
          </a:bodyPr>
          <a:lstStyle/>
          <a:p>
            <a:pPr algn="l">
              <a:spcAft>
                <a:spcPts val="0"/>
              </a:spcAft>
            </a:pPr>
            <a:r>
              <a:rPr b="0" sz="900">
                <a:solidFill>
                  <a:srgbClr val="9AA6C4"/>
                </a:solidFill>
                <a:latin typeface="Calibri"/>
              </a:rPr>
              <a:t>Data Engineering och Agila metoder · Week 5</a:t>
            </a:r>
          </a:p>
        </p:txBody>
      </p:sp>
      <p:sp>
        <p:nvSpPr>
          <p:cNvPr id="6" name="TextBox 5"/>
          <p:cNvSpPr txBox="1"/>
          <p:nvPr/>
        </p:nvSpPr>
        <p:spPr>
          <a:xfrm>
            <a:off x="11475720" y="6510528"/>
            <a:ext cx="548640" cy="274320"/>
          </a:xfrm>
          <a:prstGeom prst="rect">
            <a:avLst/>
          </a:prstGeom>
          <a:noFill/>
        </p:spPr>
        <p:txBody>
          <a:bodyPr bIns="0" lIns="0" rIns="0" tIns="0" wrap="square">
            <a:spAutoFit/>
          </a:bodyPr>
          <a:lstStyle/>
          <a:p>
            <a:pPr algn="r">
              <a:spcAft>
                <a:spcPts val="0"/>
              </a:spcAft>
            </a:pPr>
            <a:r>
              <a:rPr b="0" sz="900">
                <a:solidFill>
                  <a:srgbClr val="9AA6C4"/>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bIns="0" lIns="0" rIns="0" tIns="0" wrap="square">
            <a:spAutoFit/>
          </a:bodyPr>
          <a:lstStyle/>
          <a:p>
            <a:pPr algn="l">
              <a:spcAft>
                <a:spcPts val="0"/>
              </a:spcAft>
            </a:pPr>
            <a:r>
              <a:rPr b="1" sz="1200">
                <a:solidFill>
                  <a:srgbClr val="F2994A"/>
                </a:solidFill>
                <a:latin typeface="Calibri"/>
              </a:rPr>
              <a:t>COST</a:t>
            </a:r>
          </a:p>
        </p:txBody>
      </p:sp>
      <p:sp>
        <p:nvSpPr>
          <p:cNvPr id="3" name="TextBox 2"/>
          <p:cNvSpPr txBox="1"/>
          <p:nvPr/>
        </p:nvSpPr>
        <p:spPr>
          <a:xfrm>
            <a:off x="502920" y="560000"/>
            <a:ext cx="10800000" cy="700000"/>
          </a:xfrm>
          <a:prstGeom prst="rect">
            <a:avLst/>
          </a:prstGeom>
          <a:noFill/>
        </p:spPr>
        <p:txBody>
          <a:bodyPr bIns="0" lIns="0" rIns="0" tIns="0" wrap="square">
            <a:spAutoFit/>
          </a:bodyPr>
          <a:lstStyle/>
          <a:p>
            <a:pPr algn="l">
              <a:spcAft>
                <a:spcPts val="0"/>
              </a:spcAft>
            </a:pPr>
            <a:r>
              <a:rPr b="1" sz="2600">
                <a:solidFill>
                  <a:srgbClr val="1E2761"/>
                </a:solidFill>
                <a:latin typeface="Calibri"/>
              </a:rPr>
              <a:t>How a free tier can end</a:t>
            </a:r>
          </a:p>
        </p:txBody>
      </p:sp>
      <p:sp>
        <p:nvSpPr>
          <p:cNvPr id="4" name="Rounded Rectangle 3"/>
          <p:cNvSpPr/>
          <p:nvPr/>
        </p:nvSpPr>
        <p:spPr>
          <a:xfrm>
            <a:off x="502920" y="1400000"/>
            <a:ext cx="10800000" cy="1050000"/>
          </a:xfrm>
          <a:prstGeom prst="roundRect">
            <a:avLst>
              <a:gd fmla="val 6000" name="adj"/>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endParaRPr/>
          </a:p>
        </p:txBody>
      </p:sp>
      <p:sp>
        <p:nvSpPr>
          <p:cNvPr id="5" name="TextBox 4"/>
          <p:cNvSpPr txBox="1"/>
          <p:nvPr/>
        </p:nvSpPr>
        <p:spPr>
          <a:xfrm>
            <a:off x="700000" y="1550000"/>
            <a:ext cx="10400000" cy="350000"/>
          </a:xfrm>
          <a:prstGeom prst="rect">
            <a:avLst/>
          </a:prstGeom>
          <a:noFill/>
        </p:spPr>
        <p:txBody>
          <a:bodyPr bIns="0" lIns="0" rIns="0" tIns="0" wrap="square">
            <a:spAutoFit/>
          </a:bodyPr>
          <a:lstStyle/>
          <a:p>
            <a:pPr algn="l">
              <a:spcAft>
                <a:spcPts val="0"/>
              </a:spcAft>
            </a:pPr>
            <a:r>
              <a:rPr b="1" sz="1600">
                <a:solidFill>
                  <a:srgbClr val="1E2761"/>
                </a:solidFill>
                <a:latin typeface="Calibri"/>
              </a:rPr>
              <a:t>It can stop.</a:t>
            </a:r>
          </a:p>
        </p:txBody>
      </p:sp>
      <p:sp>
        <p:nvSpPr>
          <p:cNvPr id="6" name="TextBox 5"/>
          <p:cNvSpPr txBox="1"/>
          <p:nvPr/>
        </p:nvSpPr>
        <p:spPr>
          <a:xfrm>
            <a:off x="700000" y="1920000"/>
            <a:ext cx="10400000" cy="215444"/>
          </a:xfrm>
          <a:prstGeom prst="rect">
            <a:avLst/>
          </a:prstGeom>
          <a:noFill/>
        </p:spPr>
        <p:txBody>
          <a:bodyPr bIns="0" lIns="0" rIns="0" tIns="0" wrap="square">
            <a:spAutoFit/>
          </a:bodyPr>
          <a:lstStyle/>
          <a:p>
            <a:pPr algn="l">
              <a:spcAft>
                <a:spcPts val="0"/>
              </a:spcAft>
            </a:pPr>
            <a:r>
              <a:rPr b="0" dirty="0" sz="1400">
                <a:solidFill>
                  <a:srgbClr val="44506B"/>
                </a:solidFill>
                <a:latin typeface="Calibri"/>
              </a:rPr>
              <a:t>The service can be suspended until the next period or until you add a payment method.</a:t>
            </a:r>
          </a:p>
        </p:txBody>
      </p:sp>
      <p:sp>
        <p:nvSpPr>
          <p:cNvPr id="7" name="Rounded Rectangle 6"/>
          <p:cNvSpPr/>
          <p:nvPr/>
        </p:nvSpPr>
        <p:spPr>
          <a:xfrm>
            <a:off x="502920" y="2570000"/>
            <a:ext cx="10800000" cy="1050000"/>
          </a:xfrm>
          <a:prstGeom prst="roundRect">
            <a:avLst>
              <a:gd fmla="val 6000" name="adj"/>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endParaRPr/>
          </a:p>
        </p:txBody>
      </p:sp>
      <p:sp>
        <p:nvSpPr>
          <p:cNvPr id="8" name="TextBox 7"/>
          <p:cNvSpPr txBox="1"/>
          <p:nvPr/>
        </p:nvSpPr>
        <p:spPr>
          <a:xfrm>
            <a:off x="700000" y="2720000"/>
            <a:ext cx="10400000" cy="350000"/>
          </a:xfrm>
          <a:prstGeom prst="rect">
            <a:avLst/>
          </a:prstGeom>
          <a:noFill/>
        </p:spPr>
        <p:txBody>
          <a:bodyPr bIns="0" lIns="0" rIns="0" tIns="0" wrap="square">
            <a:spAutoFit/>
          </a:bodyPr>
          <a:lstStyle/>
          <a:p>
            <a:pPr algn="l">
              <a:spcAft>
                <a:spcPts val="0"/>
              </a:spcAft>
            </a:pPr>
            <a:r>
              <a:rPr b="1" sz="1600">
                <a:solidFill>
                  <a:srgbClr val="1E2761"/>
                </a:solidFill>
                <a:latin typeface="Calibri"/>
              </a:rPr>
              <a:t>It can start billing.</a:t>
            </a:r>
          </a:p>
        </p:txBody>
      </p:sp>
      <p:sp>
        <p:nvSpPr>
          <p:cNvPr id="9" name="TextBox 8"/>
          <p:cNvSpPr txBox="1"/>
          <p:nvPr/>
        </p:nvSpPr>
        <p:spPr>
          <a:xfrm>
            <a:off x="700000" y="3090000"/>
            <a:ext cx="10400000" cy="215444"/>
          </a:xfrm>
          <a:prstGeom prst="rect">
            <a:avLst/>
          </a:prstGeom>
          <a:noFill/>
        </p:spPr>
        <p:txBody>
          <a:bodyPr bIns="0" lIns="0" rIns="0" tIns="0" wrap="square">
            <a:spAutoFit/>
          </a:bodyPr>
          <a:lstStyle/>
          <a:p>
            <a:pPr algn="l">
              <a:spcAft>
                <a:spcPts val="0"/>
              </a:spcAft>
            </a:pPr>
            <a:r>
              <a:rPr b="0" dirty="0" sz="1400">
                <a:solidFill>
                  <a:srgbClr val="44506B"/>
                </a:solidFill>
                <a:latin typeface="Calibri"/>
              </a:rPr>
              <a:t>The service can continue at the standard price after the free limit.</a:t>
            </a:r>
          </a:p>
        </p:txBody>
      </p:sp>
      <p:sp>
        <p:nvSpPr>
          <p:cNvPr id="10" name="Rounded Rectangle 9"/>
          <p:cNvSpPr/>
          <p:nvPr/>
        </p:nvSpPr>
        <p:spPr>
          <a:xfrm>
            <a:off x="502920" y="3740000"/>
            <a:ext cx="10800000" cy="1050000"/>
          </a:xfrm>
          <a:prstGeom prst="roundRect">
            <a:avLst>
              <a:gd fmla="val 6000" name="adj"/>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endParaRPr/>
          </a:p>
        </p:txBody>
      </p:sp>
      <p:sp>
        <p:nvSpPr>
          <p:cNvPr id="11" name="TextBox 10"/>
          <p:cNvSpPr txBox="1"/>
          <p:nvPr/>
        </p:nvSpPr>
        <p:spPr>
          <a:xfrm>
            <a:off x="700000" y="3890000"/>
            <a:ext cx="10400000" cy="350000"/>
          </a:xfrm>
          <a:prstGeom prst="rect">
            <a:avLst/>
          </a:prstGeom>
          <a:noFill/>
        </p:spPr>
        <p:txBody>
          <a:bodyPr bIns="0" lIns="0" rIns="0" tIns="0" wrap="square">
            <a:spAutoFit/>
          </a:bodyPr>
          <a:lstStyle/>
          <a:p>
            <a:pPr algn="l">
              <a:spcAft>
                <a:spcPts val="0"/>
              </a:spcAft>
            </a:pPr>
            <a:r>
              <a:rPr b="1" sz="1600">
                <a:solidFill>
                  <a:srgbClr val="1E2761"/>
                </a:solidFill>
                <a:latin typeface="Calibri"/>
              </a:rPr>
              <a:t>It can expire.</a:t>
            </a:r>
          </a:p>
        </p:txBody>
      </p:sp>
      <p:sp>
        <p:nvSpPr>
          <p:cNvPr id="12" name="TextBox 11"/>
          <p:cNvSpPr txBox="1"/>
          <p:nvPr/>
        </p:nvSpPr>
        <p:spPr>
          <a:xfrm>
            <a:off x="700000" y="4260000"/>
            <a:ext cx="10400000" cy="215444"/>
          </a:xfrm>
          <a:prstGeom prst="rect">
            <a:avLst/>
          </a:prstGeom>
          <a:noFill/>
        </p:spPr>
        <p:txBody>
          <a:bodyPr bIns="0" lIns="0" rIns="0" tIns="0" wrap="square">
            <a:spAutoFit/>
          </a:bodyPr>
          <a:lstStyle/>
          <a:p>
            <a:pPr algn="l">
              <a:spcAft>
                <a:spcPts val="0"/>
              </a:spcAft>
            </a:pPr>
            <a:r>
              <a:rPr b="0" dirty="0" sz="1400">
                <a:solidFill>
                  <a:srgbClr val="44506B"/>
                </a:solidFill>
                <a:latin typeface="Calibri"/>
              </a:rPr>
              <a:t>An introductory credit can end after a set period, after which the service becomes paid.</a:t>
            </a:r>
          </a:p>
        </p:txBody>
      </p:sp>
      <p:sp>
        <p:nvSpPr>
          <p:cNvPr id="13" name="TextBox 12"/>
          <p:cNvSpPr txBox="1"/>
          <p:nvPr/>
        </p:nvSpPr>
        <p:spPr>
          <a:xfrm>
            <a:off x="502920" y="6510528"/>
            <a:ext cx="4572000" cy="274320"/>
          </a:xfrm>
          <a:prstGeom prst="rect">
            <a:avLst/>
          </a:prstGeom>
          <a:noFill/>
        </p:spPr>
        <p:txBody>
          <a:bodyPr bIns="0" lIns="0" rIns="0" tIns="0" wrap="square">
            <a:spAutoFit/>
          </a:bodyPr>
          <a:lstStyle/>
          <a:p>
            <a:pPr algn="l">
              <a:spcAft>
                <a:spcPts val="0"/>
              </a:spcAft>
            </a:pPr>
            <a:r>
              <a:rPr b="0" sz="900">
                <a:solidFill>
                  <a:srgbClr val="9AA6C4"/>
                </a:solidFill>
                <a:latin typeface="Calibri"/>
              </a:rPr>
              <a:t>Data Engineering och Agila metoder · Week 5</a:t>
            </a:r>
          </a:p>
        </p:txBody>
      </p:sp>
      <p:sp>
        <p:nvSpPr>
          <p:cNvPr id="14" name="TextBox 13"/>
          <p:cNvSpPr txBox="1"/>
          <p:nvPr/>
        </p:nvSpPr>
        <p:spPr>
          <a:xfrm>
            <a:off x="11475720" y="6510528"/>
            <a:ext cx="548640" cy="274320"/>
          </a:xfrm>
          <a:prstGeom prst="rect">
            <a:avLst/>
          </a:prstGeom>
          <a:noFill/>
        </p:spPr>
        <p:txBody>
          <a:bodyPr bIns="0" lIns="0" rIns="0" tIns="0" wrap="square">
            <a:spAutoFit/>
          </a:bodyPr>
          <a:lstStyle/>
          <a:p>
            <a:pPr algn="r">
              <a:spcAft>
                <a:spcPts val="0"/>
              </a:spcAft>
            </a:pPr>
            <a:r>
              <a:rPr b="0" sz="900">
                <a:solidFill>
                  <a:srgbClr val="9AA6C4"/>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bIns="0" lIns="0" rIns="0" tIns="0" wrap="square">
            <a:spAutoFit/>
          </a:bodyPr>
          <a:lstStyle/>
          <a:p>
            <a:pPr algn="l">
              <a:spcAft>
                <a:spcPts val="0"/>
              </a:spcAft>
            </a:pPr>
            <a:r>
              <a:rPr b="1" sz="1200">
                <a:solidFill>
                  <a:srgbClr val="F2994A"/>
                </a:solidFill>
                <a:latin typeface="Calibri"/>
              </a:rPr>
              <a:t>COST</a:t>
            </a:r>
          </a:p>
        </p:txBody>
      </p:sp>
      <p:sp>
        <p:nvSpPr>
          <p:cNvPr id="3" name="TextBox 2"/>
          <p:cNvSpPr txBox="1"/>
          <p:nvPr/>
        </p:nvSpPr>
        <p:spPr>
          <a:xfrm>
            <a:off x="502920" y="560000"/>
            <a:ext cx="10800000" cy="700000"/>
          </a:xfrm>
          <a:prstGeom prst="rect">
            <a:avLst/>
          </a:prstGeom>
          <a:noFill/>
        </p:spPr>
        <p:txBody>
          <a:bodyPr bIns="0" lIns="0" rIns="0" tIns="0" wrap="square">
            <a:spAutoFit/>
          </a:bodyPr>
          <a:lstStyle/>
          <a:p>
            <a:pPr algn="l">
              <a:spcAft>
                <a:spcPts val="0"/>
              </a:spcAft>
            </a:pPr>
            <a:r>
              <a:rPr b="1" sz="2600">
                <a:solidFill>
                  <a:srgbClr val="1E2761"/>
                </a:solidFill>
                <a:latin typeface="Calibri"/>
              </a:rPr>
              <a:t>Avoid unexpected costs</a:t>
            </a:r>
          </a:p>
        </p:txBody>
      </p:sp>
      <p:sp>
        <p:nvSpPr>
          <p:cNvPr id="4" name="TextBox 3"/>
          <p:cNvSpPr txBox="1"/>
          <p:nvPr/>
        </p:nvSpPr>
        <p:spPr>
          <a:xfrm>
            <a:off x="502920" y="1500000"/>
            <a:ext cx="10800000" cy="3052118"/>
          </a:xfrm>
          <a:prstGeom prst="rect">
            <a:avLst/>
          </a:prstGeom>
          <a:noFill/>
        </p:spPr>
        <p:txBody>
          <a:bodyPr bIns="0" lIns="0" rIns="0" tIns="0" wrap="square">
            <a:spAutoFit/>
          </a:bodyPr>
          <a:lstStyle/>
          <a:p>
            <a:pPr algn="l">
              <a:spcAft>
                <a:spcPts val="200"/>
              </a:spcAft>
            </a:pPr>
            <a:r>
              <a:rPr b="1" dirty="0" sz="1500">
                <a:solidFill>
                  <a:srgbClr val="44506B"/>
                </a:solidFill>
                <a:latin typeface="Calibri"/>
              </a:rPr>
              <a:t>•  Set a budget alert on day one.</a:t>
            </a:r>
          </a:p>
          <a:p>
            <a:pPr algn="l">
              <a:spcAft>
                <a:spcPts val="200"/>
              </a:spcAft>
            </a:pPr>
            <a:r>
              <a:rPr b="0" dirty="0" sz="1500">
                <a:solidFill>
                  <a:srgbClr val="44506B"/>
                </a:solidFill>
                <a:latin typeface="Calibri"/>
              </a:rPr>
              <a:t xml:space="preserve">     Do this before deployment.</a:t>
            </a:r>
          </a:p>
          <a:p>
            <a:pPr algn="l">
              <a:spcAft>
                <a:spcPts val="200"/>
              </a:spcAft>
            </a:pPr>
            <a:endParaRPr b="0" dirty="0" sz="1500">
              <a:solidFill>
                <a:srgbClr val="44506B"/>
              </a:solidFill>
              <a:latin typeface="Calibri"/>
            </a:endParaRPr>
          </a:p>
          <a:p>
            <a:pPr algn="l">
              <a:spcAft>
                <a:spcPts val="200"/>
              </a:spcAft>
            </a:pPr>
            <a:r>
              <a:rPr b="1" dirty="0" sz="1500">
                <a:solidFill>
                  <a:srgbClr val="44506B"/>
                </a:solidFill>
                <a:latin typeface="Calibri"/>
              </a:rPr>
              <a:t>•  Know which resources are charged per hour.</a:t>
            </a:r>
          </a:p>
          <a:p>
            <a:pPr algn="l">
              <a:spcAft>
                <a:spcPts val="200"/>
              </a:spcAft>
            </a:pPr>
            <a:r>
              <a:rPr b="0" dirty="0" sz="1500">
                <a:solidFill>
                  <a:srgbClr val="44506B"/>
                </a:solidFill>
                <a:latin typeface="Calibri"/>
              </a:rPr>
              <a:t xml:space="preserve">     A database, disk, or load balancer can cost money even when it is idle.</a:t>
            </a:r>
          </a:p>
          <a:p>
            <a:pPr algn="l">
              <a:spcAft>
                <a:spcPts val="200"/>
              </a:spcAft>
            </a:pPr>
            <a:endParaRPr b="0" dirty="0" sz="1500">
              <a:solidFill>
                <a:srgbClr val="44506B"/>
              </a:solidFill>
              <a:latin typeface="Calibri"/>
            </a:endParaRPr>
          </a:p>
          <a:p>
            <a:pPr algn="l">
              <a:spcAft>
                <a:spcPts val="200"/>
              </a:spcAft>
            </a:pPr>
            <a:r>
              <a:rPr b="1" dirty="0" sz="1500">
                <a:solidFill>
                  <a:srgbClr val="44506B"/>
                </a:solidFill>
                <a:latin typeface="Calibri"/>
              </a:rPr>
              <a:t>•  Prefer scale-to-zero for coursework.</a:t>
            </a:r>
          </a:p>
          <a:p>
            <a:pPr algn="l">
              <a:spcAft>
                <a:spcPts val="200"/>
              </a:spcAft>
            </a:pPr>
            <a:r>
              <a:rPr b="0" dirty="0" sz="1500">
                <a:solidFill>
                  <a:srgbClr val="44506B"/>
                </a:solidFill>
                <a:latin typeface="Calibri"/>
              </a:rPr>
              <a:t xml:space="preserve">     A service that costs nothing when unused is suitable for a student project.</a:t>
            </a:r>
          </a:p>
          <a:p>
            <a:pPr algn="l">
              <a:spcAft>
                <a:spcPts val="200"/>
              </a:spcAft>
            </a:pPr>
            <a:endParaRPr b="0" dirty="0" sz="1500">
              <a:solidFill>
                <a:srgbClr val="44506B"/>
              </a:solidFill>
              <a:latin typeface="Calibri"/>
            </a:endParaRPr>
          </a:p>
          <a:p>
            <a:pPr algn="l">
              <a:spcAft>
                <a:spcPts val="200"/>
              </a:spcAft>
            </a:pPr>
            <a:r>
              <a:rPr b="1" dirty="0" sz="1500">
                <a:solidFill>
                  <a:srgbClr val="44506B"/>
                </a:solidFill>
                <a:latin typeface="Calibri"/>
              </a:rPr>
              <a:t>•  Tag resources.</a:t>
            </a:r>
          </a:p>
          <a:p>
            <a:pPr algn="l">
              <a:spcAft>
                <a:spcPts val="200"/>
              </a:spcAft>
            </a:pPr>
            <a:r>
              <a:rPr b="0" dirty="0" sz="1500">
                <a:solidFill>
                  <a:srgbClr val="44506B"/>
                </a:solidFill>
                <a:latin typeface="Calibri"/>
              </a:rPr>
              <a:t xml:space="preserve">     Tags help you see what a cost belongs to.</a:t>
            </a:r>
            <a:r>
              <a:rPr b="0" dirty="0" err="1" lang="sv-SE" sz="1500">
                <a:solidFill>
                  <a:srgbClr val="44506B"/>
                </a:solidFill>
                <a:latin typeface="Calibri"/>
              </a:rPr>
              <a:t/>
            </a:r>
            <a:r>
              <a:rPr b="0" dirty="0" sz="1500">
                <a:solidFill>
                  <a:srgbClr val="44506B"/>
                </a:solidFill>
                <a:latin typeface="Calibri"/>
              </a:rPr>
              <a:t/>
            </a:r>
          </a:p>
          <a:p>
            <a:pPr algn="l">
              <a:spcAft>
                <a:spcPts val="200"/>
              </a:spcAft>
            </a:pPr>
            <a:endParaRPr b="0" dirty="0" sz="1500">
              <a:solidFill>
                <a:srgbClr val="44506B"/>
              </a:solidFill>
              <a:latin typeface="Calibri"/>
            </a:endParaRPr>
          </a:p>
        </p:txBody>
      </p:sp>
      <p:sp>
        <p:nvSpPr>
          <p:cNvPr id="5" name="TextBox 4"/>
          <p:cNvSpPr txBox="1"/>
          <p:nvPr/>
        </p:nvSpPr>
        <p:spPr>
          <a:xfrm>
            <a:off x="502920" y="6510528"/>
            <a:ext cx="4572000" cy="274320"/>
          </a:xfrm>
          <a:prstGeom prst="rect">
            <a:avLst/>
          </a:prstGeom>
          <a:noFill/>
        </p:spPr>
        <p:txBody>
          <a:bodyPr bIns="0" lIns="0" rIns="0" tIns="0" wrap="square">
            <a:spAutoFit/>
          </a:bodyPr>
          <a:lstStyle/>
          <a:p>
            <a:pPr algn="l">
              <a:spcAft>
                <a:spcPts val="0"/>
              </a:spcAft>
            </a:pPr>
            <a:r>
              <a:rPr b="0" sz="900">
                <a:solidFill>
                  <a:srgbClr val="9AA6C4"/>
                </a:solidFill>
                <a:latin typeface="Calibri"/>
              </a:rPr>
              <a:t>Data Engineering och Agila metoder · Week 5</a:t>
            </a:r>
          </a:p>
        </p:txBody>
      </p:sp>
      <p:sp>
        <p:nvSpPr>
          <p:cNvPr id="6" name="TextBox 5"/>
          <p:cNvSpPr txBox="1"/>
          <p:nvPr/>
        </p:nvSpPr>
        <p:spPr>
          <a:xfrm>
            <a:off x="11475720" y="6510528"/>
            <a:ext cx="548640" cy="274320"/>
          </a:xfrm>
          <a:prstGeom prst="rect">
            <a:avLst/>
          </a:prstGeom>
          <a:noFill/>
        </p:spPr>
        <p:txBody>
          <a:bodyPr bIns="0" lIns="0" rIns="0" tIns="0" wrap="square">
            <a:spAutoFit/>
          </a:bodyPr>
          <a:lstStyle/>
          <a:p>
            <a:pPr algn="r">
              <a:spcAft>
                <a:spcPts val="0"/>
              </a:spcAft>
            </a:pPr>
            <a:r>
              <a:rPr b="0" sz="900">
                <a:solidFill>
                  <a:srgbClr val="9AA6C4"/>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a:xfrm>
          <a:off x="0" y="0"/>
          <a:ext cx="0" cy="0"/>
          <a:chOff x="0" y="0"/>
          <a:chExt cx="0" cy="0"/>
        </a:xfrm>
      </p:grpSpPr>
      <p:sp>
        <p:nvSpPr>
          <p:cNvPr id="2" name="Oval 1"/>
          <p:cNvSpPr/>
          <p:nvPr/>
        </p:nvSpPr>
        <p:spPr>
          <a:xfrm>
            <a:off x="8740231" y="1953791"/>
            <a:ext cx="136528" cy="13652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3" name="Oval 2"/>
          <p:cNvSpPr/>
          <p:nvPr/>
        </p:nvSpPr>
        <p:spPr>
          <a:xfrm>
            <a:off x="10154326" y="1424622"/>
            <a:ext cx="166954" cy="16695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4" name="Oval 3"/>
          <p:cNvSpPr/>
          <p:nvPr/>
        </p:nvSpPr>
        <p:spPr>
          <a:xfrm>
            <a:off x="10915855" y="1630385"/>
            <a:ext cx="136274" cy="13627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5" name="Oval 4"/>
          <p:cNvSpPr/>
          <p:nvPr/>
        </p:nvSpPr>
        <p:spPr>
          <a:xfrm>
            <a:off x="9593976" y="1936662"/>
            <a:ext cx="161138" cy="16113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6" name="Oval 5"/>
          <p:cNvSpPr/>
          <p:nvPr/>
        </p:nvSpPr>
        <p:spPr>
          <a:xfrm>
            <a:off x="9161948" y="1108859"/>
            <a:ext cx="104265" cy="104265"/>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7" name="Oval 6"/>
          <p:cNvSpPr/>
          <p:nvPr/>
        </p:nvSpPr>
        <p:spPr>
          <a:xfrm>
            <a:off x="10375434" y="1077617"/>
            <a:ext cx="156200" cy="15620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8" name="Oval 7"/>
          <p:cNvSpPr/>
          <p:nvPr/>
        </p:nvSpPr>
        <p:spPr>
          <a:xfrm>
            <a:off x="11027847" y="1415191"/>
            <a:ext cx="97041" cy="9704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9" name="Oval 8"/>
          <p:cNvSpPr/>
          <p:nvPr/>
        </p:nvSpPr>
        <p:spPr>
          <a:xfrm>
            <a:off x="9805552" y="1675230"/>
            <a:ext cx="128358" cy="12835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10" name="Oval 9"/>
          <p:cNvSpPr/>
          <p:nvPr/>
        </p:nvSpPr>
        <p:spPr>
          <a:xfrm>
            <a:off x="9592921" y="2036060"/>
            <a:ext cx="101759" cy="10175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11" name="Oval 10"/>
          <p:cNvSpPr/>
          <p:nvPr/>
        </p:nvSpPr>
        <p:spPr>
          <a:xfrm>
            <a:off x="10652840" y="1714580"/>
            <a:ext cx="156696" cy="156696"/>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12" name="Oval 11"/>
          <p:cNvSpPr/>
          <p:nvPr/>
        </p:nvSpPr>
        <p:spPr>
          <a:xfrm>
            <a:off x="10569826" y="1696987"/>
            <a:ext cx="164744" cy="16474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13" name="Oval 12"/>
          <p:cNvSpPr/>
          <p:nvPr/>
        </p:nvSpPr>
        <p:spPr>
          <a:xfrm>
            <a:off x="9321086" y="1510919"/>
            <a:ext cx="83786" cy="83786"/>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14" name="Oval 13"/>
          <p:cNvSpPr/>
          <p:nvPr/>
        </p:nvSpPr>
        <p:spPr>
          <a:xfrm>
            <a:off x="9600001" y="797765"/>
            <a:ext cx="107280" cy="10728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15" name="Oval 14"/>
          <p:cNvSpPr/>
          <p:nvPr/>
        </p:nvSpPr>
        <p:spPr>
          <a:xfrm>
            <a:off x="11135089" y="1808362"/>
            <a:ext cx="101080" cy="10108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16" name="Oval 15"/>
          <p:cNvSpPr/>
          <p:nvPr/>
        </p:nvSpPr>
        <p:spPr>
          <a:xfrm>
            <a:off x="8753900" y="1404116"/>
            <a:ext cx="74203" cy="74203"/>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17" name="Oval 16"/>
          <p:cNvSpPr/>
          <p:nvPr/>
        </p:nvSpPr>
        <p:spPr>
          <a:xfrm>
            <a:off x="10818569" y="1116927"/>
            <a:ext cx="91464" cy="9146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18" name="Oval 17"/>
          <p:cNvSpPr/>
          <p:nvPr/>
        </p:nvSpPr>
        <p:spPr>
          <a:xfrm>
            <a:off x="9281640" y="706161"/>
            <a:ext cx="80591" cy="8059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19" name="Oval 18"/>
          <p:cNvSpPr/>
          <p:nvPr/>
        </p:nvSpPr>
        <p:spPr>
          <a:xfrm>
            <a:off x="11160115" y="1774498"/>
            <a:ext cx="164166" cy="164166"/>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20" name="Oval 19"/>
          <p:cNvSpPr/>
          <p:nvPr/>
        </p:nvSpPr>
        <p:spPr>
          <a:xfrm>
            <a:off x="9226492" y="1642404"/>
            <a:ext cx="103981" cy="10398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21" name="Oval 20"/>
          <p:cNvSpPr/>
          <p:nvPr/>
        </p:nvSpPr>
        <p:spPr>
          <a:xfrm>
            <a:off x="9581771" y="1588646"/>
            <a:ext cx="97304" cy="9730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22" name="Oval 21"/>
          <p:cNvSpPr/>
          <p:nvPr/>
        </p:nvSpPr>
        <p:spPr>
          <a:xfrm>
            <a:off x="9112391" y="1411347"/>
            <a:ext cx="78149" cy="7814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23" name="Oval 22"/>
          <p:cNvSpPr/>
          <p:nvPr/>
        </p:nvSpPr>
        <p:spPr>
          <a:xfrm>
            <a:off x="10840362" y="1396097"/>
            <a:ext cx="152356" cy="152356"/>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24" name="Oval 23"/>
          <p:cNvSpPr/>
          <p:nvPr/>
        </p:nvSpPr>
        <p:spPr>
          <a:xfrm>
            <a:off x="9395650" y="742061"/>
            <a:ext cx="85514" cy="8551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25" name="Oval 24"/>
          <p:cNvSpPr/>
          <p:nvPr/>
        </p:nvSpPr>
        <p:spPr>
          <a:xfrm>
            <a:off x="9136211" y="1328659"/>
            <a:ext cx="131770" cy="13177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26" name="Oval 25"/>
          <p:cNvSpPr/>
          <p:nvPr/>
        </p:nvSpPr>
        <p:spPr>
          <a:xfrm>
            <a:off x="11246163" y="1472957"/>
            <a:ext cx="89452" cy="89452"/>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27" name="Oval 26"/>
          <p:cNvSpPr/>
          <p:nvPr/>
        </p:nvSpPr>
        <p:spPr>
          <a:xfrm>
            <a:off x="11544820" y="1664376"/>
            <a:ext cx="122498" cy="12249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28" name="Oval 27"/>
          <p:cNvSpPr/>
          <p:nvPr/>
        </p:nvSpPr>
        <p:spPr>
          <a:xfrm>
            <a:off x="10999807" y="1996833"/>
            <a:ext cx="80511" cy="8051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29" name="TextBox 28"/>
          <p:cNvSpPr txBox="1"/>
          <p:nvPr/>
        </p:nvSpPr>
        <p:spPr>
          <a:xfrm>
            <a:off x="640080" y="3200000"/>
            <a:ext cx="10000000" cy="1000000"/>
          </a:xfrm>
          <a:prstGeom prst="rect">
            <a:avLst/>
          </a:prstGeom>
          <a:noFill/>
        </p:spPr>
        <p:txBody>
          <a:bodyPr bIns="0" lIns="0" rIns="0" tIns="0" wrap="square">
            <a:spAutoFit/>
          </a:bodyPr>
          <a:lstStyle/>
          <a:p>
            <a:pPr algn="l">
              <a:spcAft>
                <a:spcPts val="0"/>
              </a:spcAft>
            </a:pPr>
            <a:r>
              <a:rPr b="1" sz="3400">
                <a:solidFill>
                  <a:srgbClr val="FFFFFF"/>
                </a:solidFill>
                <a:latin typeface="Calibri"/>
              </a:rPr>
              <a:t>Choosing a cloud service</a:t>
            </a:r>
          </a:p>
        </p:txBody>
      </p:sp>
      <p:sp>
        <p:nvSpPr>
          <p:cNvPr id="30" name="TextBox 29"/>
          <p:cNvSpPr txBox="1"/>
          <p:nvPr/>
        </p:nvSpPr>
        <p:spPr>
          <a:xfrm>
            <a:off x="640080" y="4250000"/>
            <a:ext cx="9500000" cy="900000"/>
          </a:xfrm>
          <a:prstGeom prst="rect">
            <a:avLst/>
          </a:prstGeom>
          <a:noFill/>
        </p:spPr>
        <p:txBody>
          <a:bodyPr bIns="0" lIns="0" rIns="0" tIns="0" wrap="square">
            <a:spAutoFit/>
          </a:bodyPr>
          <a:lstStyle/>
          <a:p>
            <a:pPr algn="l">
              <a:spcAft>
                <a:spcPts val="0"/>
              </a:spcAft>
            </a:pPr>
            <a:r>
              <a:rPr b="0" sz="1500">
                <a:solidFill>
                  <a:srgbClr val="CADCFC"/>
                </a:solidFill>
                <a:latin typeface="Calibri"/>
              </a:rPr>
              <a:t>You should be able to explain why your team chose a particular service.</a:t>
            </a:r>
          </a:p>
        </p:txBody>
      </p:sp>
      <p:sp>
        <p:nvSpPr>
          <p:cNvPr id="31" name="TextBox 30"/>
          <p:cNvSpPr txBox="1"/>
          <p:nvPr/>
        </p:nvSpPr>
        <p:spPr>
          <a:xfrm>
            <a:off x="502920" y="6510528"/>
            <a:ext cx="4572000" cy="274320"/>
          </a:xfrm>
          <a:prstGeom prst="rect">
            <a:avLst/>
          </a:prstGeom>
          <a:noFill/>
        </p:spPr>
        <p:txBody>
          <a:bodyPr bIns="0" lIns="0" rIns="0" tIns="0" wrap="square">
            <a:spAutoFit/>
          </a:bodyPr>
          <a:lstStyle/>
          <a:p>
            <a:pPr algn="l">
              <a:spcAft>
                <a:spcPts val="0"/>
              </a:spcAft>
            </a:pPr>
            <a:r>
              <a:rPr b="0" sz="900">
                <a:solidFill>
                  <a:srgbClr val="CADCFC"/>
                </a:solidFill>
                <a:latin typeface="Calibri"/>
              </a:rPr>
              <a:t>Data Engineering och Agila metoder · Week 5</a:t>
            </a:r>
          </a:p>
        </p:txBody>
      </p:sp>
      <p:sp>
        <p:nvSpPr>
          <p:cNvPr id="32" name="TextBox 31"/>
          <p:cNvSpPr txBox="1"/>
          <p:nvPr/>
        </p:nvSpPr>
        <p:spPr>
          <a:xfrm>
            <a:off x="11475720" y="6510528"/>
            <a:ext cx="548640" cy="274320"/>
          </a:xfrm>
          <a:prstGeom prst="rect">
            <a:avLst/>
          </a:prstGeom>
          <a:noFill/>
        </p:spPr>
        <p:txBody>
          <a:bodyPr bIns="0" lIns="0" rIns="0" tIns="0" wrap="square">
            <a:spAutoFit/>
          </a:bodyPr>
          <a:lstStyle/>
          <a:p>
            <a:pPr algn="r">
              <a:spcAft>
                <a:spcPts val="0"/>
              </a:spcAft>
            </a:pPr>
            <a:r>
              <a:rPr b="0" sz="900">
                <a:solidFill>
                  <a:srgbClr val="CADCFC"/>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bIns="0" lIns="0" rIns="0" tIns="0" wrap="square">
            <a:spAutoFit/>
          </a:bodyPr>
          <a:lstStyle/>
          <a:p>
            <a:pPr algn="l">
              <a:spcAft>
                <a:spcPts val="0"/>
              </a:spcAft>
            </a:pPr>
            <a:r>
              <a:rPr b="1" sz="1200">
                <a:solidFill>
                  <a:srgbClr val="F2994A"/>
                </a:solidFill>
                <a:latin typeface="Calibri"/>
              </a:rPr>
              <a:t>CHOOSING</a:t>
            </a:r>
          </a:p>
        </p:txBody>
      </p:sp>
      <p:sp>
        <p:nvSpPr>
          <p:cNvPr id="3" name="TextBox 2"/>
          <p:cNvSpPr txBox="1"/>
          <p:nvPr/>
        </p:nvSpPr>
        <p:spPr>
          <a:xfrm>
            <a:off x="502920" y="560000"/>
            <a:ext cx="10800000" cy="700000"/>
          </a:xfrm>
          <a:prstGeom prst="rect">
            <a:avLst/>
          </a:prstGeom>
          <a:noFill/>
        </p:spPr>
        <p:txBody>
          <a:bodyPr bIns="0" lIns="0" rIns="0" tIns="0" wrap="square">
            <a:spAutoFit/>
          </a:bodyPr>
          <a:lstStyle/>
          <a:p>
            <a:pPr algn="l">
              <a:spcAft>
                <a:spcPts val="0"/>
              </a:spcAft>
            </a:pPr>
            <a:r>
              <a:rPr b="1" sz="2600">
                <a:solidFill>
                  <a:srgbClr val="1E2761"/>
                </a:solidFill>
                <a:latin typeface="Calibri"/>
              </a:rPr>
              <a:t>What matters when choosing</a:t>
            </a:r>
          </a:p>
        </p:txBody>
      </p:sp>
      <p:sp>
        <p:nvSpPr>
          <p:cNvPr id="4" name="TextBox 3"/>
          <p:cNvSpPr txBox="1"/>
          <p:nvPr/>
        </p:nvSpPr>
        <p:spPr>
          <a:xfrm>
            <a:off x="502920" y="1500000"/>
            <a:ext cx="10800000" cy="4200000"/>
          </a:xfrm>
          <a:prstGeom prst="rect">
            <a:avLst/>
          </a:prstGeom>
          <a:noFill/>
        </p:spPr>
        <p:txBody>
          <a:bodyPr bIns="0" lIns="0" rIns="0" tIns="0" wrap="square">
            <a:spAutoFit/>
          </a:bodyPr>
          <a:lstStyle/>
          <a:p>
            <a:pPr algn="l">
              <a:spcAft>
                <a:spcPts val="200"/>
              </a:spcAft>
            </a:pPr>
            <a:r>
              <a:rPr b="1" sz="1500">
                <a:solidFill>
                  <a:srgbClr val="44506B"/>
                </a:solidFill>
                <a:latin typeface="Calibri"/>
              </a:rPr>
              <a:t>•  What the team already knows.</a:t>
            </a:r>
          </a:p>
          <a:p>
            <a:pPr algn="l">
              <a:spcAft>
                <a:spcPts val="200"/>
              </a:spcAft>
            </a:pPr>
            <a:r>
              <a:rPr b="0" sz="1500">
                <a:solidFill>
                  <a:srgbClr val="44506B"/>
                </a:solidFill>
                <a:latin typeface="Calibri"/>
              </a:rPr>
              <a:t xml:space="preserve">     Existing experience can be a good reason to choose a platform.</a:t>
            </a:r>
          </a:p>
          <a:p>
            <a:pPr algn="l">
              <a:spcAft>
                <a:spcPts val="200"/>
              </a:spcAft>
            </a:pPr>
            <a:endParaRPr b="0" sz="1500">
              <a:solidFill>
                <a:srgbClr val="44506B"/>
              </a:solidFill>
              <a:latin typeface="Calibri"/>
            </a:endParaRPr>
          </a:p>
          <a:p>
            <a:pPr algn="l">
              <a:spcAft>
                <a:spcPts val="200"/>
              </a:spcAft>
            </a:pPr>
            <a:r>
              <a:rPr b="1" sz="1500">
                <a:solidFill>
                  <a:srgbClr val="44506B"/>
                </a:solidFill>
                <a:latin typeface="Calibri"/>
              </a:rPr>
              <a:t>•  Where the data may be stored.</a:t>
            </a:r>
          </a:p>
          <a:p>
            <a:pPr algn="l">
              <a:spcAft>
                <a:spcPts val="200"/>
              </a:spcAft>
            </a:pPr>
            <a:r>
              <a:rPr b="0" sz="1500">
                <a:solidFill>
                  <a:srgbClr val="44506B"/>
                </a:solidFill>
                <a:latin typeface="Calibri"/>
              </a:rPr>
              <a:t xml:space="preserve">     Region matters under GDPR, not only for speed. You will return to this next week.</a:t>
            </a:r>
          </a:p>
          <a:p>
            <a:pPr algn="l">
              <a:spcAft>
                <a:spcPts val="200"/>
              </a:spcAft>
            </a:pPr>
            <a:endParaRPr b="0" sz="1500">
              <a:solidFill>
                <a:srgbClr val="44506B"/>
              </a:solidFill>
              <a:latin typeface="Calibri"/>
            </a:endParaRPr>
          </a:p>
          <a:p>
            <a:pPr algn="l">
              <a:spcAft>
                <a:spcPts val="200"/>
              </a:spcAft>
            </a:pPr>
            <a:r>
              <a:rPr b="1" sz="1500">
                <a:solidFill>
                  <a:srgbClr val="44506B"/>
                </a:solidFill>
                <a:latin typeface="Calibri"/>
              </a:rPr>
              <a:t>•  How easy it is to move later.</a:t>
            </a:r>
          </a:p>
          <a:p>
            <a:pPr algn="l">
              <a:spcAft>
                <a:spcPts val="200"/>
              </a:spcAft>
            </a:pPr>
            <a:r>
              <a:rPr b="0" sz="1500">
                <a:solidFill>
                  <a:srgbClr val="44506B"/>
                </a:solidFill>
                <a:latin typeface="Calibri"/>
              </a:rPr>
              <a:t xml:space="preserve">     Proprietary APIs, egress fees, and access models can make a later move harder.</a:t>
            </a:r>
          </a:p>
          <a:p>
            <a:pPr algn="l">
              <a:spcAft>
                <a:spcPts val="200"/>
              </a:spcAft>
            </a:pPr>
            <a:endParaRPr b="0" sz="1500">
              <a:solidFill>
                <a:srgbClr val="44506B"/>
              </a:solidFill>
              <a:latin typeface="Calibri"/>
            </a:endParaRPr>
          </a:p>
          <a:p>
            <a:pPr algn="l">
              <a:spcAft>
                <a:spcPts val="200"/>
              </a:spcAft>
            </a:pPr>
            <a:r>
              <a:rPr b="1" sz="1500">
                <a:solidFill>
                  <a:srgbClr val="44506B"/>
                </a:solidFill>
                <a:latin typeface="Calibri"/>
              </a:rPr>
              <a:t>•  Whether it scales to zero.</a:t>
            </a:r>
          </a:p>
          <a:p>
            <a:pPr algn="l">
              <a:spcAft>
                <a:spcPts val="200"/>
              </a:spcAft>
            </a:pPr>
            <a:r>
              <a:rPr b="0" sz="1500">
                <a:solidFill>
                  <a:srgbClr val="44506B"/>
                </a:solidFill>
                <a:latin typeface="Calibri"/>
              </a:rPr>
              <a:t xml:space="preserve">     For small or irregular workloads, this can be very useful.</a:t>
            </a:r>
          </a:p>
          <a:p>
            <a:pPr algn="l">
              <a:spcAft>
                <a:spcPts val="200"/>
              </a:spcAft>
            </a:pPr>
            <a:endParaRPr b="0" sz="1500">
              <a:solidFill>
                <a:srgbClr val="44506B"/>
              </a:solidFill>
              <a:latin typeface="Calibri"/>
            </a:endParaRPr>
          </a:p>
        </p:txBody>
      </p:sp>
      <p:sp>
        <p:nvSpPr>
          <p:cNvPr id="5" name="TextBox 4"/>
          <p:cNvSpPr txBox="1"/>
          <p:nvPr/>
        </p:nvSpPr>
        <p:spPr>
          <a:xfrm>
            <a:off x="502920" y="6510528"/>
            <a:ext cx="4572000" cy="274320"/>
          </a:xfrm>
          <a:prstGeom prst="rect">
            <a:avLst/>
          </a:prstGeom>
          <a:noFill/>
        </p:spPr>
        <p:txBody>
          <a:bodyPr bIns="0" lIns="0" rIns="0" tIns="0" wrap="square">
            <a:spAutoFit/>
          </a:bodyPr>
          <a:lstStyle/>
          <a:p>
            <a:pPr algn="l">
              <a:spcAft>
                <a:spcPts val="0"/>
              </a:spcAft>
            </a:pPr>
            <a:r>
              <a:rPr b="0" sz="900">
                <a:solidFill>
                  <a:srgbClr val="9AA6C4"/>
                </a:solidFill>
                <a:latin typeface="Calibri"/>
              </a:rPr>
              <a:t>Data Engineering och Agila metoder · Week 5</a:t>
            </a:r>
          </a:p>
        </p:txBody>
      </p:sp>
      <p:sp>
        <p:nvSpPr>
          <p:cNvPr id="6" name="TextBox 5"/>
          <p:cNvSpPr txBox="1"/>
          <p:nvPr/>
        </p:nvSpPr>
        <p:spPr>
          <a:xfrm>
            <a:off x="11475720" y="6510528"/>
            <a:ext cx="548640" cy="274320"/>
          </a:xfrm>
          <a:prstGeom prst="rect">
            <a:avLst/>
          </a:prstGeom>
          <a:noFill/>
        </p:spPr>
        <p:txBody>
          <a:bodyPr bIns="0" lIns="0" rIns="0" tIns="0" wrap="square">
            <a:spAutoFit/>
          </a:bodyPr>
          <a:lstStyle/>
          <a:p>
            <a:pPr algn="r">
              <a:spcAft>
                <a:spcPts val="0"/>
              </a:spcAft>
            </a:pPr>
            <a:r>
              <a:rPr b="0" sz="900">
                <a:solidFill>
                  <a:srgbClr val="9AA6C4"/>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bIns="0" lIns="0" rIns="0" tIns="0" wrap="square">
            <a:spAutoFit/>
          </a:bodyPr>
          <a:lstStyle/>
          <a:p>
            <a:pPr algn="l">
              <a:spcAft>
                <a:spcPts val="0"/>
              </a:spcAft>
            </a:pPr>
            <a:r>
              <a:rPr b="1" sz="1200">
                <a:solidFill>
                  <a:srgbClr val="F2994A"/>
                </a:solidFill>
                <a:latin typeface="Calibri"/>
              </a:rPr>
              <a:t>LOCK-IN</a:t>
            </a:r>
          </a:p>
        </p:txBody>
      </p:sp>
      <p:sp>
        <p:nvSpPr>
          <p:cNvPr id="3" name="TextBox 2"/>
          <p:cNvSpPr txBox="1"/>
          <p:nvPr/>
        </p:nvSpPr>
        <p:spPr>
          <a:xfrm>
            <a:off x="502920" y="2300000"/>
            <a:ext cx="11000000" cy="2000000"/>
          </a:xfrm>
          <a:prstGeom prst="rect">
            <a:avLst/>
          </a:prstGeom>
          <a:noFill/>
        </p:spPr>
        <p:txBody>
          <a:bodyPr bIns="0" lIns="0" rIns="0" tIns="0" wrap="square">
            <a:spAutoFit/>
          </a:bodyPr>
          <a:lstStyle/>
          <a:p>
            <a:pPr algn="l">
              <a:spcAft>
                <a:spcPts val="0"/>
              </a:spcAft>
            </a:pPr>
            <a:r>
              <a:rPr b="1" sz="3000">
                <a:solidFill>
                  <a:srgbClr val="1E2761"/>
                </a:solidFill>
                <a:latin typeface="Calibri"/>
              </a:rPr>
              <a:t>Using a service can make it harder to move later.</a:t>
            </a:r>
          </a:p>
        </p:txBody>
      </p:sp>
      <p:sp>
        <p:nvSpPr>
          <p:cNvPr id="4" name="TextBox 3"/>
          <p:cNvSpPr txBox="1"/>
          <p:nvPr/>
        </p:nvSpPr>
        <p:spPr>
          <a:xfrm>
            <a:off x="502920" y="4400000"/>
            <a:ext cx="10800000" cy="461665"/>
          </a:xfrm>
          <a:prstGeom prst="rect">
            <a:avLst/>
          </a:prstGeom>
          <a:noFill/>
        </p:spPr>
        <p:txBody>
          <a:bodyPr bIns="0" lIns="0" rIns="0" tIns="0" wrap="square">
            <a:spAutoFit/>
          </a:bodyPr>
          <a:lstStyle/>
          <a:p>
            <a:pPr algn="l">
              <a:spcAft>
                <a:spcPts val="0"/>
              </a:spcAft>
            </a:pPr>
            <a:r>
              <a:rPr b="0" dirty="0" sz="1500">
                <a:solidFill>
                  <a:srgbClr val="44506B"/>
                </a:solidFill>
                <a:latin typeface="Calibri"/>
              </a:rPr>
              <a:t>PostgreSQL on Neon uses standard PostgreSQL and can be exported with pg_dump. A pipeline built in a provider-specific service can be much harder to move.</a:t>
            </a:r>
            <a:r>
              <a:rPr b="0" dirty="0" err="1" sz="1500">
                <a:solidFill>
                  <a:srgbClr val="44506B"/>
                </a:solidFill>
                <a:latin typeface="Calibri"/>
              </a:rPr>
              <a:t/>
            </a:r>
            <a:r>
              <a:rPr b="0" dirty="0" sz="1500">
                <a:solidFill>
                  <a:srgbClr val="44506B"/>
                </a:solidFill>
                <a:latin typeface="Calibri"/>
              </a:rPr>
              <a:t/>
            </a:r>
          </a:p>
        </p:txBody>
      </p:sp>
      <p:sp>
        <p:nvSpPr>
          <p:cNvPr id="5" name="TextBox 4"/>
          <p:cNvSpPr txBox="1"/>
          <p:nvPr/>
        </p:nvSpPr>
        <p:spPr>
          <a:xfrm>
            <a:off x="502920" y="6510528"/>
            <a:ext cx="4572000" cy="274320"/>
          </a:xfrm>
          <a:prstGeom prst="rect">
            <a:avLst/>
          </a:prstGeom>
          <a:noFill/>
        </p:spPr>
        <p:txBody>
          <a:bodyPr bIns="0" lIns="0" rIns="0" tIns="0" wrap="square">
            <a:spAutoFit/>
          </a:bodyPr>
          <a:lstStyle/>
          <a:p>
            <a:pPr algn="l">
              <a:spcAft>
                <a:spcPts val="0"/>
              </a:spcAft>
            </a:pPr>
            <a:r>
              <a:rPr b="0" sz="900">
                <a:solidFill>
                  <a:srgbClr val="9AA6C4"/>
                </a:solidFill>
                <a:latin typeface="Calibri"/>
              </a:rPr>
              <a:t>Data Engineering och Agila metoder · Week 5</a:t>
            </a:r>
          </a:p>
        </p:txBody>
      </p:sp>
      <p:sp>
        <p:nvSpPr>
          <p:cNvPr id="6" name="TextBox 5"/>
          <p:cNvSpPr txBox="1"/>
          <p:nvPr/>
        </p:nvSpPr>
        <p:spPr>
          <a:xfrm>
            <a:off x="11475720" y="6510528"/>
            <a:ext cx="548640" cy="274320"/>
          </a:xfrm>
          <a:prstGeom prst="rect">
            <a:avLst/>
          </a:prstGeom>
          <a:noFill/>
        </p:spPr>
        <p:txBody>
          <a:bodyPr bIns="0" lIns="0" rIns="0" tIns="0" wrap="square">
            <a:spAutoFit/>
          </a:bodyPr>
          <a:lstStyle/>
          <a:p>
            <a:pPr algn="r">
              <a:spcAft>
                <a:spcPts val="0"/>
              </a:spcAft>
            </a:pPr>
            <a:r>
              <a:rPr b="0" sz="900">
                <a:solidFill>
                  <a:srgbClr val="9AA6C4"/>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a:xfrm>
          <a:off x="0" y="0"/>
          <a:ext cx="0" cy="0"/>
          <a:chOff x="0" y="0"/>
          <a:chExt cx="0" cy="0"/>
        </a:xfrm>
      </p:grpSpPr>
      <p:sp>
        <p:nvSpPr>
          <p:cNvPr id="2" name="Oval 1"/>
          <p:cNvSpPr/>
          <p:nvPr/>
        </p:nvSpPr>
        <p:spPr>
          <a:xfrm>
            <a:off x="8757742" y="1548179"/>
            <a:ext cx="117279" cy="11727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3" name="Oval 2"/>
          <p:cNvSpPr/>
          <p:nvPr/>
        </p:nvSpPr>
        <p:spPr>
          <a:xfrm>
            <a:off x="10943684" y="585693"/>
            <a:ext cx="134417" cy="134417"/>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4" name="Oval 3"/>
          <p:cNvSpPr/>
          <p:nvPr/>
        </p:nvSpPr>
        <p:spPr>
          <a:xfrm>
            <a:off x="9039089" y="1420328"/>
            <a:ext cx="132042" cy="132042"/>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5" name="Oval 4"/>
          <p:cNvSpPr/>
          <p:nvPr/>
        </p:nvSpPr>
        <p:spPr>
          <a:xfrm>
            <a:off x="9316796" y="1377488"/>
            <a:ext cx="121778" cy="12177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6" name="Oval 5"/>
          <p:cNvSpPr/>
          <p:nvPr/>
        </p:nvSpPr>
        <p:spPr>
          <a:xfrm>
            <a:off x="10585800" y="495640"/>
            <a:ext cx="72859" cy="7285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7" name="Oval 6"/>
          <p:cNvSpPr/>
          <p:nvPr/>
        </p:nvSpPr>
        <p:spPr>
          <a:xfrm>
            <a:off x="9648053" y="1358396"/>
            <a:ext cx="93551" cy="9355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8" name="Oval 7"/>
          <p:cNvSpPr/>
          <p:nvPr/>
        </p:nvSpPr>
        <p:spPr>
          <a:xfrm>
            <a:off x="9710881" y="931130"/>
            <a:ext cx="124109" cy="12410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9" name="Oval 8"/>
          <p:cNvSpPr/>
          <p:nvPr/>
        </p:nvSpPr>
        <p:spPr>
          <a:xfrm>
            <a:off x="9250722" y="820916"/>
            <a:ext cx="146899" cy="14689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10" name="Oval 9"/>
          <p:cNvSpPr/>
          <p:nvPr/>
        </p:nvSpPr>
        <p:spPr>
          <a:xfrm>
            <a:off x="10131088" y="2059204"/>
            <a:ext cx="98398" cy="9839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11" name="Oval 10"/>
          <p:cNvSpPr/>
          <p:nvPr/>
        </p:nvSpPr>
        <p:spPr>
          <a:xfrm>
            <a:off x="9590031" y="963724"/>
            <a:ext cx="80906" cy="80906"/>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12" name="Oval 11"/>
          <p:cNvSpPr/>
          <p:nvPr/>
        </p:nvSpPr>
        <p:spPr>
          <a:xfrm>
            <a:off x="9532334" y="1546239"/>
            <a:ext cx="82818" cy="8281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13" name="Oval 12"/>
          <p:cNvSpPr/>
          <p:nvPr/>
        </p:nvSpPr>
        <p:spPr>
          <a:xfrm>
            <a:off x="10577492" y="549586"/>
            <a:ext cx="140448" cy="14044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14" name="Oval 13"/>
          <p:cNvSpPr/>
          <p:nvPr/>
        </p:nvSpPr>
        <p:spPr>
          <a:xfrm>
            <a:off x="11547265" y="1132228"/>
            <a:ext cx="143541" cy="14354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15" name="Oval 14"/>
          <p:cNvSpPr/>
          <p:nvPr/>
        </p:nvSpPr>
        <p:spPr>
          <a:xfrm>
            <a:off x="10967367" y="1786052"/>
            <a:ext cx="145899" cy="14589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16" name="Oval 15"/>
          <p:cNvSpPr/>
          <p:nvPr/>
        </p:nvSpPr>
        <p:spPr>
          <a:xfrm>
            <a:off x="9892852" y="1030410"/>
            <a:ext cx="72739" cy="7273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17" name="Oval 16"/>
          <p:cNvSpPr/>
          <p:nvPr/>
        </p:nvSpPr>
        <p:spPr>
          <a:xfrm>
            <a:off x="10212498" y="657828"/>
            <a:ext cx="107645" cy="107645"/>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18" name="Oval 17"/>
          <p:cNvSpPr/>
          <p:nvPr/>
        </p:nvSpPr>
        <p:spPr>
          <a:xfrm>
            <a:off x="9440416" y="535239"/>
            <a:ext cx="123596" cy="123596"/>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19" name="Oval 18"/>
          <p:cNvSpPr/>
          <p:nvPr/>
        </p:nvSpPr>
        <p:spPr>
          <a:xfrm>
            <a:off x="11389104" y="1200429"/>
            <a:ext cx="148063" cy="148063"/>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20" name="Oval 19"/>
          <p:cNvSpPr/>
          <p:nvPr/>
        </p:nvSpPr>
        <p:spPr>
          <a:xfrm>
            <a:off x="8825437" y="1985404"/>
            <a:ext cx="127607" cy="127607"/>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21" name="Oval 20"/>
          <p:cNvSpPr/>
          <p:nvPr/>
        </p:nvSpPr>
        <p:spPr>
          <a:xfrm>
            <a:off x="10058894" y="1895915"/>
            <a:ext cx="150819" cy="15081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22" name="Oval 21"/>
          <p:cNvSpPr/>
          <p:nvPr/>
        </p:nvSpPr>
        <p:spPr>
          <a:xfrm>
            <a:off x="10330547" y="592543"/>
            <a:ext cx="140425" cy="140425"/>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23" name="Oval 22"/>
          <p:cNvSpPr/>
          <p:nvPr/>
        </p:nvSpPr>
        <p:spPr>
          <a:xfrm>
            <a:off x="9018536" y="1389434"/>
            <a:ext cx="113549" cy="11354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24" name="Oval 23"/>
          <p:cNvSpPr/>
          <p:nvPr/>
        </p:nvSpPr>
        <p:spPr>
          <a:xfrm>
            <a:off x="8957460" y="1190609"/>
            <a:ext cx="159230" cy="15923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25" name="Oval 24"/>
          <p:cNvSpPr/>
          <p:nvPr/>
        </p:nvSpPr>
        <p:spPr>
          <a:xfrm>
            <a:off x="9926070" y="1284285"/>
            <a:ext cx="75456" cy="75456"/>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26" name="Oval 25"/>
          <p:cNvSpPr/>
          <p:nvPr/>
        </p:nvSpPr>
        <p:spPr>
          <a:xfrm>
            <a:off x="9516010" y="1248195"/>
            <a:ext cx="134276" cy="134276"/>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27" name="Oval 26"/>
          <p:cNvSpPr/>
          <p:nvPr/>
        </p:nvSpPr>
        <p:spPr>
          <a:xfrm>
            <a:off x="8941278" y="1199378"/>
            <a:ext cx="142749" cy="14274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28" name="Oval 27"/>
          <p:cNvSpPr/>
          <p:nvPr/>
        </p:nvSpPr>
        <p:spPr>
          <a:xfrm>
            <a:off x="10509571" y="1425025"/>
            <a:ext cx="92621" cy="9262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pPr algn="ctr"/>
            <a:endParaRPr/>
          </a:p>
        </p:txBody>
      </p:sp>
      <p:sp>
        <p:nvSpPr>
          <p:cNvPr id="29" name="TextBox 28"/>
          <p:cNvSpPr txBox="1"/>
          <p:nvPr/>
        </p:nvSpPr>
        <p:spPr>
          <a:xfrm>
            <a:off x="640080" y="3200000"/>
            <a:ext cx="10000000" cy="1000000"/>
          </a:xfrm>
          <a:prstGeom prst="rect">
            <a:avLst/>
          </a:prstGeom>
          <a:noFill/>
        </p:spPr>
        <p:txBody>
          <a:bodyPr bIns="0" lIns="0" rIns="0" tIns="0" wrap="square">
            <a:spAutoFit/>
          </a:bodyPr>
          <a:lstStyle/>
          <a:p>
            <a:pPr algn="l">
              <a:spcAft>
                <a:spcPts val="0"/>
              </a:spcAft>
            </a:pPr>
            <a:r>
              <a:rPr b="1" sz="3400">
                <a:solidFill>
                  <a:srgbClr val="FFFFFF"/>
                </a:solidFill>
                <a:latin typeface="Calibri"/>
              </a:rPr>
              <a:t>The course's cloud policy</a:t>
            </a:r>
          </a:p>
        </p:txBody>
      </p:sp>
      <p:sp>
        <p:nvSpPr>
          <p:cNvPr id="30" name="TextBox 29"/>
          <p:cNvSpPr txBox="1"/>
          <p:nvPr/>
        </p:nvSpPr>
        <p:spPr>
          <a:xfrm>
            <a:off x="640080" y="4250000"/>
            <a:ext cx="9500000" cy="900000"/>
          </a:xfrm>
          <a:prstGeom prst="rect">
            <a:avLst/>
          </a:prstGeom>
          <a:noFill/>
        </p:spPr>
        <p:txBody>
          <a:bodyPr bIns="0" lIns="0" rIns="0" tIns="0" wrap="square">
            <a:spAutoFit/>
          </a:bodyPr>
          <a:lstStyle/>
          <a:p>
            <a:pPr algn="l">
              <a:spcAft>
                <a:spcPts val="0"/>
              </a:spcAft>
            </a:pPr>
            <a:r>
              <a:rPr b="0" sz="1500">
                <a:solidFill>
                  <a:srgbClr val="CADCFC"/>
                </a:solidFill>
                <a:latin typeface="Calibri"/>
              </a:rPr>
              <a:t>Read the full policy before Friday if your team plans to use another platform.</a:t>
            </a:r>
          </a:p>
        </p:txBody>
      </p:sp>
      <p:sp>
        <p:nvSpPr>
          <p:cNvPr id="31" name="TextBox 30"/>
          <p:cNvSpPr txBox="1"/>
          <p:nvPr/>
        </p:nvSpPr>
        <p:spPr>
          <a:xfrm>
            <a:off x="502920" y="6510528"/>
            <a:ext cx="4572000" cy="274320"/>
          </a:xfrm>
          <a:prstGeom prst="rect">
            <a:avLst/>
          </a:prstGeom>
          <a:noFill/>
        </p:spPr>
        <p:txBody>
          <a:bodyPr bIns="0" lIns="0" rIns="0" tIns="0" wrap="square">
            <a:spAutoFit/>
          </a:bodyPr>
          <a:lstStyle/>
          <a:p>
            <a:pPr algn="l">
              <a:spcAft>
                <a:spcPts val="0"/>
              </a:spcAft>
            </a:pPr>
            <a:r>
              <a:rPr b="0" sz="900">
                <a:solidFill>
                  <a:srgbClr val="CADCFC"/>
                </a:solidFill>
                <a:latin typeface="Calibri"/>
              </a:rPr>
              <a:t>Data Engineering och Agila metoder · Week 5</a:t>
            </a:r>
          </a:p>
        </p:txBody>
      </p:sp>
      <p:sp>
        <p:nvSpPr>
          <p:cNvPr id="32" name="TextBox 31"/>
          <p:cNvSpPr txBox="1"/>
          <p:nvPr/>
        </p:nvSpPr>
        <p:spPr>
          <a:xfrm>
            <a:off x="11475720" y="6510528"/>
            <a:ext cx="548640" cy="274320"/>
          </a:xfrm>
          <a:prstGeom prst="rect">
            <a:avLst/>
          </a:prstGeom>
          <a:noFill/>
        </p:spPr>
        <p:txBody>
          <a:bodyPr bIns="0" lIns="0" rIns="0" tIns="0" wrap="square">
            <a:spAutoFit/>
          </a:bodyPr>
          <a:lstStyle/>
          <a:p>
            <a:pPr algn="r">
              <a:spcAft>
                <a:spcPts val="0"/>
              </a:spcAft>
            </a:pPr>
            <a:r>
              <a:rPr b="0" sz="900">
                <a:solidFill>
                  <a:srgbClr val="CADCFC"/>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bIns="0" lIns="0" rIns="0" tIns="0" wrap="square">
            <a:spAutoFit/>
          </a:bodyPr>
          <a:lstStyle/>
          <a:p>
            <a:pPr algn="l">
              <a:spcAft>
                <a:spcPts val="0"/>
              </a:spcAft>
            </a:pPr>
            <a:r>
              <a:rPr b="1" sz="1200">
                <a:solidFill>
                  <a:srgbClr val="F2994A"/>
                </a:solidFill>
                <a:latin typeface="Calibri"/>
              </a:rPr>
              <a:t>POLICY</a:t>
            </a:r>
          </a:p>
        </p:txBody>
      </p:sp>
      <p:sp>
        <p:nvSpPr>
          <p:cNvPr id="3" name="TextBox 2"/>
          <p:cNvSpPr txBox="1"/>
          <p:nvPr/>
        </p:nvSpPr>
        <p:spPr>
          <a:xfrm>
            <a:off x="502920" y="560000"/>
            <a:ext cx="10800000" cy="700000"/>
          </a:xfrm>
          <a:prstGeom prst="rect">
            <a:avLst/>
          </a:prstGeom>
          <a:noFill/>
        </p:spPr>
        <p:txBody>
          <a:bodyPr bIns="0" lIns="0" rIns="0" tIns="0" wrap="square">
            <a:spAutoFit/>
          </a:bodyPr>
          <a:lstStyle/>
          <a:p>
            <a:pPr algn="l">
              <a:spcAft>
                <a:spcPts val="0"/>
              </a:spcAft>
            </a:pPr>
            <a:r>
              <a:rPr b="1" sz="2600">
                <a:solidFill>
                  <a:srgbClr val="1E2761"/>
                </a:solidFill>
                <a:latin typeface="Calibri"/>
              </a:rPr>
              <a:t>The default stack and why it is used</a:t>
            </a:r>
          </a:p>
        </p:txBody>
      </p:sp>
      <p:sp>
        <p:nvSpPr>
          <p:cNvPr id="4" name="Rounded Rectangle 3"/>
          <p:cNvSpPr/>
          <p:nvPr/>
        </p:nvSpPr>
        <p:spPr>
          <a:xfrm>
            <a:off x="502920" y="1400000"/>
            <a:ext cx="10800000" cy="1150000"/>
          </a:xfrm>
          <a:prstGeom prst="roundRect">
            <a:avLst>
              <a:gd fmla="val 6000" name="adj"/>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endParaRPr/>
          </a:p>
        </p:txBody>
      </p:sp>
      <p:sp>
        <p:nvSpPr>
          <p:cNvPr id="5" name="TextBox 4"/>
          <p:cNvSpPr txBox="1"/>
          <p:nvPr/>
        </p:nvSpPr>
        <p:spPr>
          <a:xfrm>
            <a:off x="700000" y="1550000"/>
            <a:ext cx="10400000" cy="350000"/>
          </a:xfrm>
          <a:prstGeom prst="rect">
            <a:avLst/>
          </a:prstGeom>
          <a:noFill/>
        </p:spPr>
        <p:txBody>
          <a:bodyPr bIns="0" lIns="0" rIns="0" tIns="0" wrap="square">
            <a:spAutoFit/>
          </a:bodyPr>
          <a:lstStyle/>
          <a:p>
            <a:pPr algn="l">
              <a:spcAft>
                <a:spcPts val="0"/>
              </a:spcAft>
            </a:pPr>
            <a:r>
              <a:rPr b="1" sz="1600">
                <a:solidFill>
                  <a:srgbClr val="1E2761"/>
                </a:solidFill>
                <a:latin typeface="Calibri"/>
              </a:rPr>
              <a:t>Render + Neon + GitHub Actions + Hugging Face Hub.</a:t>
            </a:r>
          </a:p>
        </p:txBody>
      </p:sp>
      <p:sp>
        <p:nvSpPr>
          <p:cNvPr id="6" name="TextBox 5"/>
          <p:cNvSpPr txBox="1"/>
          <p:nvPr/>
        </p:nvSpPr>
        <p:spPr>
          <a:xfrm>
            <a:off x="700000" y="1920000"/>
            <a:ext cx="10400000" cy="420000"/>
          </a:xfrm>
          <a:prstGeom prst="rect">
            <a:avLst/>
          </a:prstGeom>
          <a:noFill/>
        </p:spPr>
        <p:txBody>
          <a:bodyPr bIns="0" lIns="0" rIns="0" tIns="0" wrap="square">
            <a:spAutoFit/>
          </a:bodyPr>
          <a:lstStyle/>
          <a:p>
            <a:pPr algn="l">
              <a:spcAft>
                <a:spcPts val="0"/>
              </a:spcAft>
            </a:pPr>
            <a:r>
              <a:rPr b="0" sz="1400">
                <a:solidFill>
                  <a:srgbClr val="44506B"/>
                </a:solidFill>
                <a:latin typeface="Calibri"/>
              </a:rPr>
              <a:t>The default services have free tiers, do not require a credit card, and are enough for the full system.</a:t>
            </a:r>
          </a:p>
        </p:txBody>
      </p:sp>
      <p:sp>
        <p:nvSpPr>
          <p:cNvPr id="7" name="Rounded Rectangle 6"/>
          <p:cNvSpPr/>
          <p:nvPr/>
        </p:nvSpPr>
        <p:spPr>
          <a:xfrm>
            <a:off x="502920" y="2670000"/>
            <a:ext cx="10800000" cy="1150000"/>
          </a:xfrm>
          <a:prstGeom prst="roundRect">
            <a:avLst>
              <a:gd fmla="val 6000" name="adj"/>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endParaRPr/>
          </a:p>
        </p:txBody>
      </p:sp>
      <p:sp>
        <p:nvSpPr>
          <p:cNvPr id="8" name="TextBox 7"/>
          <p:cNvSpPr txBox="1"/>
          <p:nvPr/>
        </p:nvSpPr>
        <p:spPr>
          <a:xfrm>
            <a:off x="700000" y="2820000"/>
            <a:ext cx="10400000" cy="350000"/>
          </a:xfrm>
          <a:prstGeom prst="rect">
            <a:avLst/>
          </a:prstGeom>
          <a:noFill/>
        </p:spPr>
        <p:txBody>
          <a:bodyPr bIns="0" lIns="0" rIns="0" tIns="0" wrap="square">
            <a:spAutoFit/>
          </a:bodyPr>
          <a:lstStyle/>
          <a:p>
            <a:pPr algn="l">
              <a:spcAft>
                <a:spcPts val="0"/>
              </a:spcAft>
            </a:pPr>
            <a:r>
              <a:rPr b="1" sz="1600">
                <a:solidFill>
                  <a:srgbClr val="1E2761"/>
                </a:solidFill>
                <a:latin typeface="Calibri"/>
              </a:rPr>
              <a:t>You may change component C, the deployed service, and only that.</a:t>
            </a:r>
          </a:p>
        </p:txBody>
      </p:sp>
      <p:sp>
        <p:nvSpPr>
          <p:cNvPr id="9" name="TextBox 8"/>
          <p:cNvSpPr txBox="1"/>
          <p:nvPr/>
        </p:nvSpPr>
        <p:spPr>
          <a:xfrm>
            <a:off x="700000" y="3190000"/>
            <a:ext cx="10400000" cy="420000"/>
          </a:xfrm>
          <a:prstGeom prst="rect">
            <a:avLst/>
          </a:prstGeom>
          <a:noFill/>
        </p:spPr>
        <p:txBody>
          <a:bodyPr bIns="0" lIns="0" rIns="0" tIns="0" wrap="square">
            <a:spAutoFit/>
          </a:bodyPr>
          <a:lstStyle/>
          <a:p>
            <a:pPr algn="l">
              <a:spcAft>
                <a:spcPts val="0"/>
              </a:spcAft>
            </a:pPr>
            <a:r>
              <a:rPr b="0" sz="1400">
                <a:solidFill>
                  <a:srgbClr val="44506B"/>
                </a:solidFill>
                <a:latin typeface="Calibri"/>
              </a:rPr>
              <a:t>Cloud Run or Azure Container Apps. The rest of the architecture stays as it is.</a:t>
            </a:r>
          </a:p>
        </p:txBody>
      </p:sp>
      <p:sp>
        <p:nvSpPr>
          <p:cNvPr id="10" name="Rounded Rectangle 9"/>
          <p:cNvSpPr/>
          <p:nvPr/>
        </p:nvSpPr>
        <p:spPr>
          <a:xfrm>
            <a:off x="502920" y="3940000"/>
            <a:ext cx="10800000" cy="1150000"/>
          </a:xfrm>
          <a:prstGeom prst="roundRect">
            <a:avLst>
              <a:gd fmla="val 6000" name="adj"/>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anchor="ctr" rtlCol="0"/>
          <a:lstStyle/>
          <a:p>
            <a:endParaRPr/>
          </a:p>
        </p:txBody>
      </p:sp>
      <p:sp>
        <p:nvSpPr>
          <p:cNvPr id="11" name="TextBox 10"/>
          <p:cNvSpPr txBox="1"/>
          <p:nvPr/>
        </p:nvSpPr>
        <p:spPr>
          <a:xfrm>
            <a:off x="700000" y="4090000"/>
            <a:ext cx="10400000" cy="350000"/>
          </a:xfrm>
          <a:prstGeom prst="rect">
            <a:avLst/>
          </a:prstGeom>
          <a:noFill/>
        </p:spPr>
        <p:txBody>
          <a:bodyPr bIns="0" lIns="0" rIns="0" tIns="0" wrap="square">
            <a:spAutoFit/>
          </a:bodyPr>
          <a:lstStyle/>
          <a:p>
            <a:pPr algn="l">
              <a:spcAft>
                <a:spcPts val="0"/>
              </a:spcAft>
            </a:pPr>
            <a:r>
              <a:rPr b="1" sz="1600">
                <a:solidFill>
                  <a:srgbClr val="1E2761"/>
                </a:solidFill>
                <a:latin typeface="Calibri"/>
              </a:rPr>
              <a:t>Your team must make the decision by Friday 11/9.</a:t>
            </a:r>
          </a:p>
        </p:txBody>
      </p:sp>
      <p:sp>
        <p:nvSpPr>
          <p:cNvPr id="12" name="TextBox 11"/>
          <p:cNvSpPr txBox="1"/>
          <p:nvPr/>
        </p:nvSpPr>
        <p:spPr>
          <a:xfrm>
            <a:off x="700000" y="4460000"/>
            <a:ext cx="10400000" cy="420000"/>
          </a:xfrm>
          <a:prstGeom prst="rect">
            <a:avLst/>
          </a:prstGeom>
          <a:noFill/>
        </p:spPr>
        <p:txBody>
          <a:bodyPr bIns="0" lIns="0" rIns="0" tIns="0" wrap="square">
            <a:spAutoFit/>
          </a:bodyPr>
          <a:lstStyle/>
          <a:p>
            <a:pPr algn="l">
              <a:spcAft>
                <a:spcPts val="0"/>
              </a:spcAft>
            </a:pPr>
            <a:r>
              <a:rPr b="0" sz="1400">
                <a:solidFill>
                  <a:srgbClr val="44506B"/>
                </a:solidFill>
                <a:latin typeface="Calibri"/>
              </a:rPr>
              <a:t>Use your own account, set a budget alert on day one, and document how you could return to the default stack. Support is more limited for this choice.</a:t>
            </a:r>
          </a:p>
        </p:txBody>
      </p:sp>
      <p:sp>
        <p:nvSpPr>
          <p:cNvPr id="13" name="TextBox 12"/>
          <p:cNvSpPr txBox="1"/>
          <p:nvPr/>
        </p:nvSpPr>
        <p:spPr>
          <a:xfrm>
            <a:off x="502920" y="6510528"/>
            <a:ext cx="4572000" cy="274320"/>
          </a:xfrm>
          <a:prstGeom prst="rect">
            <a:avLst/>
          </a:prstGeom>
          <a:noFill/>
        </p:spPr>
        <p:txBody>
          <a:bodyPr bIns="0" lIns="0" rIns="0" tIns="0" wrap="square">
            <a:spAutoFit/>
          </a:bodyPr>
          <a:lstStyle/>
          <a:p>
            <a:pPr algn="l">
              <a:spcAft>
                <a:spcPts val="0"/>
              </a:spcAft>
            </a:pPr>
            <a:r>
              <a:rPr b="0" sz="900">
                <a:solidFill>
                  <a:srgbClr val="9AA6C4"/>
                </a:solidFill>
                <a:latin typeface="Calibri"/>
              </a:rPr>
              <a:t>Data Engineering och Agila metoder · Week 5</a:t>
            </a:r>
          </a:p>
        </p:txBody>
      </p:sp>
      <p:sp>
        <p:nvSpPr>
          <p:cNvPr id="14" name="TextBox 13"/>
          <p:cNvSpPr txBox="1"/>
          <p:nvPr/>
        </p:nvSpPr>
        <p:spPr>
          <a:xfrm>
            <a:off x="11475720" y="6510528"/>
            <a:ext cx="548640" cy="274320"/>
          </a:xfrm>
          <a:prstGeom prst="rect">
            <a:avLst/>
          </a:prstGeom>
          <a:noFill/>
        </p:spPr>
        <p:txBody>
          <a:bodyPr bIns="0" lIns="0" rIns="0" tIns="0" wrap="square">
            <a:spAutoFit/>
          </a:bodyPr>
          <a:lstStyle/>
          <a:p>
            <a:pPr algn="r">
              <a:spcAft>
                <a:spcPts val="0"/>
              </a:spcAft>
            </a:pPr>
            <a:r>
              <a:rPr b="0" sz="900">
                <a:solidFill>
                  <a:srgbClr val="9AA6C4"/>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bIns="0" lIns="0" rIns="0" tIns="0" wrap="square">
            <a:spAutoFit/>
          </a:bodyPr>
          <a:lstStyle/>
          <a:p>
            <a:pPr algn="l">
              <a:spcAft>
                <a:spcPts val="0"/>
              </a:spcAft>
            </a:pPr>
            <a:r>
              <a:rPr b="1" sz="1200">
                <a:solidFill>
                  <a:srgbClr val="F2994A"/>
                </a:solidFill>
                <a:latin typeface="Calibri"/>
              </a:rPr>
              <a:t>POLICY</a:t>
            </a:r>
          </a:p>
        </p:txBody>
      </p:sp>
      <p:sp>
        <p:nvSpPr>
          <p:cNvPr id="3" name="TextBox 2"/>
          <p:cNvSpPr txBox="1"/>
          <p:nvPr/>
        </p:nvSpPr>
        <p:spPr>
          <a:xfrm>
            <a:off x="502920" y="560000"/>
            <a:ext cx="10800000" cy="700000"/>
          </a:xfrm>
          <a:prstGeom prst="rect">
            <a:avLst/>
          </a:prstGeom>
          <a:noFill/>
        </p:spPr>
        <p:txBody>
          <a:bodyPr bIns="0" lIns="0" rIns="0" tIns="0" wrap="square">
            <a:spAutoFit/>
          </a:bodyPr>
          <a:lstStyle/>
          <a:p>
            <a:pPr algn="l">
              <a:spcAft>
                <a:spcPts val="0"/>
              </a:spcAft>
            </a:pPr>
            <a:r>
              <a:rPr b="1" sz="2600">
                <a:solidFill>
                  <a:srgbClr val="1E2761"/>
                </a:solidFill>
                <a:latin typeface="Calibri"/>
              </a:rPr>
              <a:t>Changing platform does not change the requirements</a:t>
            </a:r>
          </a:p>
        </p:txBody>
      </p:sp>
      <p:sp>
        <p:nvSpPr>
          <p:cNvPr id="4" name="TextBox 3"/>
          <p:cNvSpPr txBox="1"/>
          <p:nvPr/>
        </p:nvSpPr>
        <p:spPr>
          <a:xfrm>
            <a:off x="502920" y="1500000"/>
            <a:ext cx="10800000" cy="4200000"/>
          </a:xfrm>
          <a:prstGeom prst="rect">
            <a:avLst/>
          </a:prstGeom>
          <a:noFill/>
        </p:spPr>
        <p:txBody>
          <a:bodyPr bIns="0" lIns="0" rIns="0" tIns="0" wrap="square">
            <a:spAutoFit/>
          </a:bodyPr>
          <a:lstStyle/>
          <a:p>
            <a:pPr algn="l">
              <a:spcAft>
                <a:spcPts val="200"/>
              </a:spcAft>
            </a:pPr>
            <a:r>
              <a:rPr b="1" sz="1500">
                <a:solidFill>
                  <a:srgbClr val="44506B"/>
                </a:solidFill>
                <a:latin typeface="Calibri"/>
              </a:rPr>
              <a:t>•  It does not raise the group’s grade.</a:t>
            </a:r>
          </a:p>
          <a:p>
            <a:pPr algn="l">
              <a:spcAft>
                <a:spcPts val="200"/>
              </a:spcAft>
            </a:pPr>
            <a:r>
              <a:rPr b="0" sz="1500">
                <a:solidFill>
                  <a:srgbClr val="44506B"/>
                </a:solidFill>
                <a:latin typeface="Calibri"/>
              </a:rPr>
              <a:t xml:space="preserve">     The requirements are the same. Cloud Run is not worth more than Render.</a:t>
            </a:r>
          </a:p>
          <a:p>
            <a:pPr algn="l">
              <a:spcAft>
                <a:spcPts val="200"/>
              </a:spcAft>
            </a:pPr>
            <a:endParaRPr b="0" sz="1500">
              <a:solidFill>
                <a:srgbClr val="44506B"/>
              </a:solidFill>
              <a:latin typeface="Calibri"/>
            </a:endParaRPr>
          </a:p>
          <a:p>
            <a:pPr algn="l">
              <a:spcAft>
                <a:spcPts val="200"/>
              </a:spcAft>
            </a:pPr>
            <a:r>
              <a:rPr b="1" sz="1500">
                <a:solidFill>
                  <a:srgbClr val="44506B"/>
                </a:solidFill>
                <a:latin typeface="Calibri"/>
              </a:rPr>
              <a:t>•  It gives you material for the report.</a:t>
            </a:r>
          </a:p>
          <a:p>
            <a:pPr algn="l">
              <a:spcAft>
                <a:spcPts val="200"/>
              </a:spcAft>
            </a:pPr>
            <a:r>
              <a:rPr b="0" sz="1500">
                <a:solidFill>
                  <a:srgbClr val="44506B"/>
                </a:solidFill>
                <a:latin typeface="Calibri"/>
              </a:rPr>
              <a:t xml:space="preserve">     You can describe the cloud service, region, access settings, and budget alert you actually used.</a:t>
            </a:r>
          </a:p>
          <a:p>
            <a:pPr algn="l">
              <a:spcAft>
                <a:spcPts val="200"/>
              </a:spcAft>
            </a:pPr>
            <a:endParaRPr b="0" sz="1500">
              <a:solidFill>
                <a:srgbClr val="44506B"/>
              </a:solidFill>
              <a:latin typeface="Calibri"/>
            </a:endParaRPr>
          </a:p>
          <a:p>
            <a:pPr algn="l">
              <a:spcAft>
                <a:spcPts val="200"/>
              </a:spcAft>
            </a:pPr>
            <a:r>
              <a:rPr b="1" sz="1500">
                <a:solidFill>
                  <a:srgbClr val="44506B"/>
                </a:solidFill>
                <a:latin typeface="Calibri"/>
              </a:rPr>
              <a:t>•  It takes time.</a:t>
            </a:r>
          </a:p>
          <a:p>
            <a:pPr algn="l">
              <a:spcAft>
                <a:spcPts val="200"/>
              </a:spcAft>
            </a:pPr>
            <a:r>
              <a:rPr b="0" sz="1500">
                <a:solidFill>
                  <a:srgbClr val="44506B"/>
                </a:solidFill>
                <a:latin typeface="Calibri"/>
              </a:rPr>
              <a:t xml:space="preserve">     Plan for this now because Sprint 1 ends this week.</a:t>
            </a:r>
          </a:p>
          <a:p>
            <a:pPr algn="l">
              <a:spcAft>
                <a:spcPts val="200"/>
              </a:spcAft>
            </a:pPr>
            <a:endParaRPr b="0" sz="1500">
              <a:solidFill>
                <a:srgbClr val="44506B"/>
              </a:solidFill>
              <a:latin typeface="Calibri"/>
            </a:endParaRPr>
          </a:p>
        </p:txBody>
      </p:sp>
      <p:sp>
        <p:nvSpPr>
          <p:cNvPr id="5" name="TextBox 4"/>
          <p:cNvSpPr txBox="1"/>
          <p:nvPr/>
        </p:nvSpPr>
        <p:spPr>
          <a:xfrm>
            <a:off x="502920" y="6510528"/>
            <a:ext cx="4572000" cy="274320"/>
          </a:xfrm>
          <a:prstGeom prst="rect">
            <a:avLst/>
          </a:prstGeom>
          <a:noFill/>
        </p:spPr>
        <p:txBody>
          <a:bodyPr bIns="0" lIns="0" rIns="0" tIns="0" wrap="square">
            <a:spAutoFit/>
          </a:bodyPr>
          <a:lstStyle/>
          <a:p>
            <a:pPr algn="l">
              <a:spcAft>
                <a:spcPts val="0"/>
              </a:spcAft>
            </a:pPr>
            <a:r>
              <a:rPr b="0" sz="900">
                <a:solidFill>
                  <a:srgbClr val="9AA6C4"/>
                </a:solidFill>
                <a:latin typeface="Calibri"/>
              </a:rPr>
              <a:t>Data Engineering och Agila metoder · Week 5</a:t>
            </a:r>
          </a:p>
        </p:txBody>
      </p:sp>
      <p:sp>
        <p:nvSpPr>
          <p:cNvPr id="6" name="TextBox 5"/>
          <p:cNvSpPr txBox="1"/>
          <p:nvPr/>
        </p:nvSpPr>
        <p:spPr>
          <a:xfrm>
            <a:off x="11475720" y="6510528"/>
            <a:ext cx="548640" cy="274320"/>
          </a:xfrm>
          <a:prstGeom prst="rect">
            <a:avLst/>
          </a:prstGeom>
          <a:noFill/>
        </p:spPr>
        <p:txBody>
          <a:bodyPr bIns="0" lIns="0" rIns="0" tIns="0" wrap="square">
            <a:spAutoFit/>
          </a:bodyPr>
          <a:lstStyle/>
          <a:p>
            <a:pPr algn="r">
              <a:spcAft>
                <a:spcPts val="0"/>
              </a:spcAft>
            </a:pPr>
            <a:r>
              <a:rPr b="0" sz="900">
                <a:solidFill>
                  <a:srgbClr val="9AA6C4"/>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bIns="0" lIns="0" rIns="0" tIns="0" wrap="square">
            <a:spAutoFit/>
          </a:bodyPr>
          <a:lstStyle/>
          <a:p>
            <a:pPr algn="l">
              <a:spcAft>
                <a:spcPts val="0"/>
              </a:spcAft>
            </a:pPr>
            <a:r>
              <a:rPr b="1" sz="1200">
                <a:solidFill>
                  <a:srgbClr val="F2994A"/>
                </a:solidFill>
                <a:latin typeface="Calibri"/>
              </a:rPr>
              <a:t>WHAT YOU SHOULD BE ABLE TO SAY IN OCTOBER</a:t>
            </a:r>
          </a:p>
        </p:txBody>
      </p:sp>
      <p:sp>
        <p:nvSpPr>
          <p:cNvPr id="3" name="TextBox 2"/>
          <p:cNvSpPr txBox="1"/>
          <p:nvPr/>
        </p:nvSpPr>
        <p:spPr>
          <a:xfrm>
            <a:off x="502920" y="2300000"/>
            <a:ext cx="11000000" cy="2000000"/>
          </a:xfrm>
          <a:prstGeom prst="rect">
            <a:avLst/>
          </a:prstGeom>
          <a:noFill/>
        </p:spPr>
        <p:txBody>
          <a:bodyPr bIns="0" lIns="0" rIns="0" tIns="0" wrap="square">
            <a:spAutoFit/>
          </a:bodyPr>
          <a:lstStyle/>
          <a:p>
            <a:pPr algn="l">
              <a:spcAft>
                <a:spcPts val="0"/>
              </a:spcAft>
            </a:pPr>
            <a:r>
              <a:rPr b="1" sz="3000">
                <a:solidFill>
                  <a:srgbClr val="1E2761"/>
                </a:solidFill>
                <a:latin typeface="Calibri"/>
              </a:rPr>
              <a:t>“We used X, considered Y, and found that it would cost approximately Z.”</a:t>
            </a:r>
          </a:p>
        </p:txBody>
      </p:sp>
      <p:sp>
        <p:nvSpPr>
          <p:cNvPr id="4" name="TextBox 3"/>
          <p:cNvSpPr txBox="1"/>
          <p:nvPr/>
        </p:nvSpPr>
        <p:spPr>
          <a:xfrm>
            <a:off x="502920" y="4400000"/>
            <a:ext cx="10800000" cy="1200000"/>
          </a:xfrm>
          <a:prstGeom prst="rect">
            <a:avLst/>
          </a:prstGeom>
          <a:noFill/>
        </p:spPr>
        <p:txBody>
          <a:bodyPr bIns="0" lIns="0" rIns="0" tIns="0" wrap="square">
            <a:spAutoFit/>
          </a:bodyPr>
          <a:lstStyle/>
          <a:p>
            <a:pPr algn="l">
              <a:spcAft>
                <a:spcPts val="0"/>
              </a:spcAft>
            </a:pPr>
            <a:r>
              <a:rPr b="0" sz="1500">
                <a:solidFill>
                  <a:srgbClr val="44506B"/>
                </a:solidFill>
                <a:latin typeface="Calibri"/>
              </a:rPr>
              <a:t>Use real numbers, name an alternative, and explain your choice. This is the level of discussion expected in the technical part of the report.</a:t>
            </a:r>
          </a:p>
        </p:txBody>
      </p:sp>
      <p:sp>
        <p:nvSpPr>
          <p:cNvPr id="5" name="TextBox 4"/>
          <p:cNvSpPr txBox="1"/>
          <p:nvPr/>
        </p:nvSpPr>
        <p:spPr>
          <a:xfrm>
            <a:off x="502920" y="6510528"/>
            <a:ext cx="4572000" cy="274320"/>
          </a:xfrm>
          <a:prstGeom prst="rect">
            <a:avLst/>
          </a:prstGeom>
          <a:noFill/>
        </p:spPr>
        <p:txBody>
          <a:bodyPr bIns="0" lIns="0" rIns="0" tIns="0" wrap="square">
            <a:spAutoFit/>
          </a:bodyPr>
          <a:lstStyle/>
          <a:p>
            <a:pPr algn="l">
              <a:spcAft>
                <a:spcPts val="0"/>
              </a:spcAft>
            </a:pPr>
            <a:r>
              <a:rPr b="0" sz="900">
                <a:solidFill>
                  <a:srgbClr val="9AA6C4"/>
                </a:solidFill>
                <a:latin typeface="Calibri"/>
              </a:rPr>
              <a:t>Data Engineering och Agila metoder · Week 5</a:t>
            </a:r>
          </a:p>
        </p:txBody>
      </p:sp>
      <p:sp>
        <p:nvSpPr>
          <p:cNvPr id="6" name="TextBox 5"/>
          <p:cNvSpPr txBox="1"/>
          <p:nvPr/>
        </p:nvSpPr>
        <p:spPr>
          <a:xfrm>
            <a:off x="11475720" y="6510528"/>
            <a:ext cx="548640" cy="274320"/>
          </a:xfrm>
          <a:prstGeom prst="rect">
            <a:avLst/>
          </a:prstGeom>
          <a:noFill/>
        </p:spPr>
        <p:txBody>
          <a:bodyPr bIns="0" lIns="0" rIns="0" tIns="0" wrap="square">
            <a:spAutoFit/>
          </a:bodyPr>
          <a:lstStyle/>
          <a:p>
            <a:pPr algn="r">
              <a:spcAft>
                <a:spcPts val="0"/>
              </a:spcAft>
            </a:pPr>
            <a:r>
              <a:rPr b="0" sz="900">
                <a:solidFill>
                  <a:srgbClr val="9AA6C4"/>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bIns="0" lIns="0" rIns="0" tIns="0" wrap="square">
            <a:spAutoFit/>
          </a:bodyPr>
          <a:lstStyle/>
          <a:p>
            <a:pPr algn="l">
              <a:spcAft>
                <a:spcPts val="0"/>
              </a:spcAft>
            </a:pPr>
            <a:r>
              <a:rPr b="1" sz="1200">
                <a:solidFill>
                  <a:srgbClr val="F2994A"/>
                </a:solidFill>
                <a:latin typeface="Calibri"/>
              </a:rPr>
              <a:t>NEXT</a:t>
            </a:r>
          </a:p>
        </p:txBody>
      </p:sp>
      <p:sp>
        <p:nvSpPr>
          <p:cNvPr id="3" name="TextBox 2"/>
          <p:cNvSpPr txBox="1"/>
          <p:nvPr/>
        </p:nvSpPr>
        <p:spPr>
          <a:xfrm>
            <a:off x="502920" y="560000"/>
            <a:ext cx="10800000" cy="700000"/>
          </a:xfrm>
          <a:prstGeom prst="rect">
            <a:avLst/>
          </a:prstGeom>
          <a:noFill/>
        </p:spPr>
        <p:txBody>
          <a:bodyPr bIns="0" lIns="0" rIns="0" tIns="0" wrap="square">
            <a:spAutoFit/>
          </a:bodyPr>
          <a:lstStyle/>
          <a:p>
            <a:pPr algn="l">
              <a:spcAft>
                <a:spcPts val="0"/>
              </a:spcAft>
            </a:pPr>
            <a:r>
              <a:rPr b="1" sz="2600">
                <a:solidFill>
                  <a:srgbClr val="1E2761"/>
                </a:solidFill>
                <a:latin typeface="Calibri"/>
              </a:rPr>
              <a:t>Right now, and this afternoon</a:t>
            </a:r>
          </a:p>
        </p:txBody>
      </p:sp>
      <p:sp>
        <p:nvSpPr>
          <p:cNvPr id="4" name="TextBox 3"/>
          <p:cNvSpPr txBox="1"/>
          <p:nvPr/>
        </p:nvSpPr>
        <p:spPr>
          <a:xfrm>
            <a:off x="502920" y="1500000"/>
            <a:ext cx="10800000" cy="4200000"/>
          </a:xfrm>
          <a:prstGeom prst="rect">
            <a:avLst/>
          </a:prstGeom>
          <a:noFill/>
        </p:spPr>
        <p:txBody>
          <a:bodyPr bIns="0" lIns="0" rIns="0" tIns="0" wrap="square">
            <a:spAutoFit/>
          </a:bodyPr>
          <a:lstStyle/>
          <a:p>
            <a:pPr algn="l">
              <a:spcAft>
                <a:spcPts val="200"/>
              </a:spcAft>
            </a:pPr>
            <a:r>
              <a:rPr b="1" dirty="0" sz="1500">
                <a:solidFill>
                  <a:srgbClr val="44506B"/>
                </a:solidFill>
                <a:latin typeface="Calibri"/>
              </a:rPr>
              <a:t>•  11:00 — Docker and Kubernetes.</a:t>
            </a:r>
          </a:p>
          <a:p>
            <a:pPr algn="l">
              <a:spcAft>
                <a:spcPts val="200"/>
              </a:spcAft>
            </a:pPr>
            <a:r>
              <a:rPr b="0" dirty="0" sz="1500">
                <a:solidFill>
                  <a:srgbClr val="44506B"/>
                </a:solidFill>
                <a:latin typeface="Calibri"/>
              </a:rPr>
              <a:t xml:space="preserve">     Concepts you need to understand. You will not build Kubernetes today.</a:t>
            </a:r>
          </a:p>
          <a:p>
            <a:pPr algn="l">
              <a:spcAft>
                <a:spcPts val="200"/>
              </a:spcAft>
            </a:pPr>
            <a:endParaRPr b="0" dirty="0" sz="1500">
              <a:solidFill>
                <a:srgbClr val="44506B"/>
              </a:solidFill>
              <a:latin typeface="Calibri"/>
            </a:endParaRPr>
          </a:p>
          <a:p>
            <a:pPr algn="l">
              <a:spcAft>
                <a:spcPts val="200"/>
              </a:spcAft>
            </a:pPr>
            <a:r>
              <a:rPr b="1" dirty="0" sz="1500">
                <a:solidFill>
                  <a:srgbClr val="44506B"/>
                </a:solidFill>
                <a:latin typeface="Calibri"/>
              </a:rPr>
              <a:t>•  13:00 — studio.</a:t>
            </a:r>
          </a:p>
          <a:p>
            <a:pPr algn="l">
              <a:spcAft>
                <a:spcPts val="200"/>
              </a:spcAft>
            </a:pPr>
            <a:r>
              <a:rPr b="0" dirty="0" sz="1500">
                <a:solidFill>
                  <a:srgbClr val="44506B"/>
                </a:solidFill>
                <a:latin typeface="Calibri"/>
              </a:rPr>
              <a:t xml:space="preserve">     Finish Sprint 1 work: feature table, historical feature build, and the feature step in the scheduled workflow.</a:t>
            </a:r>
          </a:p>
          <a:p>
            <a:pPr algn="l">
              <a:spcAft>
                <a:spcPts val="200"/>
              </a:spcAft>
            </a:pPr>
            <a:endParaRPr b="0" dirty="0" sz="1500">
              <a:solidFill>
                <a:srgbClr val="44506B"/>
              </a:solidFill>
              <a:latin typeface="Calibri"/>
            </a:endParaRPr>
          </a:p>
          <a:p>
            <a:pPr algn="l">
              <a:spcAft>
                <a:spcPts val="200"/>
              </a:spcAft>
            </a:pPr>
            <a:r>
              <a:rPr b="1" dirty="0" sz="1500">
                <a:solidFill>
                  <a:srgbClr val="44506B"/>
                </a:solidFill>
                <a:latin typeface="Calibri"/>
              </a:rPr>
              <a:t>•  Thursday 10/9 — Sprint Review 1 and retrospective.</a:t>
            </a:r>
          </a:p>
          <a:p>
            <a:pPr algn="l">
              <a:spcAft>
                <a:spcPts val="200"/>
              </a:spcAft>
            </a:pPr>
            <a:r>
              <a:rPr b="0" dirty="0" sz="1500">
                <a:solidFill>
                  <a:srgbClr val="44506B"/>
                </a:solidFill>
                <a:latin typeface="Calibri"/>
              </a:rPr>
              <a:t xml:space="preserve">     13:45. The handout is on Itslearning. Read it before Thursday.</a:t>
            </a:r>
            <a:r>
              <a:rPr b="0" dirty="0" err="1" sz="1500">
                <a:solidFill>
                  <a:srgbClr val="44506B"/>
                </a:solidFill>
                <a:latin typeface="Calibri"/>
              </a:rPr>
              <a:t/>
            </a:r>
            <a:r>
              <a:rPr b="0" dirty="0" sz="1500">
                <a:solidFill>
                  <a:srgbClr val="44506B"/>
                </a:solidFill>
                <a:latin typeface="Calibri"/>
              </a:rPr>
              <a:t/>
            </a:r>
          </a:p>
          <a:p>
            <a:pPr algn="l">
              <a:spcAft>
                <a:spcPts val="200"/>
              </a:spcAft>
            </a:pPr>
            <a:endParaRPr b="0" dirty="0" sz="1500">
              <a:solidFill>
                <a:srgbClr val="44506B"/>
              </a:solidFill>
              <a:latin typeface="Calibri"/>
            </a:endParaRPr>
          </a:p>
        </p:txBody>
      </p:sp>
      <p:sp>
        <p:nvSpPr>
          <p:cNvPr id="5" name="TextBox 4"/>
          <p:cNvSpPr txBox="1"/>
          <p:nvPr/>
        </p:nvSpPr>
        <p:spPr>
          <a:xfrm>
            <a:off x="502920" y="5900000"/>
            <a:ext cx="10800000" cy="400000"/>
          </a:xfrm>
          <a:prstGeom prst="rect">
            <a:avLst/>
          </a:prstGeom>
          <a:noFill/>
        </p:spPr>
        <p:txBody>
          <a:bodyPr bIns="0" lIns="0" rIns="0" tIns="0" wrap="square">
            <a:spAutoFit/>
          </a:bodyPr>
          <a:lstStyle/>
          <a:p>
            <a:pPr algn="l">
              <a:spcAft>
                <a:spcPts val="0"/>
              </a:spcAft>
            </a:pPr>
            <a:r>
              <a:rPr b="1" sz="1300">
                <a:solidFill>
                  <a:srgbClr val="1E2761"/>
                </a:solidFill>
                <a:latin typeface="Calibri"/>
              </a:rPr>
              <a:t>Friday 11/9 — cloud platform decision deadline. Own-data teams: data governance note.</a:t>
            </a:r>
          </a:p>
        </p:txBody>
      </p:sp>
      <p:sp>
        <p:nvSpPr>
          <p:cNvPr id="6" name="TextBox 5"/>
          <p:cNvSpPr txBox="1"/>
          <p:nvPr/>
        </p:nvSpPr>
        <p:spPr>
          <a:xfrm>
            <a:off x="502920" y="6510528"/>
            <a:ext cx="4572000" cy="274320"/>
          </a:xfrm>
          <a:prstGeom prst="rect">
            <a:avLst/>
          </a:prstGeom>
          <a:noFill/>
        </p:spPr>
        <p:txBody>
          <a:bodyPr bIns="0" lIns="0" rIns="0" tIns="0" wrap="square">
            <a:spAutoFit/>
          </a:bodyPr>
          <a:lstStyle/>
          <a:p>
            <a:pPr algn="l">
              <a:spcAft>
                <a:spcPts val="0"/>
              </a:spcAft>
            </a:pPr>
            <a:r>
              <a:rPr b="0" sz="900">
                <a:solidFill>
                  <a:srgbClr val="9AA6C4"/>
                </a:solidFill>
                <a:latin typeface="Calibri"/>
              </a:rPr>
              <a:t>Data Engineering och Agila metoder · Week 5</a:t>
            </a:r>
          </a:p>
        </p:txBody>
      </p:sp>
      <p:sp>
        <p:nvSpPr>
          <p:cNvPr id="7" name="TextBox 6"/>
          <p:cNvSpPr txBox="1"/>
          <p:nvPr/>
        </p:nvSpPr>
        <p:spPr>
          <a:xfrm>
            <a:off x="11475720" y="6510528"/>
            <a:ext cx="548640" cy="274320"/>
          </a:xfrm>
          <a:prstGeom prst="rect">
            <a:avLst/>
          </a:prstGeom>
          <a:noFill/>
        </p:spPr>
        <p:txBody>
          <a:bodyPr bIns="0" lIns="0" rIns="0" tIns="0" wrap="square">
            <a:spAutoFit/>
          </a:bodyPr>
          <a:lstStyle/>
          <a:p>
            <a:pPr algn="r">
              <a:spcAft>
                <a:spcPts val="0"/>
              </a:spcAft>
            </a:pPr>
            <a:r>
              <a:rPr b="0" sz="900">
                <a:solidFill>
                  <a:srgbClr val="9AA6C4"/>
                </a:solidFill>
                <a:latin typeface="Calibri"/>
              </a:rPr>
              <a:t>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TotalTime>
  <Words>1812</Words>
  <Application>Microsoft Macintosh PowerPoint</Application>
  <PresentationFormat>Bredbild</PresentationFormat>
  <Paragraphs>183</Paragraphs>
  <Slides>20</Slides>
  <Notes>0</Notes>
  <HiddenSlides>0</HiddenSlides>
  <MMClips>0</MMClips>
  <ScaleCrop>false</ScaleCrop>
  <HeadingPairs>
    <vt:vector size="6" baseType="variant">
      <vt:variant>
        <vt:lpstr>Använt teckensnitt</vt:lpstr>
      </vt:variant>
      <vt:variant>
        <vt:i4>2</vt:i4>
      </vt:variant>
      <vt:variant>
        <vt:lpstr>Tema</vt:lpstr>
      </vt:variant>
      <vt:variant>
        <vt:i4>1</vt:i4>
      </vt:variant>
      <vt:variant>
        <vt:lpstr>Bildrubriker</vt:lpstr>
      </vt:variant>
      <vt:variant>
        <vt:i4>20</vt:i4>
      </vt:variant>
    </vt:vector>
  </HeadingPairs>
  <TitlesOfParts>
    <vt:vector size="23" baseType="lpstr">
      <vt:lpstr>Arial</vt:lpstr>
      <vt:lpstr>Calibri</vt:lpstr>
      <vt:lpstr>Office Theme</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mikael huss</cp:lastModifiedBy>
  <cp:revision>8</cp:revision>
  <dcterms:created xsi:type="dcterms:W3CDTF">2013-01-27T09:14:16Z</dcterms:created>
  <dcterms:modified xsi:type="dcterms:W3CDTF">2026-09-06T14:20:06Z</dcterms:modified>
  <cp:category/>
</cp:coreProperties>
</file>