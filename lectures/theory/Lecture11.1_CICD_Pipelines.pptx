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449373" y="1178691"/>
            <a:ext cx="103904" cy="103904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445815" y="1752202"/>
            <a:ext cx="88504" cy="88504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121802" y="964532"/>
            <a:ext cx="133184" cy="133184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27979" y="1455523"/>
            <a:ext cx="73554" cy="73554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766862" y="883576"/>
            <a:ext cx="86648" cy="86648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469099" y="1703768"/>
            <a:ext cx="125960" cy="125960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585045" y="2023037"/>
            <a:ext cx="97623" cy="97623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99146" y="1001111"/>
            <a:ext cx="125454" cy="125454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93342" y="529384"/>
            <a:ext cx="123792" cy="123792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403517" y="1994282"/>
            <a:ext cx="167757" cy="167757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805447" y="1478352"/>
            <a:ext cx="81870" cy="81870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759435" y="995359"/>
            <a:ext cx="94780" cy="94780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987281" y="688225"/>
            <a:ext cx="78869" cy="78869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180324" y="1036836"/>
            <a:ext cx="97050" cy="97050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181318" y="942685"/>
            <a:ext cx="171931" cy="171931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129998" y="2014142"/>
            <a:ext cx="83538" cy="83538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084758" y="2043658"/>
            <a:ext cx="141519" cy="141519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03586" y="485898"/>
            <a:ext cx="116631" cy="116631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479348" y="776840"/>
            <a:ext cx="86808" cy="86808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796170" y="1064574"/>
            <a:ext cx="101668" cy="101668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807777" y="1413557"/>
            <a:ext cx="166414" cy="166414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871487" y="1405643"/>
            <a:ext cx="113710" cy="113710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1157097" y="1434917"/>
            <a:ext cx="110922" cy="110922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181353" y="1639713"/>
            <a:ext cx="154316" cy="154316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978688" y="2014610"/>
            <a:ext cx="152469" cy="152469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245437" y="1671030"/>
            <a:ext cx="139517" cy="139517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476017" y="711494"/>
            <a:ext cx="125785" cy="125785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40080" y="640080"/>
            <a:ext cx="3450000" cy="400000"/>
          </a:xfrm>
          <a:prstGeom prst="roundRect">
            <a:avLst>
              <a:gd name="adj" fmla="val 50000"/>
            </a:avLst>
          </a:prstGeom>
          <a:solidFill>
            <a:srgbClr val="F29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WEEK 7 · BLOCK 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1600200"/>
            <a:ext cx="9601200" cy="19389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4000" b="0">
                <a:solidFill>
                  <a:srgbClr val="FFFFFF"/>
                </a:solidFill>
                <a:latin typeface="Calibri"/>
              </a:rPr>
              <a:t>CI/CD: checks before merge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4200000"/>
            <a:ext cx="9601200" cy="3231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CADCFC"/>
                </a:solidFill>
                <a:latin typeface="Calibri"/>
              </a:rPr>
              <a:t>You already have scheduled ingestion. This week, add checks before code enters main. CD comes later.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4750000"/>
            <a:ext cx="96012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CADCFC"/>
                </a:solidFill>
                <a:latin typeface="Calibri"/>
              </a:rPr>
              <a:t>Mikael Huss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6510528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CADCFC"/>
                </a:solidFill>
                <a:latin typeface="Calibri"/>
              </a:rPr>
              <a:t>Data engineering och agila metoder · AIM25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CADCFC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0000"/>
            <a:ext cx="750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2994A"/>
                </a:solidFill>
                <a:latin typeface="Calibri"/>
              </a:rPr>
              <a:t>WHERE WE ARE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0000"/>
            <a:ext cx="10800000" cy="7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E2761"/>
                </a:solidFill>
                <a:latin typeface="Calibri"/>
              </a:rPr>
              <a:t>What you already have, and what is missing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0000" y="1450000"/>
            <a:ext cx="2600000" cy="7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E2761"/>
                </a:solidFill>
                <a:latin typeface="Calibri"/>
              </a:rPr>
              <a:t>You already have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50000" y="1450000"/>
            <a:ext cx="6950000" cy="7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44506B"/>
                </a:solidFill>
                <a:latin typeface="Calibri"/>
              </a:rPr>
              <a:t>A scheduled GitHub Actions workflow that ingests data.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0000" y="2250000"/>
            <a:ext cx="2600000" cy="7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E2761"/>
                </a:solidFill>
                <a:latin typeface="Calibri"/>
              </a:rPr>
              <a:t>What is missing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50000" y="2250000"/>
            <a:ext cx="6950000" cy="7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44506B"/>
                </a:solidFill>
                <a:latin typeface="Calibri"/>
              </a:rPr>
              <a:t>A check that runs when someone proposes a code change.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0000" y="3050000"/>
            <a:ext cx="2600000" cy="7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E2761"/>
                </a:solidFill>
                <a:latin typeface="Calibri"/>
              </a:rPr>
              <a:t>This week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50000" y="3050000"/>
            <a:ext cx="6950000" cy="7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44506B"/>
                </a:solidFill>
                <a:latin typeface="Calibri"/>
              </a:rPr>
              <a:t>Run Ruff and a few tests on every pull request.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850000"/>
            <a:ext cx="2600000" cy="7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E2761"/>
                </a:solidFill>
                <a:latin typeface="Calibri"/>
              </a:rPr>
              <a:t>Later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50000" y="3850000"/>
            <a:ext cx="6950000" cy="7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44506B"/>
                </a:solidFill>
                <a:latin typeface="Calibri"/>
              </a:rPr>
              <a:t>When a local FastAPI service exists: add a Dockerfile and deploy it with Render.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0000" y="4650000"/>
            <a:ext cx="2600000" cy="7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E2761"/>
                </a:solidFill>
                <a:latin typeface="Calibri"/>
              </a:rPr>
              <a:t>Why it matters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50000" y="4650000"/>
            <a:ext cx="6950000" cy="7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44506B"/>
                </a:solidFill>
                <a:latin typeface="Calibri"/>
              </a:rPr>
              <a:t>A second check can catch a problem before it reaches the shared branch.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510528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9AA6C4"/>
                </a:solidFill>
                <a:latin typeface="Calibri"/>
              </a:rPr>
              <a:t>Data engineering och agila metoder · AIM25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9AA6C4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0000"/>
            <a:ext cx="750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2994A"/>
                </a:solidFill>
                <a:latin typeface="Calibri"/>
              </a:rPr>
              <a:t>THE DISTINCTION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2300000"/>
            <a:ext cx="11000000" cy="20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E2761"/>
                </a:solidFill>
                <a:latin typeface="Calibri"/>
              </a:rPr>
              <a:t>CI checks a proposed change. CD creates a version that can be deployed.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400000"/>
            <a:ext cx="10800000" cy="12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44506B"/>
                </a:solidFill>
                <a:latin typeface="Calibri"/>
              </a:rPr>
              <a:t>CI runs before merge and answers whether the change works with main. CD builds a named image after merge, so the team can later identify what version is running.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9AA6C4"/>
                </a:solidFill>
                <a:latin typeface="Calibri"/>
              </a:rPr>
              <a:t>Data engineering och agila metoder · AIM25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9AA6C4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808604" y="1341057"/>
            <a:ext cx="114633" cy="114633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422344" y="536579"/>
            <a:ext cx="171745" cy="171745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516013" y="690057"/>
            <a:ext cx="135532" cy="135532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153531" y="1723602"/>
            <a:ext cx="155689" cy="155689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708672" y="1291119"/>
            <a:ext cx="128181" cy="128181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305821" y="1844207"/>
            <a:ext cx="87847" cy="87847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025017" y="1982291"/>
            <a:ext cx="146110" cy="146110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903211" y="704183"/>
            <a:ext cx="163812" cy="163812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507516" y="1518591"/>
            <a:ext cx="172463" cy="172463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512884" y="519628"/>
            <a:ext cx="89400" cy="89400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747085" y="1071458"/>
            <a:ext cx="88639" cy="88639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880888" y="1022708"/>
            <a:ext cx="128173" cy="128173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027890" y="2016540"/>
            <a:ext cx="84950" cy="84950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110742" y="1805183"/>
            <a:ext cx="151624" cy="151624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978228" y="879065"/>
            <a:ext cx="75219" cy="75219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00179" y="1586134"/>
            <a:ext cx="121054" cy="121054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892466" y="726537"/>
            <a:ext cx="72171" cy="72171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1078381" y="1223792"/>
            <a:ext cx="130310" cy="130310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1494847" y="1372703"/>
            <a:ext cx="127064" cy="127064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0237015" y="1345564"/>
            <a:ext cx="158962" cy="158962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804006" y="1179807"/>
            <a:ext cx="96363" cy="96363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849720" y="893700"/>
            <a:ext cx="103149" cy="103149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099364" y="1674942"/>
            <a:ext cx="146518" cy="146518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042547" y="1263509"/>
            <a:ext cx="89841" cy="89841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689213" y="818860"/>
            <a:ext cx="98103" cy="98103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008894" y="1131645"/>
            <a:ext cx="146072" cy="146072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507176" y="1020854"/>
            <a:ext cx="119383" cy="119383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3200000"/>
            <a:ext cx="10000000" cy="10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Calibri"/>
              </a:rPr>
              <a:t>1. CI before merge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4250000"/>
            <a:ext cx="9500000" cy="9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CADCFC"/>
                </a:solidFill>
                <a:latin typeface="Calibri"/>
              </a:rPr>
              <a:t>A workflow that checks a proposed change before it reaches main.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6510528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CADCFC"/>
                </a:solidFill>
                <a:latin typeface="Calibri"/>
              </a:rPr>
              <a:t>Data engineering och agila metoder · AIM25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CADCFC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0000"/>
            <a:ext cx="750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2994A"/>
                </a:solidFill>
                <a:latin typeface="Calibri"/>
              </a:rPr>
              <a:t>THE TRIGGER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0000"/>
            <a:ext cx="10800000" cy="7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E2761"/>
                </a:solidFill>
                <a:latin typeface="Calibri"/>
              </a:rPr>
              <a:t>One line changes what the workflow is for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450000"/>
            <a:ext cx="10800000" cy="217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00000" y="1580000"/>
            <a:ext cx="10400000" cy="3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E2761"/>
                </a:solidFill>
                <a:latin typeface="Calibri"/>
              </a:rPr>
              <a:t>The entire difference from your ingest.yml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0000" y="1930000"/>
            <a:ext cx="10400000" cy="15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44506B"/>
                </a:solidFill>
                <a:latin typeface="Consolas"/>
              </a:rPr>
              <a:t>on: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44506B"/>
                </a:solidFill>
                <a:latin typeface="Consolas"/>
              </a:rPr>
              <a:t>  pull_request: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44506B"/>
                </a:solidFill>
                <a:latin typeface="Consolas"/>
              </a:rPr>
              <a:t>    branches: [main]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44506B"/>
                </a:solidFill>
                <a:latin typeface="Consolas"/>
              </a:rPr>
              <a:t>  push: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44506B"/>
                </a:solidFill>
                <a:latin typeface="Consolas"/>
              </a:rPr>
              <a:t>    branches: [main]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3840000"/>
            <a:ext cx="10800000" cy="9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44506B"/>
                </a:solidFill>
                <a:latin typeface="Calibri"/>
              </a:rPr>
              <a:t>For a pull request, GitHub checks what happens if the branch is combined with main. That is more useful than checking the branch on its own.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10528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9AA6C4"/>
                </a:solidFill>
                <a:latin typeface="Calibri"/>
              </a:rPr>
              <a:t>Data engineering och agila metoder · AIM25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9AA6C4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0000"/>
            <a:ext cx="750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2994A"/>
                </a:solidFill>
                <a:latin typeface="Calibri"/>
              </a:rPr>
              <a:t>THE JOB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0000"/>
            <a:ext cx="10800000" cy="7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E2761"/>
                </a:solidFill>
                <a:latin typeface="Calibri"/>
              </a:rPr>
              <a:t>A CI workflow for this repo, whole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450000"/>
            <a:ext cx="10800000" cy="385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00000" y="1580000"/>
            <a:ext cx="10400000" cy="3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E2761"/>
                </a:solidFill>
                <a:latin typeface="Calibri"/>
              </a:rPr>
              <a:t>.github/workflows/ci.yml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0000" y="1930000"/>
            <a:ext cx="10400000" cy="32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44506B"/>
                </a:solidFill>
                <a:latin typeface="Consolas"/>
              </a:rPr>
              <a:t>name: ci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44506B"/>
                </a:solidFill>
                <a:latin typeface="Consolas"/>
              </a:rPr>
              <a:t>on: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44506B"/>
                </a:solidFill>
                <a:latin typeface="Consolas"/>
              </a:rPr>
              <a:t>  pull_request: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44506B"/>
                </a:solidFill>
                <a:latin typeface="Consolas"/>
              </a:rPr>
              <a:t>jobs: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44506B"/>
                </a:solidFill>
                <a:latin typeface="Consolas"/>
              </a:rPr>
              <a:t>  check: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44506B"/>
                </a:solidFill>
                <a:latin typeface="Consolas"/>
              </a:rPr>
              <a:t>    runs-on: ubuntu-latest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44506B"/>
                </a:solidFill>
                <a:latin typeface="Consolas"/>
              </a:rPr>
              <a:t>    steps: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44506B"/>
                </a:solidFill>
                <a:latin typeface="Consolas"/>
              </a:rPr>
              <a:t>      - uses: actions/checkout@v4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44506B"/>
                </a:solidFill>
                <a:latin typeface="Consolas"/>
              </a:rPr>
              <a:t>      - uses: astral-sh/setup-uv@v7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44506B"/>
                </a:solidFill>
                <a:latin typeface="Consolas"/>
              </a:rPr>
              <a:t>      - run: uv run --extra dev ruff check .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44506B"/>
                </a:solidFill>
                <a:latin typeface="Consolas"/>
              </a:rPr>
              <a:t>      - run: uv run --extra dev pytest -q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520000"/>
            <a:ext cx="10800000" cy="9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44506B"/>
                </a:solidFill>
                <a:latin typeface="Calibri"/>
              </a:rPr>
              <a:t>The standard repository uses pyproject.toml and uv.lock. It does not use requirements.txt.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10528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9AA6C4"/>
                </a:solidFill>
                <a:latin typeface="Calibri"/>
              </a:rPr>
              <a:t>Data engineering och agila metoder · AIM25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9AA6C4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0000"/>
            <a:ext cx="750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2994A"/>
                </a:solidFill>
                <a:latin typeface="Calibri"/>
              </a:rPr>
              <a:t>LINTING WITH RUFF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0000"/>
            <a:ext cx="10800000" cy="7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E2761"/>
                </a:solidFill>
                <a:latin typeface="Calibri"/>
              </a:rPr>
              <a:t>Ruff finds simple problems before the code runs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0000" y="1450000"/>
            <a:ext cx="2600000" cy="7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E2761"/>
                </a:solidFill>
                <a:latin typeface="Calibri"/>
              </a:rPr>
              <a:t>What Ruff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50000" y="1450000"/>
            <a:ext cx="6950000" cy="7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44506B"/>
                </a:solidFill>
                <a:latin typeface="Calibri"/>
              </a:rPr>
              <a:t>Ruff reads Python files and reports simple problems.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0000" y="2250000"/>
            <a:ext cx="2600000" cy="7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E2761"/>
                </a:solidFill>
                <a:latin typeface="Calibri"/>
              </a:rPr>
              <a:t>Examples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50000" y="2250000"/>
            <a:ext cx="6950000" cy="7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44506B"/>
                </a:solidFill>
                <a:latin typeface="Calibri"/>
              </a:rPr>
              <a:t>An unused import, an undefined name, or code that does not follow the team's basic rules.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0000" y="3050000"/>
            <a:ext cx="2600000" cy="7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E2761"/>
                </a:solidFill>
                <a:latin typeface="Calibri"/>
              </a:rPr>
              <a:t>Run it yourself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50000" y="3050000"/>
            <a:ext cx="6950000" cy="7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44506B"/>
                </a:solidFill>
                <a:latin typeface="Calibri"/>
              </a:rPr>
              <a:t>From the repository root, run uv run --extra dev ruff check . before you open a pull request.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850000"/>
            <a:ext cx="2600000" cy="7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E2761"/>
                </a:solidFill>
                <a:latin typeface="Calibri"/>
              </a:rPr>
              <a:t>Not a test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50000" y="3850000"/>
            <a:ext cx="6950000" cy="7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44506B"/>
                </a:solidFill>
                <a:latin typeface="Calibri"/>
              </a:rPr>
              <a:t>Ruff cannot show that the whole pipeline works. Tests are for that.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4750000"/>
            <a:ext cx="10800000" cy="9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700000" y="4930000"/>
            <a:ext cx="10400000" cy="7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E2761"/>
                </a:solidFill>
                <a:latin typeface="Calibri"/>
              </a:rPr>
              <a:t>Ruff is already included in the starter repository. Fix the line it identifies, run the command again, and commit the change.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510528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9AA6C4"/>
                </a:solidFill>
                <a:latin typeface="Calibri"/>
              </a:rPr>
              <a:t>Data engineering och agila metoder · AIM25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9AA6C4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0000"/>
            <a:ext cx="750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2994A"/>
                </a:solidFill>
                <a:latin typeface="Calibri"/>
              </a:rPr>
              <a:t>START WITH ONE SMALL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0000"/>
            <a:ext cx="10800000" cy="7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E2761"/>
                </a:solidFill>
                <a:latin typeface="Calibri"/>
              </a:rPr>
              <a:t>From the repository root: uv run --extra dev pytest -q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450000"/>
            <a:ext cx="10800000" cy="385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00000" y="1580000"/>
            <a:ext cx="10400000" cy="3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E2761"/>
                </a:solidFill>
                <a:latin typeface="Calibri"/>
              </a:rPr>
              <a:t>tests/test_features.py — do not run python tests/test_features.py directly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0000" y="1930000"/>
            <a:ext cx="10400000" cy="32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44506B"/>
                </a:solidFill>
                <a:latin typeface="Consolas"/>
              </a:rPr>
              <a:t>from datetime import date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44506B"/>
                </a:solidFill>
                <a:latin typeface="Consolas"/>
              </a:rPr>
              <a:t>import pandas as pd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44506B"/>
                </a:solidFill>
                <a:latin typeface="Consolas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44506B"/>
                </a:solidFill>
                <a:latin typeface="Consolas"/>
              </a:rPr>
              <a:t>from model.train import daily_price_table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44506B"/>
                </a:solidFill>
                <a:latin typeface="Consolas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44506B"/>
                </a:solidFill>
                <a:latin typeface="Consolas"/>
              </a:rPr>
              <a:t>def test_daily_price_table_counts_intervals():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44506B"/>
                </a:solidFill>
                <a:latin typeface="Consolas"/>
              </a:rPr>
              <a:t>    prices = pd.DataFrame({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44506B"/>
                </a:solidFill>
                <a:latin typeface="Consolas"/>
              </a:rPr>
              <a:t>        'date_local': [date(2026, 1, 1)] * 2,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44506B"/>
                </a:solidFill>
                <a:latin typeface="Consolas"/>
              </a:rPr>
              <a:t>        'SEK_per_kWh': [0.40, 0.60],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44506B"/>
                </a:solidFill>
                <a:latin typeface="Consolas"/>
              </a:rPr>
              <a:t>    })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44506B"/>
                </a:solidFill>
                <a:latin typeface="Consolas"/>
              </a:rPr>
              <a:t>    assert daily_price_table(prices).loc['2026-01-01', 'n_intervals'] ==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520000"/>
            <a:ext cx="10800000" cy="9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44506B"/>
                </a:solidFill>
                <a:latin typeface="Calibri"/>
              </a:rPr>
              <a:t>The model folder is a Python package because it contains model/__init__.py. If you get “No module named model”, first check that the terminal is in the repository root.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10528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9AA6C4"/>
                </a:solidFill>
                <a:latin typeface="Calibri"/>
              </a:rPr>
              <a:t>Data engineering och agila metoder · AIM25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9AA6C4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0000"/>
            <a:ext cx="750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2994A"/>
                </a:solidFill>
                <a:latin typeface="Calibri"/>
              </a:rPr>
              <a:t>ORDER MATTERS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0000"/>
            <a:ext cx="10800000" cy="7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E2761"/>
                </a:solidFill>
                <a:latin typeface="Calibri"/>
              </a:rPr>
              <a:t>Put the fast, cheap, always-informative step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500000"/>
            <a:ext cx="10800000" cy="42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44506B"/>
                </a:solidFill>
                <a:latin typeface="Calibri"/>
              </a:rPr>
              <a:t>•  Lint before tests</a:t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44506B"/>
                </a:solidFill>
                <a:latin typeface="Calibri"/>
              </a:rPr>
              <a:t>     Linting is fast and catches simple mistakes first.</a:t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44506B"/>
                </a:solidFill>
                <a:latin typeface="Calibri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44506B"/>
                </a:solidFill>
                <a:latin typeface="Calibri"/>
              </a:rPr>
              <a:t>•  Tests before build</a:t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44506B"/>
                </a:solidFill>
                <a:latin typeface="Calibri"/>
              </a:rPr>
              <a:t>     Do not build an image when the code has already failed a test.</a:t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44506B"/>
                </a:solidFill>
                <a:latin typeface="Calibri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44506B"/>
                </a:solidFill>
                <a:latin typeface="Calibri"/>
              </a:rPr>
              <a:t>•  Build after checks</a:t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44506B"/>
                </a:solidFill>
                <a:latin typeface="Calibri"/>
              </a:rPr>
              <a:t>     Only build a version that has passed the checks.</a:t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44506B"/>
                </a:solidFill>
                <a:latin typeface="Calibri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44506B"/>
                </a:solidFill>
                <a:latin typeface="Calibri"/>
              </a:rPr>
              <a:t>•  Keep it short</a:t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44506B"/>
                </a:solidFill>
                <a:latin typeface="Calibri"/>
              </a:rPr>
              <a:t>     A check that takes a few minutes is easier to use while reviewing a pull request.</a:t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44506B"/>
                </a:solidFill>
                <a:latin typeface="Calibri"/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9AA6C4"/>
                </a:solidFill>
                <a:latin typeface="Calibri"/>
              </a:rPr>
              <a:t>Data engineering och agila metoder · AIM25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9AA6C4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0000"/>
            <a:ext cx="750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2994A"/>
                </a:solidFill>
                <a:latin typeface="Calibri"/>
              </a:rPr>
              <a:t>MAKE THE CHECK PART OF THE MERGE RULE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2300000"/>
            <a:ext cx="11000000" cy="20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E2761"/>
                </a:solidFill>
                <a:latin typeface="Calibri"/>
              </a:rPr>
              <a:t>A failed check should stop the pull request from being merged.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400000"/>
            <a:ext cx="10800000" cy="12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44506B"/>
                </a:solidFill>
                <a:latin typeface="Calibri"/>
              </a:rPr>
              <a:t>In GitHub, add a branch protection rule for main: require a pull request and require the CI check to pass. Otherwise the workflow is only information; it does not protect main.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9AA6C4"/>
                </a:solidFill>
                <a:latin typeface="Calibri"/>
              </a:rPr>
              <a:t>Data engineering och agila metoder · AIM25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9AA6C4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0000"/>
            <a:ext cx="750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2994A"/>
                </a:solidFill>
                <a:latin typeface="Calibri"/>
              </a:rPr>
              <a:t>BRANCH PROTECTION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0000"/>
            <a:ext cx="10800000" cy="7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E2761"/>
                </a:solidFill>
                <a:latin typeface="Calibri"/>
              </a:rPr>
              <a:t>Use the smallest useful set of settings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500000"/>
            <a:ext cx="10800000" cy="42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44506B"/>
                </a:solidFill>
                <a:latin typeface="Calibri"/>
              </a:rPr>
              <a:t>•  Require a pull request before merging</a:t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44506B"/>
                </a:solidFill>
                <a:latin typeface="Calibri"/>
              </a:rPr>
              <a:t>     Work happens on a branch and is merged through a pull request.</a:t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44506B"/>
                </a:solidFill>
                <a:latin typeface="Calibri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44506B"/>
                </a:solidFill>
                <a:latin typeface="Calibri"/>
              </a:rPr>
              <a:t>•  Require status checks to pass</a:t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44506B"/>
                </a:solidFill>
                <a:latin typeface="Calibri"/>
              </a:rPr>
              <a:t>     The CI job must be green before merge.</a:t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44506B"/>
                </a:solidFill>
                <a:latin typeface="Calibri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44506B"/>
                </a:solidFill>
                <a:latin typeface="Calibri"/>
              </a:rPr>
              <a:t>•  Require one approval</a:t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44506B"/>
                </a:solidFill>
                <a:latin typeface="Calibri"/>
              </a:rPr>
              <a:t>     Use this if your team can review each other's pull requests.</a:t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44506B"/>
                </a:solidFill>
                <a:latin typeface="Calibri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44506B"/>
                </a:solidFill>
                <a:latin typeface="Calibri"/>
              </a:rPr>
              <a:t>•  Leave advanced settings alone</a:t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44506B"/>
                </a:solidFill>
                <a:latin typeface="Calibri"/>
              </a:rPr>
              <a:t>     Linear history and signed commits are not needed for this course project.</a:t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44506B"/>
                </a:solidFill>
                <a:latin typeface="Calibri"/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900000"/>
            <a:ext cx="10800000" cy="4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E2761"/>
                </a:solidFill>
                <a:latin typeface="Calibri"/>
              </a:rPr>
              <a:t>Agree as a team what you do when the CI job is red: fix it, or explain why it is not relevant.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9AA6C4"/>
                </a:solidFill>
                <a:latin typeface="Calibri"/>
              </a:rPr>
              <a:t>Data engineering och agila metoder · AIM25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9AA6C4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0000"/>
            <a:ext cx="750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2994A"/>
                </a:solidFill>
                <a:latin typeface="Calibri"/>
              </a:rPr>
              <a:t>WHAT TO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0000"/>
            <a:ext cx="10800000" cy="7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E2761"/>
                </a:solidFill>
                <a:latin typeface="Calibri"/>
              </a:rPr>
              <a:t>Start with the parts of this project that are easy to break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500000"/>
            <a:ext cx="10800000" cy="42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44506B"/>
                </a:solidFill>
                <a:latin typeface="Calibri"/>
              </a:rPr>
              <a:t>•  Transformations, not live API calls</a:t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44506B"/>
                </a:solidFill>
                <a:latin typeface="Calibri"/>
              </a:rPr>
              <a:t>     Use a saved response to test parsing. A test should not fail because SMHI is unavailable.</a:t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44506B"/>
                </a:solidFill>
                <a:latin typeface="Calibri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44506B"/>
                </a:solidFill>
                <a:latin typeface="Calibri"/>
              </a:rPr>
              <a:t>•  Known edge cases</a:t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44506B"/>
                </a:solidFill>
                <a:latin typeface="Calibri"/>
              </a:rPr>
              <a:t>     Test duplicate rows, missing weather data, and days with a different number of price intervals.</a:t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44506B"/>
                </a:solidFill>
                <a:latin typeface="Calibri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44506B"/>
                </a:solidFill>
                <a:latin typeface="Calibri"/>
              </a:rPr>
              <a:t>•  Expected failures</a:t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44506B"/>
                </a:solidFill>
                <a:latin typeface="Calibri"/>
              </a:rPr>
              <a:t>     If zero written rows should raise an error, test that it does.</a:t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44506B"/>
                </a:solidFill>
                <a:latin typeface="Calibri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44506B"/>
                </a:solidFill>
                <a:latin typeface="Calibri"/>
              </a:rPr>
              <a:t>•  Small independent tests</a:t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44506B"/>
                </a:solidFill>
                <a:latin typeface="Calibri"/>
              </a:rPr>
              <a:t>     Avoid a database connection in the CI job unless the test truly needs one.</a:t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44506B"/>
                </a:solidFill>
                <a:latin typeface="Calibri"/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900000"/>
            <a:ext cx="10800000" cy="4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E2761"/>
                </a:solidFill>
                <a:latin typeface="Calibri"/>
              </a:rPr>
              <a:t>A few clear tests are enough to begin.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9AA6C4"/>
                </a:solidFill>
                <a:latin typeface="Calibri"/>
              </a:rPr>
              <a:t>Data engineering och agila metoder · AIM25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9AA6C4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042882" y="1892293"/>
            <a:ext cx="96112" cy="96112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63756" y="1315978"/>
            <a:ext cx="132323" cy="132323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918222" y="1861641"/>
            <a:ext cx="87150" cy="87150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634863" y="667958"/>
            <a:ext cx="80860" cy="80860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277591" y="715376"/>
            <a:ext cx="168544" cy="168544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883466" y="713391"/>
            <a:ext cx="94587" cy="94587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532936" y="1290058"/>
            <a:ext cx="87098" cy="87098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835770" y="1119520"/>
            <a:ext cx="112783" cy="112783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121493" y="1827959"/>
            <a:ext cx="108844" cy="108844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863705" y="506151"/>
            <a:ext cx="150779" cy="150779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723026" y="1800457"/>
            <a:ext cx="151635" cy="151635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002589" y="1127331"/>
            <a:ext cx="123340" cy="123340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857158" y="1143868"/>
            <a:ext cx="74468" cy="74468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049183" y="1310756"/>
            <a:ext cx="77840" cy="77840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932422" y="585714"/>
            <a:ext cx="90801" cy="90801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1340471" y="1521531"/>
            <a:ext cx="152824" cy="152824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353248" y="979424"/>
            <a:ext cx="120219" cy="120219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1141951" y="1563093"/>
            <a:ext cx="79128" cy="79128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571819" y="1270223"/>
            <a:ext cx="172681" cy="172681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631301" y="764032"/>
            <a:ext cx="94932" cy="94932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364313" y="1812855"/>
            <a:ext cx="146426" cy="146426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839276" y="598269"/>
            <a:ext cx="164024" cy="164024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749071" y="1780791"/>
            <a:ext cx="153264" cy="153264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807338" y="1186278"/>
            <a:ext cx="88068" cy="88068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556258" y="1240957"/>
            <a:ext cx="155865" cy="155865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424404" y="1602892"/>
            <a:ext cx="105644" cy="105644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945270" y="806202"/>
            <a:ext cx="75186" cy="75186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3200000"/>
            <a:ext cx="10000000" cy="10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Calibri"/>
              </a:rPr>
              <a:t>2. Later: CD for the API service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4250000"/>
            <a:ext cx="9500000" cy="9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CADCFC"/>
                </a:solidFill>
                <a:latin typeface="Calibri"/>
              </a:rPr>
              <a:t>This is the next phase, not a Week 7 requirement.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6510528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CADCFC"/>
                </a:solidFill>
                <a:latin typeface="Calibri"/>
              </a:rPr>
              <a:t>Data engineering och agila metoder · AIM25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CADCFC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0000"/>
            <a:ext cx="750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2994A"/>
                </a:solidFill>
                <a:latin typeface="Calibri"/>
              </a:rPr>
              <a:t>CD STARTS AFTER THE LOCAL API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2300000"/>
            <a:ext cx="11000000" cy="20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E2761"/>
                </a:solidFill>
                <a:latin typeface="Calibri"/>
              </a:rPr>
              <a:t>First create and test the FastAPI service locally. Then add a Dockerfile and deploy it with Render.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400000"/>
            <a:ext cx="10800000" cy="12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44506B"/>
                </a:solidFill>
                <a:latin typeface="Calibri"/>
              </a:rPr>
              <a:t>Do not add a Dockerfile, a CD workflow, or Render deployment this week. The commit tag below is a preview of how a later deployment can be traced back to code.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9AA6C4"/>
                </a:solidFill>
                <a:latin typeface="Calibri"/>
              </a:rPr>
              <a:t>Data engineering och agila metoder · AIM25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9AA6C4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0000"/>
            <a:ext cx="750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2994A"/>
                </a:solidFill>
                <a:latin typeface="Calibri"/>
              </a:rPr>
              <a:t>LATER: A BUILD JOB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0000"/>
            <a:ext cx="10800000" cy="7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E2761"/>
                </a:solidFill>
                <a:latin typeface="Calibri"/>
              </a:rPr>
              <a:t>Build and tag after merge, once the API and Dockerfile exist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450000"/>
            <a:ext cx="10800000" cy="329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00000" y="1580000"/>
            <a:ext cx="10400000" cy="3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E2761"/>
                </a:solidFill>
                <a:latin typeface="Calibri"/>
              </a:rPr>
              <a:t>Reference only — not a Week 7 task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0000" y="1930000"/>
            <a:ext cx="10400000" cy="264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44506B"/>
                </a:solidFill>
                <a:latin typeface="Consolas"/>
              </a:rPr>
              <a:t>  build: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44506B"/>
                </a:solidFill>
                <a:latin typeface="Consolas"/>
              </a:rPr>
              <a:t>    if: github.event_name == 'push'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44506B"/>
                </a:solidFill>
                <a:latin typeface="Consolas"/>
              </a:rPr>
              <a:t>    needs: check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44506B"/>
                </a:solidFill>
                <a:latin typeface="Consolas"/>
              </a:rPr>
              <a:t>    runs-on: ubuntu-latest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44506B"/>
                </a:solidFill>
                <a:latin typeface="Consolas"/>
              </a:rPr>
              <a:t>    steps: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44506B"/>
                </a:solidFill>
                <a:latin typeface="Consolas"/>
              </a:rPr>
              <a:t>      - uses: actions/checkout@v4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44506B"/>
                </a:solidFill>
                <a:latin typeface="Consolas"/>
              </a:rPr>
              <a:t>      - run: |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44506B"/>
                </a:solidFill>
                <a:latin typeface="Consolas"/>
              </a:rPr>
              <a:t>          docker build -t app:${{ github.sha }} .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44506B"/>
                </a:solidFill>
                <a:latin typeface="Consolas"/>
              </a:rPr>
              <a:t>          docker tag  app:${{ github.sha }} app:latest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4960000"/>
            <a:ext cx="10800000" cy="9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44506B"/>
                </a:solidFill>
                <a:latin typeface="Calibri"/>
              </a:rPr>
              <a:t>needs: check means the build starts only after the checks pass. github.sha is the commit identifier. Use the same tag when you later push the image to a registry.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10528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9AA6C4"/>
                </a:solidFill>
                <a:latin typeface="Calibri"/>
              </a:rPr>
              <a:t>Data engineering och agila metoder · AIM25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9AA6C4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0000"/>
            <a:ext cx="750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2994A"/>
                </a:solidFill>
                <a:latin typeface="Calibri"/>
              </a:rPr>
              <a:t>IMAGE TAGS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0000"/>
            <a:ext cx="10800000" cy="7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E2761"/>
                </a:solidFill>
                <a:latin typeface="Calibri"/>
              </a:rPr>
              <a:t>Use the commit tag as the reliable identifier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0000" y="1450000"/>
            <a:ext cx="2900000" cy="7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E2761"/>
                </a:solidFill>
                <a:latin typeface="Calibri"/>
              </a:rPr>
              <a:t>The commit SHA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650000" y="1450000"/>
            <a:ext cx="6650000" cy="7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44506B"/>
                </a:solidFill>
                <a:latin typeface="Calibri"/>
              </a:rPr>
              <a:t>This tag identifies one exact image. Use it when you later deploy and log a version.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0000" y="2230000"/>
            <a:ext cx="2900000" cy="7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E2761"/>
                </a:solidFill>
                <a:latin typeface="Calibri"/>
              </a:rPr>
              <a:t>latest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50000" y="2230000"/>
            <a:ext cx="6650000" cy="7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44506B"/>
                </a:solidFill>
                <a:latin typeface="Calibri"/>
              </a:rPr>
              <a:t>A moving pointer to the newest image. It is useful locally, but not for identifying a deployed version.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0000" y="3010000"/>
            <a:ext cx="2900000" cy="7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E2761"/>
                </a:solidFill>
                <a:latin typeface="Calibri"/>
              </a:rPr>
              <a:t>A readable version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50000" y="3010000"/>
            <a:ext cx="6650000" cy="7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44506B"/>
                </a:solidFill>
                <a:latin typeface="Calibri"/>
              </a:rPr>
              <a:t>Optional. A tag such as v1 can help people, but it does not replace the commit SHA.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3890000"/>
            <a:ext cx="10800000" cy="9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00000" y="4070000"/>
            <a:ext cx="10400000" cy="7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E2761"/>
                </a:solidFill>
                <a:latin typeface="Calibri"/>
              </a:rPr>
              <a:t>When the service exists, pass the commit SHA into it as an environment variable. It can then include the version in a small /version response or in its prediction log.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510528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9AA6C4"/>
                </a:solidFill>
                <a:latin typeface="Calibri"/>
              </a:rPr>
              <a:t>Data engineering och agila metoder · AIM25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9AA6C4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0000"/>
            <a:ext cx="750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2994A"/>
                </a:solidFill>
                <a:latin typeface="Calibri"/>
              </a:rPr>
              <a:t>KEEP THE WORKFLOW SAFE AND UNDERSTANDABLE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0000"/>
            <a:ext cx="10800000" cy="7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E2761"/>
                </a:solidFill>
                <a:latin typeface="Calibri"/>
              </a:rPr>
              <a:t>Four simple rules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500000"/>
            <a:ext cx="10800000" cy="42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44506B"/>
                </a:solidFill>
                <a:latin typeface="Calibri"/>
              </a:rPr>
              <a:t>•  Do not put secrets in the image</a:t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44506B"/>
                </a:solidFill>
                <a:latin typeface="Calibri"/>
              </a:rPr>
              <a:t>     Give tokens and connection strings to the service when it runs, not when the image is built.</a:t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44506B"/>
                </a:solidFill>
                <a:latin typeface="Calibri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44506B"/>
                </a:solidFill>
                <a:latin typeface="Calibri"/>
              </a:rPr>
              <a:t>•  Use versioned actions</a:t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44506B"/>
                </a:solidFill>
                <a:latin typeface="Calibri"/>
              </a:rPr>
              <a:t>     Write a version such as actions/checkout@v4, not @main.</a:t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44506B"/>
                </a:solidFill>
                <a:latin typeface="Calibri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44506B"/>
                </a:solidFill>
                <a:latin typeface="Calibri"/>
              </a:rPr>
              <a:t>•  Give only needed permissions</a:t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44506B"/>
                </a:solidFill>
                <a:latin typeface="Calibri"/>
              </a:rPr>
              <a:t>     A workflow that reads the repository should not automatically be allowed to change it.</a:t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44506B"/>
                </a:solidFill>
                <a:latin typeface="Calibri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44506B"/>
                </a:solidFill>
                <a:latin typeface="Calibri"/>
              </a:rPr>
              <a:t>•  Check the result later</a:t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44506B"/>
                </a:solidFill>
                <a:latin typeface="Calibri"/>
              </a:rPr>
              <a:t>     When you deploy, check the service itself, not only the green workflow.</a:t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44506B"/>
                </a:solidFill>
                <a:latin typeface="Calibri"/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9AA6C4"/>
                </a:solidFill>
                <a:latin typeface="Calibri"/>
              </a:rPr>
              <a:t>Data engineering och agila metoder · AIM25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9AA6C4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0000"/>
            <a:ext cx="750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2994A"/>
                </a:solidFill>
                <a:latin typeface="Calibri"/>
              </a:rPr>
              <a:t>THE WEEK 7 GOAL IS CI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2300000"/>
            <a:ext cx="11000000" cy="20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E2761"/>
                </a:solidFill>
                <a:latin typeface="Calibri"/>
              </a:rPr>
              <a:t>One CI workflow and a branch protection rule.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400000"/>
            <a:ext cx="10800000" cy="12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44506B"/>
                </a:solidFill>
                <a:latin typeface="Calibri"/>
              </a:rPr>
              <a:t>Docker, CD, Render and prediction logging are later project steps. This week, make the basic checks work and understand what they protect.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9AA6C4"/>
                </a:solidFill>
                <a:latin typeface="Calibri"/>
              </a:rPr>
              <a:t>Data engineering och agila metoder · AIM25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9AA6C4"/>
                </a:solidFill>
                <a:latin typeface="Calibr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0000"/>
            <a:ext cx="750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2994A"/>
                </a:solidFill>
                <a:latin typeface="Calibri"/>
              </a:rPr>
              <a:t>BY FRIDAY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0000"/>
            <a:ext cx="10800000" cy="7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E2761"/>
                </a:solidFill>
                <a:latin typeface="Calibri"/>
              </a:rPr>
              <a:t>Component F is due at sprint review 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300000"/>
            <a:ext cx="10800000" cy="118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00000" y="1450000"/>
            <a:ext cx="10400000" cy="3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E2761"/>
                </a:solidFill>
                <a:latin typeface="Calibri"/>
              </a:rPr>
              <a:t>ci.yml runs on pull_request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0000" y="1820000"/>
            <a:ext cx="10400000" cy="4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44506B"/>
                </a:solidFill>
                <a:latin typeface="Calibri"/>
              </a:rPr>
              <a:t>Ruff and a few tests run on a real pull request.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560000"/>
            <a:ext cx="10800000" cy="118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00000" y="2710000"/>
            <a:ext cx="10400000" cy="3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E2761"/>
                </a:solidFill>
                <a:latin typeface="Calibri"/>
              </a:rPr>
              <a:t>Branch protection on main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0000" y="3080000"/>
            <a:ext cx="10400000" cy="4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44506B"/>
                </a:solidFill>
                <a:latin typeface="Calibri"/>
              </a:rPr>
              <a:t>A pull request and a green CI check are required before merge.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3820000"/>
            <a:ext cx="10800000" cy="118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00000" y="3970000"/>
            <a:ext cx="10400000" cy="3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E2761"/>
                </a:solidFill>
                <a:latin typeface="Calibri"/>
              </a:rPr>
              <a:t>The CI check is green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0000" y="4340000"/>
            <a:ext cx="10400000" cy="4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44506B"/>
                </a:solidFill>
                <a:latin typeface="Calibri"/>
              </a:rPr>
              <a:t>Fix the issue, then push the change and let CI run again.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5080000"/>
            <a:ext cx="10800000" cy="118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700000" y="5230000"/>
            <a:ext cx="10400000" cy="3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E2761"/>
                </a:solidFill>
                <a:latin typeface="Calibri"/>
              </a:rPr>
              <a:t>Not required this week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0000" y="5600000"/>
            <a:ext cx="10400000" cy="4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44506B"/>
                </a:solidFill>
                <a:latin typeface="Calibri"/>
              </a:rPr>
              <a:t>Dockerfile, CD, Render deployment and prediction logging come later.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510528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9AA6C4"/>
                </a:solidFill>
                <a:latin typeface="Calibri"/>
              </a:rPr>
              <a:t>Data engineering och agila metoder · AIM25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9AA6C4"/>
                </a:solidFill>
                <a:latin typeface="Calibri"/>
              </a:rPr>
              <a:t>19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