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10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5"/>
    <p:sldId id="266" r:id="rId32"/>
    <p:sldId id="267" r:id="rId35"/>
    <p:sldId id="268" r:id="rId33"/>
    <p:sldId id="269" r:id="rId34"/>
    <p:sldId id="270" r:id="rId26"/>
    <p:sldId id="271" r:id="rId37"/>
    <p:sldId id="272" r:id="rId38"/>
    <p:sldId id="27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59952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52560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45168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37776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30384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22992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0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08208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00816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393424" y="53035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59952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0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37776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30384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22992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0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08208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0816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93424" y="822959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59952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52560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45168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37776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30384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22992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08208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100816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393424" y="1115568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59952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52560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45168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637776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30384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22992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15600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08208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00816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393424" y="1408176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59952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052560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45168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37776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930384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222992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515600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808208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100816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393424" y="1700784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759952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052560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45168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637776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930384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222992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515600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808208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100816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393424" y="1993392"/>
            <a:ext cx="36576" cy="3657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2920" y="457200"/>
            <a:ext cx="128016" cy="128016"/>
          </a:xfrm>
          <a:prstGeom prst="roundRect">
            <a:avLst>
              <a:gd name="adj" fmla="val 100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3840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ADCFC"/>
                </a:solidFill>
                <a:latin typeface="Calibri"/>
              </a:rPr>
              <a:t>GIT &amp; VERSION CONTROL · WEEK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2148840"/>
            <a:ext cx="8686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 i="0">
                <a:solidFill>
                  <a:srgbClr val="FFFFFF"/>
                </a:solidFill>
                <a:latin typeface="Calibri"/>
              </a:rPr>
              <a:t>Tracking every change,
</a:t>
            </a:r>
            <a:r>
              <a:rPr sz="4200" b="1" i="0">
                <a:solidFill>
                  <a:srgbClr val="F2994A"/>
                </a:solidFill>
                <a:latin typeface="Calibri"/>
              </a:rPr>
              <a:t>together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4160520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Data engineering och Agila metoder — IT Högskolan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61264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Mikael Huss  ·  IT Högskolan  ·  material originally by Esoon Ko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E2761"/>
                </a:solidFill>
                <a:latin typeface="Calibri"/>
              </a:rPr>
              <a:t>So what is </a:t>
            </a:r>
            <a:r>
              <a:rPr sz="2700" b="1" i="0">
                <a:solidFill>
                  <a:srgbClr val="1E2761"/>
                </a:solidFill>
                <a:latin typeface="Calibri"/>
              </a:rPr>
              <a:t>Version Control?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4506B"/>
                </a:solidFill>
                <a:latin typeface="Calibri"/>
              </a:rPr>
              <a:t>Version control is a system that records changes to a file or set of files over time so that you can recall specific versions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Collaboration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Backup and restore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Track changes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Branching and merging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Reduced duplication and backup overhead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92040"/>
            <a:ext cx="5349240" cy="105156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4892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In the project weeks, the repository IS the hand-in — your commit history shows how the work happened, not just the result.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09560" y="150876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831836" y="143103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31836" y="190652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31836" y="238201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31836" y="285750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31836" y="333298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831836" y="380847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6995159" y="1984248"/>
            <a:ext cx="914401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95159" y="225856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5159" y="2660904"/>
            <a:ext cx="914401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917436" y="218084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7436" y="258318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659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09560" y="1508760"/>
            <a:ext cx="914399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909560" y="1783080"/>
            <a:ext cx="914399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746235" y="170535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139903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014215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E2761"/>
                </a:solidFill>
                <a:latin typeface="Calibri"/>
              </a:rPr>
              <a:t>Buckle up! </a:t>
            </a:r>
            <a:r>
              <a:rPr sz="2700" b="1" i="0">
                <a:solidFill>
                  <a:srgbClr val="1E2761"/>
                </a:solidFill>
                <a:latin typeface="Calibri"/>
              </a:rPr>
              <a:t>Git terminology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Terms you'll meet this week, in order: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Repository (Repo)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874519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7407" y="1874519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Commit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65008" y="1874519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24328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Merge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624328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7" y="2624328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Remote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624328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2624328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Clone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74136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74136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Push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3374136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7" y="3374136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Pull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374136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3374136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Fetch (Wed)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23944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23944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Pull Request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4123944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7" y="4123944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Fork (fallback)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4123944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4123944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Stash (Wed)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73752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873752"/>
            <a:ext cx="3063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Conflict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44506B"/>
                </a:solidFill>
                <a:latin typeface="Calibri"/>
              </a:rPr>
              <a:t>Storage location where your project's files and the entire history of changes are kept.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880360"/>
            <a:ext cx="4937760" cy="777240"/>
          </a:xfrm>
          <a:prstGeom prst="roundRect">
            <a:avLst>
              <a:gd name="adj" fmla="val 14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Think of it as a project folder that includes all the files and the history of modifications.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394960" cy="140208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33502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Main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682240"/>
            <a:ext cx="5394960" cy="140208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73710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Local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4084320"/>
            <a:ext cx="5394960" cy="140208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4139183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Local Workstation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72974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0451" y="31318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1318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31628" y="31318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0451" y="45339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Working Copy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45339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Working Copy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31628" y="45339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Working Copy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496251" y="2232660"/>
            <a:ext cx="1510589" cy="89916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2232660"/>
            <a:ext cx="0" cy="89916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006840" y="2232660"/>
            <a:ext cx="1510588" cy="89916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6251" y="3634739"/>
            <a:ext cx="0" cy="899161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06840" y="3634739"/>
            <a:ext cx="0" cy="899161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517428" y="3634739"/>
            <a:ext cx="0" cy="899161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Commit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A commit is a snapshot of your repository at a specific point in time. Every change we want to keep, we commit.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Best practice — use a message!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Bad commit: all changes in one commit; messages like “fixed it…”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Good commit: relevant changes grouped together, descriptive message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75320" y="146304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8197596" y="138531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97596" y="186080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97596" y="233629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97596" y="281178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97596" y="328726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97596" y="376275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7360920" y="1938528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221284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60920" y="2615184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283196" y="213512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83196" y="253746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9202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75320" y="1463040"/>
            <a:ext cx="914400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275320" y="1737360"/>
            <a:ext cx="914400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9111996" y="165963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135331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39684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788920"/>
            <a:ext cx="1600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44506B"/>
                </a:solidFill>
                <a:latin typeface="Calibri"/>
              </a:rPr>
              <a:t>Each circle represents
a commit.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.gitignore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What not to track — the data engineering edition.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353872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3081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2994A"/>
                </a:solidFill>
                <a:latin typeface="Calibri"/>
              </a:rPr>
              <a:t>Never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1528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file .env, keys, tokens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raw data and CSV dumps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.venv/, __pycache__/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large parquet / model 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874519"/>
            <a:ext cx="353872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4568" y="2057400"/>
            <a:ext cx="3081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8F"/>
                </a:solidFill>
                <a:latin typeface="Calibri"/>
              </a:rPr>
              <a:t>Do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2468880"/>
            <a:ext cx="3081528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Dockerfile, docker-compose.yaml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requirements.txt / pyproject.toml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.env.example with dummy values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44506B"/>
                </a:solidFill>
                <a:latin typeface="Calibri"/>
              </a:rPr>
              <a:t>–  a README that says how to run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74519"/>
            <a:ext cx="3538728" cy="301752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2057400"/>
            <a:ext cx="3081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2994A"/>
                </a:solidFill>
                <a:latin typeface="Calibri"/>
              </a:rPr>
              <a:t>If it leaks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1896" y="2468880"/>
            <a:ext cx="3081528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–  history is permanent — deleting the file isn't enough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–  rotate the credential today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–  then add it to .gitignore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2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424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Notebooks diff terribly — they're JSON with embedded output. Keep the logic in .py modules and use the notebook as a thin front end.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A branch is just a pointer — that's why creating one is instant and free.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506B"/>
                </a:solidFill>
                <a:latin typeface="Calibri"/>
              </a:rPr>
              <a:t>A parallel version of the repository. It allows you to work on different versions of a project simultaneously — a different path the project takes.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75320" y="169164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8197596" y="161391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97596" y="208940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97596" y="256489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97596" y="304038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97596" y="351586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97596" y="399135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7360920" y="2167128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244144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60920" y="2843784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283196" y="236372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83196" y="276606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488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75320" y="1691640"/>
            <a:ext cx="914400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275320" y="1965960"/>
            <a:ext cx="914400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9111996" y="188823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158191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1970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017520"/>
            <a:ext cx="1600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44506B"/>
                </a:solidFill>
                <a:latin typeface="Calibri"/>
              </a:rPr>
              <a:t>Each color represents
a branch.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Merge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506B"/>
                </a:solidFill>
                <a:latin typeface="Calibri"/>
              </a:rPr>
              <a:t>Merging is the process of integrating changes from one branch into another.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75320" y="146304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197596" y="138531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97596" y="186080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97596" y="233629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97596" y="281178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97596" y="328726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97596" y="376275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7360920" y="1938528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60920" y="221284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2615184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283196" y="213512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83196" y="253746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202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1463040"/>
            <a:ext cx="914400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275320" y="1737360"/>
            <a:ext cx="914400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11996" y="165963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135331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9684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788920"/>
            <a:ext cx="1600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44506B"/>
                </a:solidFill>
                <a:latin typeface="Calibri"/>
              </a:rPr>
              <a:t>A branch joining the
main branch is a merge.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Remote</a:t>
            </a:r>
            <a:r>
              <a:rPr sz="2700" b="0" i="0">
                <a:solidFill>
                  <a:srgbClr val="1E2761"/>
                </a:solidFill>
                <a:latin typeface="Calibri"/>
              </a:rPr>
              <a:t> &amp; Clone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5120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Remote — </a:t>
            </a:r>
            <a:r>
              <a:rPr sz="1200" b="0" i="0">
                <a:solidFill>
                  <a:srgbClr val="44506B"/>
                </a:solidFill>
                <a:latin typeface="Calibri"/>
              </a:rPr>
              <a:t>a common repository stored on a server, allowing team members to collaborate.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5120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Clone — </a:t>
            </a:r>
            <a:r>
              <a:rPr sz="1200" b="0" i="0">
                <a:solidFill>
                  <a:srgbClr val="44506B"/>
                </a:solidFill>
                <a:latin typeface="Calibri"/>
              </a:rPr>
              <a:t>creating a local copy of an existing repository.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63040"/>
            <a:ext cx="5394960" cy="128016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51790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Remote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743200"/>
            <a:ext cx="5394960" cy="128016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79806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Local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023360"/>
            <a:ext cx="5394960" cy="128016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407822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Local Workstation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5166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1318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441198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Working Copy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06840" y="2354580"/>
            <a:ext cx="0" cy="77724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06840" y="3634740"/>
            <a:ext cx="0" cy="77724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80960" y="5532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44506B"/>
                </a:solidFill>
                <a:latin typeface="Calibri"/>
              </a:rPr>
              <a:t>Cloned from remote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44506B"/>
                </a:solidFill>
                <a:latin typeface="Calibri"/>
              </a:rPr>
              <a:t>Pushing is sending your committed changes to a remote repository.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554480"/>
            <a:ext cx="5394960" cy="164592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19088" y="160934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Main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3200400"/>
            <a:ext cx="5394960" cy="164592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325526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199132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845052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9006840" y="2702052"/>
            <a:ext cx="0" cy="1143000"/>
          </a:xfrm>
          <a:prstGeom prst="line">
            <a:avLst/>
          </a:prstGeom>
          <a:ln w="15875">
            <a:solidFill>
              <a:srgbClr val="4450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E2761"/>
                </a:solidFill>
                <a:latin typeface="Calibri"/>
              </a:rPr>
              <a:t>More </a:t>
            </a:r>
            <a:r>
              <a:rPr sz="2700" b="1" i="0">
                <a:solidFill>
                  <a:srgbClr val="1E2761"/>
                </a:solidFill>
                <a:latin typeface="Calibri"/>
              </a:rPr>
              <a:t>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Create a new branch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git switch -c &lt;branch-name&gt;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or: git branch &lt;branch-name&gt; then git checkout &lt;branch-name&gt;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Create a new file “test.txt” and insert text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Check the status with git status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Add the file to be committed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Commit the file to the branch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1554480"/>
            <a:ext cx="5623560" cy="4480560"/>
          </a:xfrm>
          <a:prstGeom prst="roundRect">
            <a:avLst>
              <a:gd name="adj" fmla="val 35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58483" y="1659636"/>
            <a:ext cx="82296" cy="82296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23075" y="1659636"/>
            <a:ext cx="82296" cy="8229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87668" y="1659636"/>
            <a:ext cx="82296" cy="82296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7" y="1883664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>
                <a:solidFill>
                  <a:srgbClr val="FFFFFF"/>
                </a:solidFill>
                <a:latin typeface="Consolas"/>
              </a:rPr>
              <a:t>$ git switch -c my-branch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CADCFC"/>
                </a:solidFill>
                <a:latin typeface="Consolas"/>
              </a:rPr>
              <a:t>Switched to a new branch 'my-branch'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FFFF"/>
                </a:solidFill>
                <a:latin typeface="Consolas"/>
              </a:rPr>
              <a:t>$ touch test.txt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FFFF"/>
                </a:solidFill>
                <a:latin typeface="Consolas"/>
              </a:rPr>
              <a:t>$ echo "First commit" &gt; test.txt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FFFF"/>
                </a:solidFill>
                <a:latin typeface="Consolas"/>
              </a:rPr>
              <a:t>$ git add test.txt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FFFF"/>
                </a:solidFill>
                <a:latin typeface="Consolas"/>
              </a:rPr>
              <a:t>$ git commit -m "First commit: test.txt"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CADCFC"/>
                </a:solidFill>
                <a:latin typeface="Consolas"/>
              </a:rPr>
              <a:t>[my-branch] First commit: test.txt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CADCFC"/>
                </a:solidFill>
                <a:latin typeface="Consolas"/>
              </a:rPr>
              <a:t> 1 file changed, 1 insertion(+)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506B"/>
                </a:solidFill>
                <a:latin typeface="Calibri"/>
              </a:rPr>
              <a:t>A conflict occurs when changes in different branches contradict each other, requiring manual resolution — like two different edits on the same paragraph in a document, where you need to decide how to combine them.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75320" y="146304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197596" y="138531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97596" y="186080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97596" y="233629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97596" y="281178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97596" y="328726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97596" y="376275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7360920" y="1938528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60920" y="221284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2615184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283196" y="213512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83196" y="253746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202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1463040"/>
            <a:ext cx="914400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275320" y="1737360"/>
            <a:ext cx="914400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11996" y="165963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135331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9684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788920"/>
            <a:ext cx="1600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44506B"/>
                </a:solidFill>
                <a:latin typeface="Calibri"/>
              </a:rPr>
              <a:t>When both branches
edit the same file.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Git</a:t>
            </a:r>
            <a:r>
              <a:rPr sz="2700" b="0" i="0">
                <a:solidFill>
                  <a:srgbClr val="1E2761"/>
                </a:solidFill>
                <a:latin typeface="Calibri"/>
              </a:rPr>
              <a:t>:ing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Let's create an artificial conflict.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0881360" cy="4114800"/>
          </a:xfrm>
          <a:prstGeom prst="roundRect">
            <a:avLst>
              <a:gd name="adj" fmla="val 35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2084" y="1842516"/>
            <a:ext cx="82296" cy="82296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6675" y="1842516"/>
            <a:ext cx="82296" cy="8229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1268" y="1842516"/>
            <a:ext cx="82296" cy="82296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66543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init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switch -c main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echo "First commit" &gt;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add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commit -m "This is the first commit."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switch -c branch-1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echo "Branch-1 commit" &gt;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commit -am "This is branch-1 commit."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switch main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cat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echo "Main commit" &gt;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commit -am "This is main commit."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merge branch-1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E2761"/>
                </a:solidFill>
                <a:latin typeface="Calibri"/>
              </a:rPr>
              <a:t>How do we solve it? </a:t>
            </a:r>
            <a:r>
              <a:rPr sz="2700" b="1" i="0">
                <a:solidFill>
                  <a:srgbClr val="1E2761"/>
                </a:solidFill>
                <a:latin typeface="Calibri"/>
              </a:rPr>
              <a:t>Merge conflict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52120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Several ways: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Do it through an IDE like VS Code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Do it through the terminal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We choose either the incoming or the existing branch's version, delete the other, and commit the changes like a normal commit.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1691640"/>
            <a:ext cx="5623560" cy="1737360"/>
          </a:xfrm>
          <a:prstGeom prst="roundRect">
            <a:avLst>
              <a:gd name="adj" fmla="val 35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58483" y="1796796"/>
            <a:ext cx="82296" cy="82296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23075" y="1796796"/>
            <a:ext cx="82296" cy="8229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87668" y="1796796"/>
            <a:ext cx="82296" cy="82296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73936"/>
            <a:ext cx="4709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AA6C4"/>
                </a:solidFill>
                <a:latin typeface="Consolas"/>
              </a:rPr>
              <a:t>merge-conflict.txt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2020824"/>
            <a:ext cx="5257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2E9E8F"/>
                </a:solidFill>
                <a:latin typeface="Consolas"/>
              </a:rPr>
              <a:t>&lt;&lt;&lt;&lt;&lt;&lt;&lt; HEAD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Main commit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F2994A"/>
                </a:solidFill>
                <a:latin typeface="Consolas"/>
              </a:rPr>
              <a:t>=======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Branch-1 commit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2E9E8F"/>
                </a:solidFill>
                <a:latin typeface="Consolas"/>
              </a:rPr>
              <a:t>&gt;&gt;&gt;&gt;&gt;&gt;&gt; branch-1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20440"/>
            <a:ext cx="5623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44506B"/>
                </a:solidFill>
                <a:latin typeface="Calibri"/>
              </a:rPr>
              <a:t>Edit until the file reads correctly, then delete the marker 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886200"/>
            <a:ext cx="5623560" cy="1737360"/>
          </a:xfrm>
          <a:prstGeom prst="roundRect">
            <a:avLst>
              <a:gd name="adj" fmla="val 35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58483" y="3991356"/>
            <a:ext cx="82296" cy="82296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3075" y="3991356"/>
            <a:ext cx="82296" cy="8229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991356"/>
            <a:ext cx="82296" cy="82296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4215384"/>
            <a:ext cx="5257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status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2E9E8F"/>
                </a:solidFill>
                <a:latin typeface="Consolas"/>
              </a:rPr>
              <a:t>Unmerged paths: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2994A"/>
                </a:solidFill>
                <a:latin typeface="Consolas"/>
              </a:rPr>
              <a:t>  both modified: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add merge-conflict.txt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FFFFFF"/>
                </a:solidFill>
                <a:latin typeface="Consolas"/>
              </a:rPr>
              <a:t>$ git 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Pull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4506B"/>
                </a:solidFill>
                <a:latin typeface="Calibri"/>
              </a:rPr>
              <a:t>A pull request is a method of submitting contributions to a project — a request to merge your changes into the main repository, asking others to review and accept your updates.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75320" y="1463040"/>
            <a:ext cx="0" cy="2377440"/>
          </a:xfrm>
          <a:prstGeom prst="line">
            <a:avLst/>
          </a:prstGeom>
          <a:ln w="19050">
            <a:solidFill>
              <a:srgbClr val="C7CE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197596" y="138531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97596" y="1860804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97596" y="2336292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97596" y="2811780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97596" y="3287268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97596" y="3762756"/>
            <a:ext cx="155448" cy="1554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7360920" y="1938528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60920" y="2212848"/>
            <a:ext cx="0" cy="402336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2615184"/>
            <a:ext cx="914400" cy="274320"/>
          </a:xfrm>
          <a:prstGeom prst="line">
            <a:avLst/>
          </a:prstGeom>
          <a:ln w="19050">
            <a:solidFill>
              <a:srgbClr val="F299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283196" y="2135124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83196" y="2537460"/>
            <a:ext cx="155448" cy="155448"/>
          </a:xfrm>
          <a:prstGeom prst="ellipse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202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2761"/>
                </a:solidFill>
                <a:latin typeface="Calibri"/>
              </a:rPr>
              <a:t>Your 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1463040"/>
            <a:ext cx="914400" cy="274320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275320" y="1737360"/>
            <a:ext cx="914400" cy="201168"/>
          </a:xfrm>
          <a:prstGeom prst="line">
            <a:avLst/>
          </a:prstGeom>
          <a:ln w="19050">
            <a:solidFill>
              <a:srgbClr val="2E9E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11996" y="1659636"/>
            <a:ext cx="155448" cy="155448"/>
          </a:xfrm>
          <a:prstGeom prst="ellipse">
            <a:avLst/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135331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E2761"/>
                </a:solidFill>
                <a:latin typeface="Calibri"/>
              </a:rPr>
              <a:t>Someone Else's
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96849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788920"/>
            <a:ext cx="1600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44506B"/>
                </a:solidFill>
                <a:latin typeface="Calibri"/>
              </a:rPr>
              <a:t>Pull requests propose
merging a branch.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1E2761"/>
                </a:solidFill>
                <a:latin typeface="Calibri"/>
              </a:rPr>
              <a:t>Pull Request: </a:t>
            </a:r>
            <a:r>
              <a:rPr sz="2700" b="1" i="0">
                <a:solidFill>
                  <a:srgbClr val="1E2761"/>
                </a:solidFill>
                <a:latin typeface="Calibri"/>
              </a:rPr>
              <a:t>let's 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10515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You already have write access via the org — no invite needed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Clone the exercise repo: git clone https://github.com/ithogskolan-aim25/de-git-ovning.git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Create a new branch with your name (git switch -c)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Create deltagare/&lt;your-username&gt;.md — copy deltagare/EXEMPEL.md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Add the changes (git add)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Commit the changes with a message (git commit -m)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Push the changes to the remote (git push)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44506B"/>
                </a:solidFill>
                <a:latin typeface="Calibri"/>
              </a:rPr>
              <a:t>–  In GitHub, open a pull request against ithogskolan-aim25/de-git-ovning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Once your partner approves it, merge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2761"/>
                </a:solidFill>
                <a:latin typeface="Calibri"/>
              </a:rPr>
              <a:t>Fork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4506B"/>
                </a:solidFill>
                <a:latin typeface="Calibri"/>
              </a:rPr>
              <a:t>Forking is creating a personal copy of someone else's repository — like duplicating a project to work on independently, without affecting the original.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88036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4663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994A"/>
                </a:solidFill>
                <a:latin typeface="Calibri"/>
              </a:rPr>
              <a:t>Fork  </a:t>
            </a:r>
            <a:r>
              <a:rPr sz="1300" b="0" i="0">
                <a:solidFill>
                  <a:srgbClr val="44506B"/>
                </a:solidFill>
                <a:latin typeface="Calibri"/>
              </a:rPr>
              <a:t>2.4k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375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44506B"/>
                </a:solidFill>
                <a:latin typeface="Calibri"/>
              </a:rPr>
              <a:t>Button on any public GitHub repo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120640" cy="14173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2994A"/>
                </a:solidFill>
                <a:latin typeface="Calibri"/>
              </a:rPr>
              <a:t>In this 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You have write access to today's exercise repo — branch, don't fork. Fork is only your fallback if that access ever breaks.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394960" cy="182880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1790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My forked repo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199132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5727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44506B"/>
                </a:solidFill>
                <a:latin typeface="Calibri"/>
              </a:rPr>
              <a:t>← forked from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566160"/>
            <a:ext cx="5394960" cy="1828800"/>
          </a:xfrm>
          <a:prstGeom prst="rect">
            <a:avLst/>
          </a:prstGeom>
          <a:noFill/>
          <a:ln w="9525">
            <a:solidFill>
              <a:srgbClr val="D7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621024"/>
            <a:ext cx="5212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4506B"/>
                </a:solidFill>
                <a:latin typeface="Calibri"/>
              </a:rPr>
              <a:t>Original repo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302252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AA6C4"/>
                </a:solidFill>
                <a:latin typeface="Calibri"/>
              </a:rPr>
              <a:t>Git &amp; Version Control · Week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ADCFC"/>
                </a:solidFill>
                <a:latin typeface="Calibri"/>
              </a:rPr>
              <a:t>AND THAT'S ALL THE THEORY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Time to get your hands dirty.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9601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–  Today's exercises live in de-git-ovning — keep going if you're not done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–  Wednesday self-study: stash and amend — see the self-study doc on Itslearning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–  Stuck on anything? Ask now, or flag it Wednesday on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Git &amp; Version Control · Week 2  ·  Data engineering och Agila metoder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