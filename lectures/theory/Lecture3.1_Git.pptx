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59952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45168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37776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30384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22992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0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00816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93424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59952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52560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45168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37776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30384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22992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0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08208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00816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93424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59952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60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45168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37776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30384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22992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15600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808208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100816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93424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9952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52560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45168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37776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30384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22992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15600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808208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100816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393424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59952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52560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45168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37776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30384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222992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15600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808208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100816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393424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759952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052560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345168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637776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930384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222992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15600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808208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100816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393424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02920" y="457200"/>
            <a:ext cx="128016" cy="128016"/>
          </a:xfrm>
          <a:prstGeom prst="roundRect">
            <a:avLst>
              <a:gd name="adj" fmla="val 10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38404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ADCFC"/>
                </a:solidFill>
                <a:latin typeface="Calibri"/>
              </a:rPr>
              <a:t>GIT &amp; VERSION CONTROL · WEEK 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2148840"/>
            <a:ext cx="8686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FFFFFF"/>
                </a:solidFill>
                <a:latin typeface="Calibri"/>
              </a:rPr>
              <a:t>Tracking every change,
</a:t>
            </a:r>
            <a:r>
              <a:rPr sz="4200" b="1" i="0">
                <a:solidFill>
                  <a:srgbClr val="F2994A"/>
                </a:solidFill>
                <a:latin typeface="Calibri"/>
              </a:rPr>
              <a:t>together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416052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Data engineering och Agila metoder — IT Högskolan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61264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Mikael Huss  ·  IT Högskolan  ·  material originally by Esoon Ko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Why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Version Control?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Two developers, no coordination — this is what happens.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920240"/>
            <a:ext cx="2834640" cy="86868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I'm sitting on ver 0.3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3200400" cy="960120"/>
          </a:xfrm>
          <a:prstGeom prst="roundRect">
            <a:avLst>
              <a:gd name="adj" fmla="val 2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141B4D"/>
                </a:solidFill>
                <a:latin typeface="Calibri"/>
              </a:rPr>
              <a:t>What? I just received ver 0.4 and I'm already writing code on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4506B"/>
                </a:solidFill>
                <a:latin typeface="Calibri"/>
              </a:rPr>
              <a:t>Developer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920240"/>
            <a:ext cx="3017520" cy="868680"/>
          </a:xfrm>
          <a:prstGeom prst="roundRect">
            <a:avLst>
              <a:gd name="adj" fmla="val 2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I made 2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063240"/>
            <a:ext cx="3291840" cy="96012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I'm writing features for ver 0.3 as 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1605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4506B"/>
                </a:solidFill>
                <a:latin typeface="Calibri"/>
              </a:rPr>
              <a:t>Developer 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60" y="2743200"/>
            <a:ext cx="3200400" cy="0"/>
          </a:xfrm>
          <a:prstGeom prst="line">
            <a:avLst/>
          </a:prstGeom>
          <a:ln w="19050">
            <a:solidFill>
              <a:srgbClr val="C7CE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60520" y="2423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44506B"/>
                </a:solidFill>
                <a:latin typeface="Calibri"/>
              </a:rPr>
              <a:t>same file, same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We need a way to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keep track of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We do that through version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Developer A: “I made 1 change”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Developer B: “I made 2 changes”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Version control turns both into a single, ordered history everyone can follow.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909560" y="1508760"/>
            <a:ext cx="0" cy="2377440"/>
          </a:xfrm>
          <a:prstGeom prst="line">
            <a:avLst/>
          </a:prstGeom>
          <a:ln w="19050">
            <a:solidFill>
              <a:srgbClr val="C7CE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831836" y="143103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31836" y="1906524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31836" y="2382012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31836" y="2857500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31836" y="3332988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31836" y="380847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6995159" y="1984248"/>
            <a:ext cx="914401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95159" y="2258568"/>
            <a:ext cx="0" cy="402336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95159" y="2660904"/>
            <a:ext cx="914401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917436" y="2180844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17436" y="2583180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6596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2761"/>
                </a:solidFill>
                <a:latin typeface="Calibri"/>
              </a:rPr>
              <a:t>Your Branch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09560" y="1508760"/>
            <a:ext cx="914399" cy="274320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909560" y="1783080"/>
            <a:ext cx="914399" cy="201168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746235" y="1705356"/>
            <a:ext cx="155448" cy="155448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9" y="139903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Someone Else's
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014215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So what is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Version Control?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4506B"/>
                </a:solidFill>
                <a:latin typeface="Calibri"/>
              </a:rPr>
              <a:t>Version control is a system that records changes to a file or set of files over time so that you can recall specific versions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Collaboration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Backup and restore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Track changes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Branching and merging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Reduced duplication and backup overhead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892040"/>
            <a:ext cx="5349240" cy="10515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9200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In the project weeks, the repository IS the hand-in — your commit history shows how the work happened, not just the result.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909560" y="1508760"/>
            <a:ext cx="0" cy="2377440"/>
          </a:xfrm>
          <a:prstGeom prst="line">
            <a:avLst/>
          </a:prstGeom>
          <a:ln w="19050">
            <a:solidFill>
              <a:srgbClr val="C7CE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831836" y="143103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31836" y="1906524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31836" y="2382012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31836" y="2857500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31836" y="3332988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31836" y="380847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6995159" y="1984248"/>
            <a:ext cx="914401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95159" y="2258568"/>
            <a:ext cx="0" cy="402336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95159" y="2660904"/>
            <a:ext cx="914401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917436" y="2180844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17436" y="2583180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6596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2761"/>
                </a:solidFill>
                <a:latin typeface="Calibri"/>
              </a:rPr>
              <a:t>Your Branch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09560" y="1508760"/>
            <a:ext cx="914399" cy="274320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909560" y="1783080"/>
            <a:ext cx="914399" cy="201168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746235" y="1705356"/>
            <a:ext cx="155448" cy="155448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9" y="139903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Someone Else's
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014215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Centralized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Version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4506B"/>
                </a:solidFill>
                <a:latin typeface="Calibri"/>
              </a:rPr>
              <a:t>A central server stores all versions of a file. Collaborators check files in and out from this central place.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43200"/>
            <a:ext cx="5120640" cy="91440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2994A"/>
                </a:solidFill>
                <a:latin typeface="Calibri"/>
              </a:rPr>
              <a:t>Limitation: </a:t>
            </a:r>
            <a:r>
              <a:rPr sz="1150" b="0" i="0">
                <a:solidFill>
                  <a:srgbClr val="44506B"/>
                </a:solidFill>
                <a:latin typeface="Calibri"/>
              </a:rPr>
              <a:t>single point of failure. If the server goes down, no one can collaborate or save changes.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371600"/>
            <a:ext cx="5394960" cy="196596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42646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Main Server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3337560"/>
            <a:ext cx="5394960" cy="196596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339242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Local Workstation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176272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0451" y="4142231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Working Copy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4142231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Working Copy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31628" y="4142231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Working Copy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496251" y="2679192"/>
            <a:ext cx="1510589" cy="1463039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06840" y="2679192"/>
            <a:ext cx="0" cy="1463039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06840" y="2679192"/>
            <a:ext cx="1510588" cy="1463039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Git: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Decentralized Version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4506B"/>
                </a:solidFill>
                <a:latin typeface="Calibri"/>
              </a:rPr>
              <a:t>Every collaborator has a full copy of the entire repository. Each copy is a full backup of all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Advantages: redundancy, no single point of failure, improved collaboration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0"/>
            <a:ext cx="5120640" cy="64008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Git is a decentralized version control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394960" cy="140208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33502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Main 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682240"/>
            <a:ext cx="5394960" cy="140208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73710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Local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084320"/>
            <a:ext cx="5394960" cy="140208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4139183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Local Workstation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72974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0451" y="313182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13182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31628" y="313182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0451" y="453390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Working Copy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453390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Working Copy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31628" y="453390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Working Copy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496251" y="2232660"/>
            <a:ext cx="1510589" cy="899160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06840" y="2232660"/>
            <a:ext cx="0" cy="899160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06840" y="2232660"/>
            <a:ext cx="1510588" cy="899160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96251" y="3634739"/>
            <a:ext cx="0" cy="899161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06840" y="3634739"/>
            <a:ext cx="0" cy="899161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517428" y="3634739"/>
            <a:ext cx="0" cy="899161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Buckle up!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Git terminology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Terms we'll go through today, in order: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Repository (Repo)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874519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7407" y="1874519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Commit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1874519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Branch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4328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24328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Merge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624328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2624328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Remote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624328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2624328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Clone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74136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374136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Push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374136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7" y="3374136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Pull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374136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8" y="3374136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Fetch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23944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123944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Pull Request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4123944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7" y="4123944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Fork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4123944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4123944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Stash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73752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873752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Conflict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4506B"/>
                </a:solidFill>
                <a:latin typeface="Calibri"/>
              </a:rPr>
              <a:t>Storage location where your project's files and the entire history of changes are kept.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80360"/>
            <a:ext cx="4937760" cy="77724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Think of it as a project folder that includes all the files and the history of modifications.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394960" cy="140208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33502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Main Server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682240"/>
            <a:ext cx="5394960" cy="140208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73710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Local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4084320"/>
            <a:ext cx="5394960" cy="140208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4139183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Local Workstation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2974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0451" y="313182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13182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1628" y="313182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0451" y="453390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Working Copy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453390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Working Copy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31628" y="453390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Working Copy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496251" y="2232660"/>
            <a:ext cx="1510589" cy="899160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06840" y="2232660"/>
            <a:ext cx="0" cy="899160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06840" y="2232660"/>
            <a:ext cx="1510588" cy="899160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6251" y="3634739"/>
            <a:ext cx="0" cy="899161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06840" y="3634739"/>
            <a:ext cx="0" cy="899161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17428" y="3634739"/>
            <a:ext cx="0" cy="899161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Commit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A commit is a snapshot of your repository at a specific point in time. Every change we want to keep, we commit.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52120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Best practice — use a message!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Bad commit: all changes in one commit; messages like “fixed it…”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Good commit: relevant changes grouped together, descriptive message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75320" y="1463040"/>
            <a:ext cx="0" cy="2377440"/>
          </a:xfrm>
          <a:prstGeom prst="line">
            <a:avLst/>
          </a:prstGeom>
          <a:ln w="19050">
            <a:solidFill>
              <a:srgbClr val="C7CE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197596" y="138531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97596" y="1860804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97596" y="2336292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97596" y="2811780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97596" y="3287268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97596" y="376275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7360920" y="1938528"/>
            <a:ext cx="914400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60920" y="2212848"/>
            <a:ext cx="0" cy="402336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60920" y="2615184"/>
            <a:ext cx="914400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283196" y="2135124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83196" y="2537460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92024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2761"/>
                </a:solidFill>
                <a:latin typeface="Calibri"/>
              </a:rPr>
              <a:t>Your Branch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75320" y="1463040"/>
            <a:ext cx="914400" cy="274320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275320" y="1737360"/>
            <a:ext cx="914400" cy="201168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111996" y="1659636"/>
            <a:ext cx="155448" cy="155448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35331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Someone Else's
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3968496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788920"/>
            <a:ext cx="1600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44506B"/>
                </a:solidFill>
                <a:latin typeface="Calibri"/>
              </a:rPr>
              <a:t>Each circle represents
a commit.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.gitignore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What not to track — the data engineering edition.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53872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3081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994A"/>
                </a:solidFill>
                <a:latin typeface="Calibri"/>
              </a:rPr>
              <a:t>Never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3081528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b="0">
                <a:solidFill>
                  <a:srgbClr val="44506B"/>
                </a:solidFill>
                <a:latin typeface="Calibri"/>
              </a:rPr>
              <a:t>–  file .env, keys, tokens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b="0">
                <a:solidFill>
                  <a:srgbClr val="44506B"/>
                </a:solidFill>
                <a:latin typeface="Calibri"/>
              </a:rPr>
              <a:t>–  raw data and CSV dumps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b="0">
                <a:solidFill>
                  <a:srgbClr val="44506B"/>
                </a:solidFill>
                <a:latin typeface="Calibri"/>
              </a:rPr>
              <a:t>–  .venv/, __pycache__/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b="0">
                <a:solidFill>
                  <a:srgbClr val="44506B"/>
                </a:solidFill>
                <a:latin typeface="Calibri"/>
              </a:rPr>
              <a:t>–  large parquet / model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874519"/>
            <a:ext cx="353872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2057400"/>
            <a:ext cx="3081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E8F"/>
                </a:solidFill>
                <a:latin typeface="Calibri"/>
              </a:rPr>
              <a:t>Do 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468880"/>
            <a:ext cx="3081528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b="0">
                <a:solidFill>
                  <a:srgbClr val="44506B"/>
                </a:solidFill>
                <a:latin typeface="Calibri"/>
              </a:rPr>
              <a:t>–  Dockerfile, docker-compose.yaml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b="0">
                <a:solidFill>
                  <a:srgbClr val="44506B"/>
                </a:solidFill>
                <a:latin typeface="Calibri"/>
              </a:rPr>
              <a:t>–  requirements.txt / pyproject.toml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b="0">
                <a:solidFill>
                  <a:srgbClr val="44506B"/>
                </a:solidFill>
                <a:latin typeface="Calibri"/>
              </a:rPr>
              <a:t>–  .env.example with dummy values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b="0">
                <a:solidFill>
                  <a:srgbClr val="44506B"/>
                </a:solidFill>
                <a:latin typeface="Calibri"/>
              </a:rPr>
              <a:t>–  a README that says how to run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74519"/>
            <a:ext cx="3538728" cy="301752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057400"/>
            <a:ext cx="3081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994A"/>
                </a:solidFill>
                <a:latin typeface="Calibri"/>
              </a:rPr>
              <a:t>If it leaks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1896" y="2468880"/>
            <a:ext cx="3081528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–  history is permanent — deleting the file isn't enough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–  rotate the credential today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–  then add it to .gitignore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7492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30368"/>
            <a:ext cx="10424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Notebooks diff terribly — they're JSON with embedded output. Keep the logic in .py modules and use the notebook as a thin front 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A branch is just a pointer — that's why creating one is instant and free.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4506B"/>
                </a:solidFill>
                <a:latin typeface="Calibri"/>
              </a:rPr>
              <a:t>A parallel version of the repository. It allows you to work on different versions of a project simultaneously — a different path the project takes.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75320" y="1691640"/>
            <a:ext cx="0" cy="2377440"/>
          </a:xfrm>
          <a:prstGeom prst="line">
            <a:avLst/>
          </a:prstGeom>
          <a:ln w="19050">
            <a:solidFill>
              <a:srgbClr val="C7CE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197596" y="161391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97596" y="2089404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97596" y="2564892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97596" y="3040380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97596" y="3515868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97596" y="399135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7360920" y="2167128"/>
            <a:ext cx="914400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60920" y="2441448"/>
            <a:ext cx="0" cy="402336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60920" y="2843784"/>
            <a:ext cx="914400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283196" y="2363724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83196" y="2766060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14884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2761"/>
                </a:solidFill>
                <a:latin typeface="Calibri"/>
              </a:rPr>
              <a:t>Your Branch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75320" y="1691640"/>
            <a:ext cx="914400" cy="274320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275320" y="1965960"/>
            <a:ext cx="914400" cy="201168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111996" y="1888236"/>
            <a:ext cx="155448" cy="155448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58191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Someone Else's
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4197096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017520"/>
            <a:ext cx="1600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44506B"/>
                </a:solidFill>
                <a:latin typeface="Calibri"/>
              </a:rPr>
              <a:t>Each color represents
a branch.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4506B"/>
                </a:solidFill>
                <a:latin typeface="Calibri"/>
              </a:rPr>
              <a:t>Merging is the process of integrating changes from one branch into another.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75320" y="1463040"/>
            <a:ext cx="0" cy="2377440"/>
          </a:xfrm>
          <a:prstGeom prst="line">
            <a:avLst/>
          </a:prstGeom>
          <a:ln w="19050">
            <a:solidFill>
              <a:srgbClr val="C7CE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197596" y="138531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97596" y="1860804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97596" y="2336292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97596" y="2811780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97596" y="3287268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97596" y="376275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7360920" y="1938528"/>
            <a:ext cx="914400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60920" y="2212848"/>
            <a:ext cx="0" cy="402336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60920" y="2615184"/>
            <a:ext cx="914400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283196" y="2135124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83196" y="2537460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92024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2761"/>
                </a:solidFill>
                <a:latin typeface="Calibri"/>
              </a:rPr>
              <a:t>Your Branch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75320" y="1463040"/>
            <a:ext cx="914400" cy="274320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275320" y="1737360"/>
            <a:ext cx="914400" cy="201168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111996" y="1659636"/>
            <a:ext cx="155448" cy="155448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35331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Someone Else's
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3968496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788920"/>
            <a:ext cx="1600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44506B"/>
                </a:solidFill>
                <a:latin typeface="Calibri"/>
              </a:rPr>
              <a:t>A branch joining the
main branch is a merge.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Remote</a:t>
            </a:r>
            <a:r>
              <a:rPr sz="2700" b="0" i="0">
                <a:solidFill>
                  <a:srgbClr val="1E2761"/>
                </a:solidFill>
                <a:latin typeface="Calibri"/>
              </a:rPr>
              <a:t> &amp; Clone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51206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Remote — </a:t>
            </a:r>
            <a:r>
              <a:rPr sz="1200" b="0" i="0">
                <a:solidFill>
                  <a:srgbClr val="44506B"/>
                </a:solidFill>
                <a:latin typeface="Calibri"/>
              </a:rPr>
              <a:t>a common repository stored on a server, allowing team members to collaborate.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51206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Clone — </a:t>
            </a:r>
            <a:r>
              <a:rPr sz="1200" b="0" i="0">
                <a:solidFill>
                  <a:srgbClr val="44506B"/>
                </a:solidFill>
                <a:latin typeface="Calibri"/>
              </a:rPr>
              <a:t>creating a local copy of an existing repository.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394960" cy="128016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51790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Remote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743200"/>
            <a:ext cx="5394960" cy="128016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79806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Local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023360"/>
            <a:ext cx="5394960" cy="128016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407822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Local Workstation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5166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13182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41198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Working Copy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06840" y="2354580"/>
            <a:ext cx="0" cy="777240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06840" y="3634740"/>
            <a:ext cx="0" cy="777240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80960" y="5532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44506B"/>
                </a:solidFill>
                <a:latin typeface="Calibri"/>
              </a:rPr>
              <a:t>Cloned from remote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Let's try some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First things first — today we're working on your own laptop, not Codespaces.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Install Git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Windows: winget install --id Git.Git -e   (or git-scm.com/downloads)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Mac: brew install git   (or it prompts you via Xcode tools)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Set your identity — every commit needs this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git config --global user.name "Your Name"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git config --global user.email "you@example.com"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Sign in to GitHub over HTTPS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No SSH keys today. GitHub dropped plain passwords years ago, so install the GitHub CLI and run gh auth login once — it opens your browser and handles the rest.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Windows: winget install --id GitHub.cli   ·   Mac: brew install 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920240"/>
            <a:ext cx="5349240" cy="2743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210312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994A"/>
                </a:solidFill>
                <a:latin typeface="Calibri"/>
              </a:rPr>
              <a:t>Laptop won't cooperate?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560320"/>
            <a:ext cx="48920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If Git won't install — for example, the laptop is admin-locked — you already have Git ready to go in your Codespace. Open it and keep going there for the rest of the exercise; the commands are identical.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Let's try some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Let's try cloning a repo. (Already cloned it? Skip this step.)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E2761"/>
                </a:solidFill>
                <a:latin typeface="Calibri"/>
              </a:rPr>
              <a:t>github.com/hussius/Data-engineering-AI25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HTTPS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331720"/>
            <a:ext cx="4160520" cy="292608"/>
          </a:xfrm>
          <a:prstGeom prst="roundRect">
            <a:avLst>
              <a:gd name="adj" fmla="val 50000"/>
            </a:avLst>
          </a:prstGeom>
          <a:solidFill>
            <a:srgbClr val="F1F5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2377440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4506B"/>
                </a:solidFill>
                <a:latin typeface="Consolas"/>
              </a:rPr>
              <a:t>https://github.com/hussius/Data-engineering-AI25.git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44506B"/>
                </a:solidFill>
                <a:latin typeface="Calibri"/>
              </a:rPr>
              <a:t>Go into the repo on GitHub to get the HTTPS link.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5486400" cy="1371600"/>
          </a:xfrm>
          <a:prstGeom prst="roundRect">
            <a:avLst>
              <a:gd name="adj" fmla="val 35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2084" y="3534156"/>
            <a:ext cx="82296" cy="82296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6675" y="3534156"/>
            <a:ext cx="82296" cy="8229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1268" y="3534156"/>
            <a:ext cx="82296" cy="82296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758184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git clone https://github.com/hussius/Data-engineering-AI25.git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5349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We have now interacted with: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Repository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Remote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Clone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Let's try some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Git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1088136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If you're using VS Code, install the “Git Graph” extension. It's already installed for you in every Codespace — adding it locally takes one search in the Extensions panel.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71800"/>
            <a:ext cx="10881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" y="3136392"/>
            <a:ext cx="585216" cy="585216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3192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24612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Git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5661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4506B"/>
                </a:solidFill>
                <a:latin typeface="Calibri"/>
              </a:rPr>
              <a:t>View a Git Graph of your repository, and perform Git actions from the graph.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3977639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Extensions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1206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44506B"/>
                </a:solidFill>
                <a:latin typeface="Calibri"/>
              </a:rPr>
              <a:t>Extensions → search “Git Graph” → 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Let's try some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With Git Graph we can see: commits, branches.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0881360" cy="4114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41B4D"/>
                </a:solidFill>
                <a:latin typeface="Calibri"/>
              </a:rPr>
              <a:t>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17627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Merge pull request — course setup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551176"/>
            <a:ext cx="91440" cy="9144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234440" y="2596896"/>
            <a:ext cx="0" cy="438912"/>
          </a:xfrm>
          <a:prstGeom prst="line">
            <a:avLst/>
          </a:prstGeom>
          <a:ln w="15875">
            <a:solidFill>
              <a:srgbClr val="4B56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271576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41B4D"/>
                </a:solidFill>
                <a:latin typeface="Calibri"/>
              </a:rPr>
              <a:t>week2-git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7432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Add lecture 2 exercises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118104"/>
            <a:ext cx="91440" cy="91440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234440" y="3163824"/>
            <a:ext cx="0" cy="438912"/>
          </a:xfrm>
          <a:prstGeom prst="line">
            <a:avLst/>
          </a:prstGeom>
          <a:ln w="15875">
            <a:solidFill>
              <a:srgbClr val="4B56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32826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41B4D"/>
                </a:solidFill>
                <a:latin typeface="Calibri"/>
              </a:rPr>
              <a:t>week1-recap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31012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Add lecture 1 materials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0" y="3685032"/>
            <a:ext cx="91440" cy="914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234440" y="3730752"/>
            <a:ext cx="0" cy="438911"/>
          </a:xfrm>
          <a:prstGeom prst="line">
            <a:avLst/>
          </a:prstGeom>
          <a:ln w="15875">
            <a:solidFill>
              <a:srgbClr val="4B56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384962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141B4D"/>
                </a:solidFill>
                <a:latin typeface="Calibri"/>
              </a:rPr>
              <a:t>init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87705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Initial commit</a:t>
            </a:r>
          </a:p>
        </p:txBody>
      </p:sp>
      <p:sp>
        <p:nvSpPr>
          <p:cNvPr id="19" name="Oval 18"/>
          <p:cNvSpPr/>
          <p:nvPr/>
        </p:nvSpPr>
        <p:spPr>
          <a:xfrm>
            <a:off x="1188720" y="425196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Let's try creating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your own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4506B"/>
                </a:solidFill>
                <a:latin typeface="Calibri"/>
              </a:rPr>
              <a:t>Navigate to where you want to create your local Git repository and run: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514600"/>
            <a:ext cx="7315200" cy="1280160"/>
          </a:xfrm>
          <a:prstGeom prst="roundRect">
            <a:avLst>
              <a:gd name="adj" fmla="val 35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2084" y="2619756"/>
            <a:ext cx="82296" cy="82296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5" y="2619756"/>
            <a:ext cx="82296" cy="8229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1268" y="2619756"/>
            <a:ext cx="82296" cy="82296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843784"/>
            <a:ext cx="694944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git init my-cool-repo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Now you have created an empty repo!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4506B"/>
                </a:solidFill>
                <a:latin typeface="Calibri"/>
              </a:rPr>
              <a:t>Pushing is sending your committed changes to a remote repository.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554480"/>
            <a:ext cx="5394960" cy="164592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19088" y="160934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Main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3200400"/>
            <a:ext cx="5394960" cy="164592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325526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Local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199132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845052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9006840" y="2702052"/>
            <a:ext cx="0" cy="1143000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More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Create a new branch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git switch -c &lt;branch-name&gt;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or: git branch &lt;branch-name&gt; then git checkout &lt;branch-name&gt;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Create a new file “test.txt” and insert text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Check the status with git status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Add the file to be committed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Commit the file to the branch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554480"/>
            <a:ext cx="5623560" cy="4480560"/>
          </a:xfrm>
          <a:prstGeom prst="roundRect">
            <a:avLst>
              <a:gd name="adj" fmla="val 35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58483" y="1659636"/>
            <a:ext cx="82296" cy="82296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23075" y="1659636"/>
            <a:ext cx="82296" cy="8229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87668" y="1659636"/>
            <a:ext cx="82296" cy="82296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7" y="1883664"/>
            <a:ext cx="5257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FFFFFF"/>
                </a:solidFill>
                <a:latin typeface="Consolas"/>
              </a:rPr>
              <a:t>$ git switch -c my-branch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CADCFC"/>
                </a:solidFill>
                <a:latin typeface="Consolas"/>
              </a:rPr>
              <a:t>Switched to a new branch 'my-branch'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FFFFFF"/>
                </a:solidFill>
                <a:latin typeface="Consolas"/>
              </a:rPr>
              <a:t>$ touch test.txt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FFFFFF"/>
                </a:solidFill>
                <a:latin typeface="Consolas"/>
              </a:rPr>
              <a:t>$ echo "First commit" &gt; test.txt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FFFFFF"/>
                </a:solidFill>
                <a:latin typeface="Consolas"/>
              </a:rPr>
              <a:t>$ git add test.txt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FFFFFF"/>
                </a:solidFill>
                <a:latin typeface="Consolas"/>
              </a:rPr>
              <a:t>$ git commit -m "First commit: test.txt"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CADCFC"/>
                </a:solidFill>
                <a:latin typeface="Consolas"/>
              </a:rPr>
              <a:t>[my-branch] First commit: test.txt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CADCFC"/>
                </a:solidFill>
                <a:latin typeface="Consolas"/>
              </a:rPr>
              <a:t> 1 file changed, 1 insertion(+)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Connecting local Git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to remote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212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We've tried git clone.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We can also connect through: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git remote add origin &lt;repo-url&gt;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Go to GitHub and create a repo without initializing anything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Go to your terminal, in the repo you created locally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Type in git remote add origin &lt;repo-url&gt;  (HTTPS)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git push -u origin &lt;your-branch&gt;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737360"/>
            <a:ext cx="56235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1874519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Quick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2402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HTTPS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2240280"/>
            <a:ext cx="4343400" cy="292608"/>
          </a:xfrm>
          <a:prstGeom prst="roundRect">
            <a:avLst>
              <a:gd name="adj" fmla="val 50000"/>
            </a:avLst>
          </a:prstGeom>
          <a:solidFill>
            <a:srgbClr val="F1F5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2286000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4506B"/>
                </a:solidFill>
                <a:latin typeface="Consolas"/>
              </a:rPr>
              <a:t>https://github.com/hussius/testrepo.git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697480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Public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971800"/>
            <a:ext cx="5166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4506B"/>
                </a:solidFill>
                <a:latin typeface="Calibri"/>
              </a:rPr>
              <a:t>Create the repo on GitHub with no README/.gitignore/license — keep it empty so your push is the first commit.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Connecting local Git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to remote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0881360" cy="3566160"/>
          </a:xfrm>
          <a:prstGeom prst="roundRect">
            <a:avLst>
              <a:gd name="adj" fmla="val 35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72084" y="1842516"/>
            <a:ext cx="82296" cy="82296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6675" y="1842516"/>
            <a:ext cx="82296" cy="8229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1268" y="1842516"/>
            <a:ext cx="82296" cy="82296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66543"/>
            <a:ext cx="10515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$ git remote add origin https://github.com/hussius/testrepo.git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$ git status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On branch my-branch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nothing to commit, working tree clean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$ git push -u origin my-branch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Enumerating objects: 3, done.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2E9E8F"/>
                </a:solidFill>
                <a:latin typeface="Consolas"/>
              </a:rPr>
              <a:t>(already signed in via gh auth login — no prompt)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* [new branch]      my-branch -&gt; my-branch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branch 'my-branch' set up to track 'origin/my-branch'.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Pull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4506B"/>
                </a:solidFill>
                <a:latin typeface="Calibri"/>
              </a:rPr>
              <a:t>Pulling is fetching and integrating changes from a remote repository into your local repository.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554480"/>
            <a:ext cx="5394960" cy="164592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19088" y="160934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Main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3200400"/>
            <a:ext cx="5394960" cy="164592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325526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Local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199132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845052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06840" y="2702052"/>
            <a:ext cx="0" cy="1143000"/>
          </a:xfrm>
          <a:prstGeom prst="line">
            <a:avLst/>
          </a:prstGeom>
          <a:ln w="1587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Fetch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Fetch is reading the news. Pull is acting on it. When unsure, fetch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212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4506B"/>
                </a:solidFill>
                <a:latin typeface="Calibri"/>
              </a:rPr>
              <a:t>Fetching is downloading changes from a remote repository without integrating them into your local repository — like checking for updates without merging them into your current version.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554480"/>
            <a:ext cx="5394960" cy="164592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9088" y="160934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Main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3200400"/>
            <a:ext cx="5394960" cy="164592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325526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Local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199132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845052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06840" y="2702052"/>
            <a:ext cx="0" cy="1143000"/>
          </a:xfrm>
          <a:prstGeom prst="line">
            <a:avLst/>
          </a:prstGeom>
          <a:ln w="15875">
            <a:solidFill>
              <a:srgbClr val="44506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Going back to the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course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0058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Look at the Git Graph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Wait until I say to run git fetch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Look at how the graph changes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Notice there are now two “main” branches — one of them tagged origin (I pushed a new main while you weren't looking)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That's because there's a new main on the remote.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To pull in the new changes, run git pull while on the main branch.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4506B"/>
                </a:solidFill>
                <a:latin typeface="Calibri"/>
              </a:rPr>
              <a:t>A conflict occurs when changes in different branches contradict each other, requiring manual resolution — like two different edits on the same paragraph in a document, where you need to decide how to combine them.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75320" y="1463040"/>
            <a:ext cx="0" cy="2377440"/>
          </a:xfrm>
          <a:prstGeom prst="line">
            <a:avLst/>
          </a:prstGeom>
          <a:ln w="19050">
            <a:solidFill>
              <a:srgbClr val="C7CE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197596" y="138531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97596" y="1860804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97596" y="2336292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97596" y="2811780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97596" y="3287268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97596" y="376275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7360920" y="1938528"/>
            <a:ext cx="914400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60920" y="2212848"/>
            <a:ext cx="0" cy="402336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60920" y="2615184"/>
            <a:ext cx="914400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283196" y="2135124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83196" y="2537460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92024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2761"/>
                </a:solidFill>
                <a:latin typeface="Calibri"/>
              </a:rPr>
              <a:t>Your Branch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75320" y="1463040"/>
            <a:ext cx="914400" cy="274320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275320" y="1737360"/>
            <a:ext cx="914400" cy="201168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111996" y="1659636"/>
            <a:ext cx="155448" cy="155448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35331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Someone Else's
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3968496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788920"/>
            <a:ext cx="1600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44506B"/>
                </a:solidFill>
                <a:latin typeface="Calibri"/>
              </a:rPr>
              <a:t>When both branches
edit the same file.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Git</a:t>
            </a:r>
            <a:r>
              <a:rPr sz="2700" b="0" i="0">
                <a:solidFill>
                  <a:srgbClr val="1E2761"/>
                </a:solidFill>
                <a:latin typeface="Calibri"/>
              </a:rPr>
              <a:t>:ing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Let's create an artificial conflict.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0881360" cy="4114800"/>
          </a:xfrm>
          <a:prstGeom prst="roundRect">
            <a:avLst>
              <a:gd name="adj" fmla="val 35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2084" y="1842516"/>
            <a:ext cx="82296" cy="82296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5" y="1842516"/>
            <a:ext cx="82296" cy="8229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1268" y="1842516"/>
            <a:ext cx="82296" cy="82296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66543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git init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git switch -c main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echo "First commit" &gt; merge-conflict.txt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git commit -m "This is the first commit."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git switch -c branch-1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echo "Branch-1 commit" &gt; merge-conflict.txt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git commit -m "This is branch-1 commit."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git switch main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cat merge-conflict.txt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echo "Main commit" &gt; merge-conflict.txt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git commit -m "This is main commit."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git merge branch-1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How do we solve it?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Merge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Several ways: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Do it through an IDE like VS Code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Do it through the terminal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We choose either the incoming or the existing branch's version, delete the other, and commit the changes like a normal commit.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691640"/>
            <a:ext cx="5623560" cy="1737360"/>
          </a:xfrm>
          <a:prstGeom prst="roundRect">
            <a:avLst>
              <a:gd name="adj" fmla="val 35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58483" y="1796796"/>
            <a:ext cx="82296" cy="82296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23075" y="1796796"/>
            <a:ext cx="82296" cy="8229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87668" y="1796796"/>
            <a:ext cx="82296" cy="82296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773936"/>
            <a:ext cx="4709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A6C4"/>
                </a:solidFill>
                <a:latin typeface="Consolas"/>
              </a:rPr>
              <a:t>merge-conflict.txt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7" y="2020824"/>
            <a:ext cx="5257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2E9E8F"/>
                </a:solidFill>
                <a:latin typeface="Consolas"/>
              </a:rPr>
              <a:t>&lt;&lt;&lt;&lt;&lt;&lt;&lt; HEAD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Main commit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F2994A"/>
                </a:solidFill>
                <a:latin typeface="Consolas"/>
              </a:rPr>
              <a:t>=======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Branch-1 commit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2E9E8F"/>
                </a:solidFill>
                <a:latin typeface="Consolas"/>
              </a:rPr>
              <a:t>&gt;&gt;&gt;&gt;&gt;&gt;&gt; branch-1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520440"/>
            <a:ext cx="5623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44506B"/>
                </a:solidFill>
                <a:latin typeface="Calibri"/>
              </a:rPr>
              <a:t>Edit until the file reads correctly, then delete the marker 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886200"/>
            <a:ext cx="5623560" cy="1737360"/>
          </a:xfrm>
          <a:prstGeom prst="roundRect">
            <a:avLst>
              <a:gd name="adj" fmla="val 35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58483" y="3991356"/>
            <a:ext cx="82296" cy="82296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3075" y="3991356"/>
            <a:ext cx="82296" cy="8229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3991356"/>
            <a:ext cx="82296" cy="82296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7" y="4215384"/>
            <a:ext cx="5257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git status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2E9E8F"/>
                </a:solidFill>
                <a:latin typeface="Consolas"/>
              </a:rPr>
              <a:t>Unmerged paths: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2994A"/>
                </a:solidFill>
                <a:latin typeface="Consolas"/>
              </a:rPr>
              <a:t>  both modified: merge-conflict.txt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git add merge-conflict.txt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FFFFFF"/>
                </a:solidFill>
                <a:latin typeface="Consolas"/>
              </a:rPr>
              <a:t>$ git 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Pull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4506B"/>
                </a:solidFill>
                <a:latin typeface="Calibri"/>
              </a:rPr>
              <a:t>A pull request is a method of submitting contributions to a project — a request to merge your changes into the main repository, asking others to review and accept your updates.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75320" y="1463040"/>
            <a:ext cx="0" cy="2377440"/>
          </a:xfrm>
          <a:prstGeom prst="line">
            <a:avLst/>
          </a:prstGeom>
          <a:ln w="19050">
            <a:solidFill>
              <a:srgbClr val="C7CE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197596" y="138531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97596" y="1860804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97596" y="2336292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97596" y="2811780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97596" y="3287268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97596" y="376275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7360920" y="1938528"/>
            <a:ext cx="914400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60920" y="2212848"/>
            <a:ext cx="0" cy="402336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60920" y="2615184"/>
            <a:ext cx="914400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283196" y="2135124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83196" y="2537460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92024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2761"/>
                </a:solidFill>
                <a:latin typeface="Calibri"/>
              </a:rPr>
              <a:t>Your Branch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75320" y="1463040"/>
            <a:ext cx="914400" cy="274320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275320" y="1737360"/>
            <a:ext cx="914400" cy="201168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111996" y="1659636"/>
            <a:ext cx="155448" cy="155448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35331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Someone Else's
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3968496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788920"/>
            <a:ext cx="1600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44506B"/>
                </a:solidFill>
                <a:latin typeface="Calibri"/>
              </a:rPr>
              <a:t>Pull requests propose
merging a branch.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Pull Request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108813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2761"/>
                </a:solidFill>
                <a:latin typeface="Calibri"/>
              </a:rPr>
              <a:t>Open a pull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base: main  ←  compare: week2-yourname     ✓ Able to merge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058400" cy="411480"/>
          </a:xfrm>
          <a:prstGeom prst="roundRect">
            <a:avLst>
              <a:gd name="adj" fmla="val 10000"/>
            </a:avLst>
          </a:prstGeom>
          <a:solidFill>
            <a:srgbClr val="F1F5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61488"/>
            <a:ext cx="9784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41B4D"/>
                </a:solidFill>
                <a:latin typeface="Calibri"/>
              </a:rPr>
              <a:t>Add week 2 exercise for &lt;your name&gt;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10058400" cy="1737360"/>
          </a:xfrm>
          <a:prstGeom prst="roundRect">
            <a:avLst>
              <a:gd name="adj" fmla="val 4000"/>
            </a:avLst>
          </a:prstGeom>
          <a:solidFill>
            <a:srgbClr val="F1F5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10128"/>
            <a:ext cx="9784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6C4"/>
                </a:solidFill>
                <a:latin typeface="Calibri"/>
              </a:rPr>
              <a:t>Add your description here…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51663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Create pull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Pull Request: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let's 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Share your GitHub username in Teams so I can give you access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Clone the course repo over HTTPS: git clone https://github.com/hussius/Data-engineering-AI25.git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Create a new branch with your name (git switch -c)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Create a new folder with your name and a .txt file with any content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Add the changes (git add)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Commit the changes with a message (git commit -m)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Push the changes to the remote (git push)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In GitHub, navigate to hussius/Data-engineering-AI25 and open a pull request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Once it's approved, you can merge it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Fork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Forking is creating a personal copy of someone else's repository — like duplicating a project to work on independently, without affecting the original.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80360"/>
            <a:ext cx="51206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017520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994A"/>
                </a:solidFill>
                <a:latin typeface="Calibri"/>
              </a:rPr>
              <a:t>Fork  </a:t>
            </a:r>
            <a:r>
              <a:rPr sz="1300" b="0" i="0">
                <a:solidFill>
                  <a:srgbClr val="44506B"/>
                </a:solidFill>
                <a:latin typeface="Calibri"/>
              </a:rPr>
              <a:t>2.4k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3756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44506B"/>
                </a:solidFill>
                <a:latin typeface="Calibri"/>
              </a:rPr>
              <a:t>Button on any public GitHub repo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77639"/>
            <a:ext cx="5120640" cy="14173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994A"/>
                </a:solidFill>
                <a:latin typeface="Calibri"/>
              </a:rPr>
              <a:t>In this 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You have direct access to the shared course repo — branch, don't fork. Fork is for repos you can't push to, like contributing to open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394960" cy="182880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51790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My forked repo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199132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57276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44506B"/>
                </a:solidFill>
                <a:latin typeface="Calibri"/>
              </a:rPr>
              <a:t>← forked from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566160"/>
            <a:ext cx="5394960" cy="1828800"/>
          </a:xfrm>
          <a:prstGeom prst="rect">
            <a:avLst/>
          </a:prstGeom>
          <a:noFill/>
          <a:ln w="9525">
            <a:solidFill>
              <a:srgbClr val="D7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621024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06B"/>
                </a:solidFill>
                <a:latin typeface="Calibri"/>
              </a:rPr>
              <a:t>Original repo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4302252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Stash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Stashing is temporarily saving changes that aren't ready to be committed, so you can switch branches or work on something else — like putting your current work aside on a shelf.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git stash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git stash pop [id]  — restore and remove from stash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git stash apply [id]  — restore, keep in stash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75320" y="1463040"/>
            <a:ext cx="0" cy="2377440"/>
          </a:xfrm>
          <a:prstGeom prst="line">
            <a:avLst/>
          </a:prstGeom>
          <a:ln w="19050">
            <a:solidFill>
              <a:srgbClr val="C7CE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197596" y="138531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97596" y="1860804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97596" y="2336292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97596" y="2811780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97596" y="3287268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97596" y="3762756"/>
            <a:ext cx="155448" cy="1554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7360920" y="1938528"/>
            <a:ext cx="914400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60920" y="2212848"/>
            <a:ext cx="0" cy="402336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60920" y="2615184"/>
            <a:ext cx="914400" cy="27432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283196" y="2135124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83196" y="2537460"/>
            <a:ext cx="155448" cy="15544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92024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2761"/>
                </a:solidFill>
                <a:latin typeface="Calibri"/>
              </a:rPr>
              <a:t>Your Branch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75320" y="1463040"/>
            <a:ext cx="914400" cy="274320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275320" y="1737360"/>
            <a:ext cx="914400" cy="201168"/>
          </a:xfrm>
          <a:prstGeom prst="line">
            <a:avLst/>
          </a:prstGeom>
          <a:ln w="19050">
            <a:solidFill>
              <a:srgbClr val="2E9E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111996" y="1659636"/>
            <a:ext cx="155448" cy="155448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35331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Someone Else's
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3968496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788920"/>
            <a:ext cx="1600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44506B"/>
                </a:solidFill>
                <a:latin typeface="Calibri"/>
              </a:rPr>
              <a:t>A stashed change floats
outside the branch line.</a:t>
            </a:r>
          </a:p>
        </p:txBody>
      </p:sp>
      <p:sp>
        <p:nvSpPr>
          <p:cNvPr id="24" name="Oval 23"/>
          <p:cNvSpPr/>
          <p:nvPr/>
        </p:nvSpPr>
        <p:spPr>
          <a:xfrm>
            <a:off x="6277356" y="1458468"/>
            <a:ext cx="155448" cy="155448"/>
          </a:xfrm>
          <a:prstGeom prst="ellipse">
            <a:avLst/>
          </a:prstGeom>
          <a:solidFill>
            <a:srgbClr val="3D8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69164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44506B"/>
                </a:solidFill>
                <a:latin typeface="Calibri"/>
              </a:rPr>
              <a:t>stash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Let's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Stash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Go into any repo you've worked on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Create changes in any of the files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Run git status — red text means we're good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Run git stash to stash it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Create changes again and stash again, to build up multiple stashes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Run git stash --list to see all stashes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Run git stash pop 0 to bring the first stash back out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Verify with git status and git 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Restore, Reset</a:t>
            </a:r>
            <a:r>
              <a:rPr sz="2700" b="0" i="0">
                <a:solidFill>
                  <a:srgbClr val="1E2761"/>
                </a:solidFill>
                <a:latin typeface="Calibri"/>
              </a:rPr>
              <a:t> &amp;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Revert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Four ways to undo — in order of danger.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Restore — file level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Untracked: git restore &lt;file name&gt;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Staged: git restore --staged &lt;file name&gt;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429000"/>
            <a:ext cx="5394960" cy="1600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661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994A"/>
                </a:solidFill>
                <a:latin typeface="Calibri"/>
              </a:rPr>
              <a:t>Already pushed and shared? Use revert.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ADCFC"/>
                </a:solidFill>
                <a:latin typeface="Consolas"/>
              </a:rPr>
              <a:t>git revert &lt;hash&gt;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Creates a new commit that undoes an old one. Safe to push: it doesn't rewrite history anyone else has already pulled.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28800"/>
            <a:ext cx="5486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Reset — commit level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Soft: moves HEAD, keeps index &amp; working directory staged  —  git reset --soft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Mixed: moves HEAD, unstages, keeps working directory  —  git reset --mixed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Hard: moves HEAD and discards all changes  —  git reset --hard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Reset to a specific commit with a hash, or HEAD~&lt;n&gt;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Rule of thumb: reset your own local history; revert anything already shared.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Restore</a:t>
            </a:r>
            <a:r>
              <a:rPr sz="2700" b="0" i="0">
                <a:solidFill>
                  <a:srgbClr val="1E2761"/>
                </a:solidFill>
                <a:latin typeface="Calibri"/>
              </a:rPr>
              <a:t> and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Reset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Try restoring a file with git restore &lt;file name&gt;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Make changes and commit them a few times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Try the different reset methods to see the difference: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git reset --soft HEAD~1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git reset --mixed &lt;specific hash&gt;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git reset --hard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737360"/>
            <a:ext cx="5623560" cy="3200400"/>
          </a:xfrm>
          <a:prstGeom prst="roundRect">
            <a:avLst>
              <a:gd name="adj" fmla="val 35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58483" y="1842516"/>
            <a:ext cx="82296" cy="82296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23075" y="1842516"/>
            <a:ext cx="82296" cy="8229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87668" y="1842516"/>
            <a:ext cx="82296" cy="82296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7" y="2066543"/>
            <a:ext cx="5257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$ git reset --soft HEAD~1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$ git status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Changes to be committed: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$ git reset --mixed a1b2c3d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$ git reset --hard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HEAD is now at a1b2c3d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Rebase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4506B"/>
                </a:solidFill>
                <a:latin typeface="Calibri"/>
              </a:rPr>
              <a:t>Move or combine a sequence of commits onto a new base commit. Primarily used to keep a clean, linear project history.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017520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2004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git rebase &lt;branch-to-move-onto&gt;</a:t>
            </a:r>
          </a:p>
        </p:txBody>
      </p:sp>
      <p:sp>
        <p:nvSpPr>
          <p:cNvPr id="6" name="Oval 5"/>
          <p:cNvSpPr/>
          <p:nvPr/>
        </p:nvSpPr>
        <p:spPr>
          <a:xfrm>
            <a:off x="6880859" y="1394460"/>
            <a:ext cx="137160" cy="137160"/>
          </a:xfrm>
          <a:prstGeom prst="ellipse">
            <a:avLst/>
          </a:prstGeom>
          <a:solidFill>
            <a:srgbClr val="C7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80859" y="1778508"/>
            <a:ext cx="137160" cy="137160"/>
          </a:xfrm>
          <a:prstGeom prst="ellipse">
            <a:avLst/>
          </a:prstGeom>
          <a:solidFill>
            <a:srgbClr val="C7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80859" y="2162556"/>
            <a:ext cx="137160" cy="137160"/>
          </a:xfrm>
          <a:prstGeom prst="ellipse">
            <a:avLst/>
          </a:prstGeom>
          <a:solidFill>
            <a:srgbClr val="C7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80859" y="2546604"/>
            <a:ext cx="137160" cy="137160"/>
          </a:xfrm>
          <a:prstGeom prst="ellipse">
            <a:avLst/>
          </a:prstGeom>
          <a:solidFill>
            <a:srgbClr val="C7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949440" y="1463040"/>
            <a:ext cx="0" cy="1152144"/>
          </a:xfrm>
          <a:prstGeom prst="line">
            <a:avLst/>
          </a:prstGeom>
          <a:ln w="19050">
            <a:solidFill>
              <a:srgbClr val="C7CE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880859" y="1394460"/>
            <a:ext cx="137160" cy="1371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80859" y="1778508"/>
            <a:ext cx="137160" cy="1371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949440" y="1463040"/>
            <a:ext cx="0" cy="384048"/>
          </a:xfrm>
          <a:prstGeom prst="line">
            <a:avLst/>
          </a:prstGeom>
          <a:ln w="19050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949440" y="1097280"/>
            <a:ext cx="548639" cy="36576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98079" y="1097280"/>
            <a:ext cx="0" cy="384048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429500" y="1028700"/>
            <a:ext cx="137160" cy="13716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29500" y="1412748"/>
            <a:ext cx="137160" cy="13716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822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Your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788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E2761"/>
                </a:solidFill>
                <a:latin typeface="Calibri"/>
              </a:rPr>
              <a:t>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828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44506B"/>
                </a:solidFill>
                <a:latin typeface="Calibri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9715500" y="1394460"/>
            <a:ext cx="137160" cy="137160"/>
          </a:xfrm>
          <a:prstGeom prst="ellipse">
            <a:avLst/>
          </a:prstGeom>
          <a:solidFill>
            <a:srgbClr val="C7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15500" y="1778508"/>
            <a:ext cx="137160" cy="137160"/>
          </a:xfrm>
          <a:prstGeom prst="ellipse">
            <a:avLst/>
          </a:prstGeom>
          <a:solidFill>
            <a:srgbClr val="C7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15500" y="2162556"/>
            <a:ext cx="137160" cy="137160"/>
          </a:xfrm>
          <a:prstGeom prst="ellipse">
            <a:avLst/>
          </a:prstGeom>
          <a:solidFill>
            <a:srgbClr val="C7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15500" y="2546604"/>
            <a:ext cx="137160" cy="137160"/>
          </a:xfrm>
          <a:prstGeom prst="ellipse">
            <a:avLst/>
          </a:prstGeom>
          <a:solidFill>
            <a:srgbClr val="C7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15500" y="2930652"/>
            <a:ext cx="137160" cy="137160"/>
          </a:xfrm>
          <a:prstGeom prst="ellipse">
            <a:avLst/>
          </a:prstGeom>
          <a:solidFill>
            <a:srgbClr val="C7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15500" y="3314700"/>
            <a:ext cx="137160" cy="137160"/>
          </a:xfrm>
          <a:prstGeom prst="ellipse">
            <a:avLst/>
          </a:prstGeom>
          <a:solidFill>
            <a:srgbClr val="C7C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784080" y="1463040"/>
            <a:ext cx="0" cy="1920240"/>
          </a:xfrm>
          <a:prstGeom prst="line">
            <a:avLst/>
          </a:prstGeom>
          <a:ln w="19050">
            <a:solidFill>
              <a:srgbClr val="C7CE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715500" y="1394460"/>
            <a:ext cx="137160" cy="1371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15500" y="1778508"/>
            <a:ext cx="137160" cy="1371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15500" y="2930652"/>
            <a:ext cx="137160" cy="13716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15500" y="3314700"/>
            <a:ext cx="137160" cy="13716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822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Calibri"/>
              </a:rPr>
              <a:t>Your Branch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31546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E2761"/>
                </a:solidFill>
                <a:latin typeface="Calibri"/>
              </a:rPr>
              <a:t>Main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Git &amp; Version Control · Week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ADCFC"/>
                </a:solidFill>
                <a:latin typeface="Calibri"/>
              </a:rPr>
              <a:t>AND THAT'S ALL THE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Time to get your hands dirty.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9601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–  There are exercises in the course repo: hussius/Data-engineering-AI25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–  Find the problems you want to solve and run the setup script to create the scenarios.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–  Try solving all of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Git &amp; Version Control · Week 2  ·  Data engineering och Agila metoder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