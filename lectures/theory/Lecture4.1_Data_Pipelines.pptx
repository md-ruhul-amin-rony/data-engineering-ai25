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59952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45168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37776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30384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22992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00816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93424" y="53035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59952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2560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45168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37776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30384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22992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08208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00816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93424" y="822959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59952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52560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45168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37776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30384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22992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15600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08208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100816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93424" y="1115568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9952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52560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45168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637776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30384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22992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5600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08208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00816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93424" y="1408176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52560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45168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37776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30384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222992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15600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808208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100816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393424" y="1700784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59952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052560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345168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637776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930384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222992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515600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808208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100816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393424" y="1993392"/>
            <a:ext cx="36576" cy="3657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02920" y="457200"/>
            <a:ext cx="128016" cy="128016"/>
          </a:xfrm>
          <a:prstGeom prst="roundRect">
            <a:avLst>
              <a:gd name="adj" fmla="val 100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7240" y="38404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ADCFC"/>
                </a:solidFill>
                <a:latin typeface="Calibri"/>
              </a:rPr>
              <a:t>DATA ENGINEERING · WEEK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1874519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FFFFFF"/>
                </a:solidFill>
                <a:latin typeface="Calibri"/>
              </a:rPr>
              <a:t>Getting into </a:t>
            </a:r>
            <a:r>
              <a:rPr sz="4000" b="1" i="0">
                <a:solidFill>
                  <a:srgbClr val="F2994A"/>
                </a:solidFill>
                <a:latin typeface="Calibri"/>
              </a:rPr>
              <a:t>Data Pipelines</a:t>
            </a:r>
            <a:r>
              <a:rPr sz="4000" b="0" i="0">
                <a:solidFill>
                  <a:srgbClr val="FFFFFF"/>
                </a:solidFill>
                <a:latin typeface="Calibri"/>
              </a:rPr>
              <a:t>
and </a:t>
            </a:r>
            <a:r>
              <a:rPr sz="4000" b="1" i="0">
                <a:solidFill>
                  <a:srgbClr val="F2994A"/>
                </a:solidFill>
                <a:latin typeface="Calibri"/>
              </a:rPr>
              <a:t>Data Workflow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Data engineering och Agila metoder — IT Högskolan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Mikael Huss  ·  IT Högskolan  ·  material originally by Esoon Ko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Data Pipelines &amp; Workflow · Week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Going back to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our data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691639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Data Sources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459736" y="3749039"/>
            <a:ext cx="219455" cy="0"/>
          </a:xfrm>
          <a:prstGeom prst="line">
            <a:avLst/>
          </a:prstGeom>
          <a:ln w="2222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15768" y="210312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07208" y="2359152"/>
            <a:ext cx="1691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Data 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3063239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98648" y="3063239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Batches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3630168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3630168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Streams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26864" y="3749039"/>
            <a:ext cx="219456" cy="0"/>
          </a:xfrm>
          <a:prstGeom prst="line">
            <a:avLst/>
          </a:prstGeom>
          <a:ln w="2222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82895" y="210312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5" y="2103120"/>
            <a:ext cx="1691639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Storage &amp;
Processing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93991" y="3749039"/>
            <a:ext cx="219456" cy="0"/>
          </a:xfrm>
          <a:prstGeom prst="line">
            <a:avLst/>
          </a:prstGeom>
          <a:ln w="2222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50023" y="210312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1463" y="2103120"/>
            <a:ext cx="1691639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Transformation &amp;
Modeling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19" y="3749039"/>
            <a:ext cx="219457" cy="0"/>
          </a:xfrm>
          <a:prstGeom prst="line">
            <a:avLst/>
          </a:prstGeom>
          <a:ln w="2222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17151" y="210312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1" y="2359152"/>
            <a:ext cx="1691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Consumption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00031" y="3063239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1" y="3063239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00031" y="3630168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1" y="3630168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00031" y="4197096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1" y="4197096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Data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Data Pipelines &amp; Workflow · Week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Data is ingested from source into storage.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691639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Data Sources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59736" y="3931920"/>
            <a:ext cx="219455" cy="0"/>
          </a:xfrm>
          <a:prstGeom prst="line">
            <a:avLst/>
          </a:prstGeom>
          <a:ln w="2222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15768" y="228600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7208" y="2542032"/>
            <a:ext cx="1691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Data Ingestion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324612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3246120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Batches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3813048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3813048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Streams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26864" y="3931920"/>
            <a:ext cx="219456" cy="0"/>
          </a:xfrm>
          <a:prstGeom prst="line">
            <a:avLst/>
          </a:prstGeom>
          <a:ln w="2222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82895" y="228600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4335" y="2286000"/>
            <a:ext cx="1691639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Storage &amp;
Processing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93991" y="3931920"/>
            <a:ext cx="219456" cy="0"/>
          </a:xfrm>
          <a:prstGeom prst="line">
            <a:avLst/>
          </a:prstGeom>
          <a:ln w="2222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50023" y="228600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3" y="2286000"/>
            <a:ext cx="1691639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Transformation &amp;
Modeling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61119" y="3931920"/>
            <a:ext cx="219457" cy="0"/>
          </a:xfrm>
          <a:prstGeom prst="line">
            <a:avLst/>
          </a:prstGeom>
          <a:ln w="22225">
            <a:solidFill>
              <a:srgbClr val="44506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17151" y="2286000"/>
            <a:ext cx="1874519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1" y="2542032"/>
            <a:ext cx="1691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Consumption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0031" y="3246120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1" y="3246120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0031" y="3813048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1" y="3813048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ML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00031" y="4379976"/>
            <a:ext cx="1508760" cy="457200"/>
          </a:xfrm>
          <a:prstGeom prst="roundRect">
            <a:avLst>
              <a:gd name="adj" fmla="val 20000"/>
            </a:avLst>
          </a:prstGeom>
          <a:solidFill>
            <a:srgbClr val="F1F5FC"/>
          </a:solidFill>
          <a:ln w="952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1" y="4379976"/>
            <a:ext cx="1508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4506B"/>
                </a:solidFill>
                <a:latin typeface="Calibri"/>
              </a:rPr>
              <a:t>Data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Data Pipelines &amp; Workflow · Week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Data Ingestion: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Batch vs. Stream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94944" y="1993391"/>
            <a:ext cx="438912" cy="438912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93976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8483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Batch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48006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Data ingestion occurs from a source at a pre-defined time or in pre-defined groupings. Data is often pulled.
Benefit: suitable for large amounts of data ingested in intervals.
Disadvantage: does not provide data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828800"/>
            <a:ext cx="53492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27064" y="1993391"/>
            <a:ext cx="438912" cy="438912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27064" y="2093976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08483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40"/>
            <a:ext cx="48006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Data is ingested as soon as it's available at the source. Data is often pushed.
Benefit: near real-time data.
Disadvantage: harder to process the volumes batch ingestion handles easily.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Data Pipelines &amp; Workflow · Week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Data Storage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&amp;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Where data is stored and processed. On premise or cloud? Warehouse or lake?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4944" y="2084832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2185416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7627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Data Warehouse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4800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A data repository that provides storage and compute, usually leveraging SQL queries for data analytics use cases. Structured data, schema defined up front.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920240"/>
            <a:ext cx="53492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27064" y="2084832"/>
            <a:ext cx="438912" cy="438912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2185416"/>
            <a:ext cx="4389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7627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Data 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97480"/>
            <a:ext cx="4800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4506B"/>
                </a:solidFill>
                <a:latin typeface="Calibri"/>
              </a:rPr>
              <a:t>Also a repository providing storage and compute — but for structured and unstructured data alike. In most implementations, cloud storage that behaves like local file storage.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Data Pipelines &amp; Workflow · Week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Let's build it: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batch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Live in this lecture — ingest weather data into the raw layer.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0881360" cy="35661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2412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2994A"/>
                </a:solidFill>
                <a:latin typeface="Calibri"/>
              </a:rPr>
              <a:t>Start everything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–  cp .env.example .env   then   docker compose up --build   — one command, three services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2994A"/>
                </a:solidFill>
                <a:latin typeface="Calibri"/>
              </a:rPr>
              <a:t>What just happened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–  Postgres ran database/init/01_ and 02_ on first start: the raw table and clean view already exist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2994A"/>
                </a:solidFill>
                <a:latin typeface="Calibri"/>
              </a:rPr>
              <a:t>Ingest a batch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–  GET /ingestion?location=Stockholm&amp;date=2026-08-20   — a date from today onwards, not the past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2994A"/>
                </a:solidFill>
                <a:latin typeface="Calibri"/>
              </a:rPr>
              <a:t>Look at what landed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–  Adminer on port 8080 (Codespaces: the PORTS tab). System: PostgreSQL. Server: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Data Pipelines &amp; Workflow · Week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E2761"/>
                </a:solidFill>
                <a:latin typeface="Calibri"/>
              </a:rPr>
              <a:t>Data Transformation</a:t>
            </a:r>
            <a:r>
              <a:rPr sz="2700" b="0" i="0">
                <a:solidFill>
                  <a:srgbClr val="1E2761"/>
                </a:solidFill>
                <a:latin typeface="Calibri"/>
              </a:rPr>
              <a:t> /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Transformation usually means cleaning raw data and enriching it so it's consumable for analysis. Modeling gives that data a conceptual structure — a blueprint for storage, retrieval, and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raw__weatherapp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34640"/>
            <a:ext cx="5212080" cy="2377440"/>
          </a:xfrm>
          <a:prstGeom prst="roundRect">
            <a:avLst>
              <a:gd name="adj" fmla="val 3500"/>
            </a:avLst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" y="2939796"/>
            <a:ext cx="82296" cy="8229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6675" y="2939796"/>
            <a:ext cx="82296" cy="822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1268" y="2939796"/>
            <a:ext cx="82296" cy="82296"/>
          </a:xfrm>
          <a:prstGeom prst="ellipse">
            <a:avLst/>
          </a:prstGeom>
          <a:solidFill>
            <a:srgbClr val="2E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163824"/>
            <a:ext cx="48463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ingestion_timestamp  2026-08-20 13:45:00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location             Stockholm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CADCFC"/>
                </a:solidFill>
                <a:latin typeface="Consolas"/>
              </a:rPr>
              <a:t>time_epoch           1755280800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data                 {"temp_c": 21.5,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               "wind_kph": 11.2,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Consolas"/>
              </a:rPr>
              <a:t>                       "condition": {...}, ...}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5146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Calibri"/>
              </a:rPr>
              <a:t>clean__weatherapp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51663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01752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temp_c: 21.5   (numeric, not text)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condition_text: Partly cloudy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Stockholm and Zurich: same hour, two separate rows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050" b="0">
                <a:solidFill>
                  <a:srgbClr val="44506B"/>
                </a:solidFill>
                <a:latin typeface="Calibri"/>
              </a:rPr>
              <a:t>–  one row per location per hour, latest ingestion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49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44506B"/>
                </a:solidFill>
                <a:latin typeface="Calibri"/>
              </a:rPr>
              <a:t>→ view does this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Data Pipelines &amp; Workflow · Week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1E2761"/>
                </a:solidFill>
                <a:latin typeface="Calibri"/>
              </a:rPr>
              <a:t>Let's build it: </a:t>
            </a:r>
            <a:r>
              <a:rPr sz="2700" b="1" i="0">
                <a:solidFill>
                  <a:srgbClr val="1E2761"/>
                </a:solidFill>
                <a:latin typeface="Calibri"/>
              </a:rPr>
              <a:t>transform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509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44506B"/>
                </a:solidFill>
                <a:latin typeface="Calibri"/>
              </a:rPr>
              <a:t>So we can actually use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10881360" cy="2926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24128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2994A"/>
                </a:solidFill>
                <a:latin typeface="Calibri"/>
              </a:rPr>
              <a:t>The clean view already exists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–  database/init/02_clean__weatherapp.sql ran automatically the first time the database started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2994A"/>
                </a:solidFill>
                <a:latin typeface="Calibri"/>
              </a:rPr>
              <a:t>Query it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–  SELECT * FROM clean__weatherapp;   — the latest ingestion per location per hour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400" b="1">
                <a:solidFill>
                  <a:srgbClr val="F2994A"/>
                </a:solidFill>
                <a:latin typeface="Calibri"/>
              </a:rPr>
              <a:t>Prove why the split matters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Calibri"/>
              </a:rPr>
              <a:t>–  Ingest a second location, then compare COUNT(*) in raw__weatherapp vs clean__weatherapp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Data Pipelines &amp; Workflow · Week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ADCFC"/>
                </a:solidFill>
                <a:latin typeface="Calibri"/>
              </a:rPr>
              <a:t>WHERE TO FIND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0584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pipeline, end to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058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–  ingestion/ — the FastAPI service (ingestion.py, Dockerfile, requirements.txt)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–  database/init/ — 01_raw__ and 02_clean__ SQL, run automatically on first start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–  docker-compose.yml — three services (db, adminer, ingestion), one network, one volume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–  Adminer on port 8080 — in Codespaces open it from the PORTS tab, not localhost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–  README.md — troubleshooting for the errors you are most likely to 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Data Pipelines &amp; Workflow · Week 2  ·  Data engineering och Agila metoder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6C4"/>
                </a:solidFill>
                <a:latin typeface="Calibri"/>
              </a:rPr>
              <a:t>Data Pipelines &amp; Workflow · Week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