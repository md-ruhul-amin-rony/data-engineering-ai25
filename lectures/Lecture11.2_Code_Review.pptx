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5"/>
  </p:normalViewPr>
  <p:slideViewPr>
    <p:cSldViewPr snapToGrid="0" snapToObjects="1">
      <p:cViewPr varScale="1">
        <p:scale>
          <a:sx n="113" d="100"/>
          <a:sy n="113" d="100"/>
        </p:scale>
        <p:origin x="5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9449373" y="1178691"/>
            <a:ext cx="103904" cy="1039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445815" y="1752202"/>
            <a:ext cx="88504" cy="885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121802" y="964532"/>
            <a:ext cx="133184" cy="13318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427979" y="1455523"/>
            <a:ext cx="73554" cy="735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0766862" y="883576"/>
            <a:ext cx="86648" cy="866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469099" y="1703768"/>
            <a:ext cx="125960" cy="125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585045" y="2023037"/>
            <a:ext cx="97623" cy="976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0399146" y="1001111"/>
            <a:ext cx="125454" cy="1254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993342" y="529384"/>
            <a:ext cx="123792" cy="12379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403517" y="1994282"/>
            <a:ext cx="167757" cy="16775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805447" y="1478352"/>
            <a:ext cx="81870" cy="818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759435" y="995359"/>
            <a:ext cx="94780" cy="947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987281" y="688225"/>
            <a:ext cx="78869" cy="788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180324" y="1036836"/>
            <a:ext cx="97050" cy="970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181318" y="942685"/>
            <a:ext cx="171931" cy="1719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0129998" y="2014142"/>
            <a:ext cx="83538" cy="835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0084758" y="2043658"/>
            <a:ext cx="141519" cy="1415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0103586" y="485898"/>
            <a:ext cx="116631" cy="1166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479348" y="776840"/>
            <a:ext cx="86808" cy="8680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796170" y="1064574"/>
            <a:ext cx="101668" cy="1016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807777" y="1413557"/>
            <a:ext cx="166414" cy="1664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10871487" y="1405643"/>
            <a:ext cx="113710" cy="1137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157097" y="1434917"/>
            <a:ext cx="110922" cy="11092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0181353" y="1639713"/>
            <a:ext cx="154316" cy="15431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978688" y="2014610"/>
            <a:ext cx="152469" cy="1524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245437" y="1671030"/>
            <a:ext cx="139517" cy="1395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476017" y="711494"/>
            <a:ext cx="125785" cy="12578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40080" y="640080"/>
            <a:ext cx="345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FFFFFF"/>
                </a:solidFill>
                <a:latin typeface="Calibri"/>
              </a:rPr>
              <a:t>WEEK 7 · BLOCK 2</a:t>
            </a:r>
          </a:p>
        </p:txBody>
      </p:sp>
      <p:sp>
        <p:nvSpPr>
          <p:cNvPr id="30" name="TextBox 29"/>
          <p:cNvSpPr txBox="1"/>
          <p:nvPr/>
        </p:nvSpPr>
        <p:spPr>
          <a:xfrm>
            <a:off x="640080" y="1600200"/>
            <a:ext cx="9601200" cy="1938992"/>
          </a:xfrm>
          <a:prstGeom prst="rect">
            <a:avLst/>
          </a:prstGeom>
          <a:noFill/>
        </p:spPr>
        <p:txBody>
          <a:bodyPr wrap="square" lIns="0" tIns="0" rIns="0" bIns="0">
            <a:spAutoFit/>
          </a:bodyPr>
          <a:lstStyle/>
          <a:p>
            <a:pPr algn="l">
              <a:spcAft>
                <a:spcPts val="0"/>
              </a:spcAft>
            </a:pPr>
            <a:r>
              <a:rPr sz="4000" b="0">
                <a:solidFill>
                  <a:srgbClr val="FFFFFF"/>
                </a:solidFill>
                <a:latin typeface="Calibri"/>
              </a:rPr>
              <a:t>Code review in this project</a:t>
            </a:r>
          </a:p>
        </p:txBody>
      </p:sp>
      <p:sp>
        <p:nvSpPr>
          <p:cNvPr id="31" name="TextBox 30"/>
          <p:cNvSpPr txBox="1"/>
          <p:nvPr/>
        </p:nvSpPr>
        <p:spPr>
          <a:xfrm>
            <a:off x="640080" y="4200000"/>
            <a:ext cx="9601200" cy="323165"/>
          </a:xfrm>
          <a:prstGeom prst="rect">
            <a:avLst/>
          </a:prstGeom>
          <a:noFill/>
        </p:spPr>
        <p:txBody>
          <a:bodyPr wrap="square" lIns="0" tIns="0" rIns="0" bIns="0">
            <a:spAutoFit/>
          </a:bodyPr>
          <a:lstStyle/>
          <a:p>
            <a:pPr algn="l">
              <a:spcAft>
                <a:spcPts val="0"/>
              </a:spcAft>
            </a:pPr>
            <a:r>
              <a:rPr sz="1500" b="0">
                <a:solidFill>
                  <a:srgbClr val="CADCFC"/>
                </a:solidFill>
                <a:latin typeface="Calibri"/>
              </a:rPr>
              <a:t>You already know the GitHub buttons. This block is about what to look for in real project code.</a:t>
            </a:r>
          </a:p>
        </p:txBody>
      </p:sp>
      <p:sp>
        <p:nvSpPr>
          <p:cNvPr id="32" name="TextBox 31"/>
          <p:cNvSpPr txBox="1"/>
          <p:nvPr/>
        </p:nvSpPr>
        <p:spPr>
          <a:xfrm>
            <a:off x="640080" y="4750000"/>
            <a:ext cx="9601200" cy="300000"/>
          </a:xfrm>
          <a:prstGeom prst="rect">
            <a:avLst/>
          </a:prstGeom>
          <a:noFill/>
        </p:spPr>
        <p:txBody>
          <a:bodyPr wrap="square" lIns="0" tIns="0" rIns="0" bIns="0">
            <a:spAutoFit/>
          </a:bodyPr>
          <a:lstStyle/>
          <a:p>
            <a:pPr algn="l">
              <a:spcAft>
                <a:spcPts val="0"/>
              </a:spcAft>
            </a:pPr>
            <a:r>
              <a:rPr sz="1200" b="0">
                <a:solidFill>
                  <a:srgbClr val="CADCFC"/>
                </a:solidFill>
                <a:latin typeface="Calibri"/>
              </a:rPr>
              <a:t>Mikael Huss</a:t>
            </a:r>
          </a:p>
        </p:txBody>
      </p:sp>
      <p:sp>
        <p:nvSpPr>
          <p:cNvPr id="33" name="TextBox 32"/>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4" name="TextBox 33"/>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PROJECT GIVES YOU SOMETHING REAL TO REVIEW</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500" b="1">
                <a:solidFill>
                  <a:srgbClr val="1E2761"/>
                </a:solidFill>
                <a:latin typeface="Calibri"/>
              </a:rPr>
              <a:t>Earlier you practised the review process. Now you can check code that affects your own data pipeline.</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The GitHub buttons have not changed. The useful questions are now more specific: will the pipeline write correct data, behave safely on a second run, and be understandable to another person?</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A SHORT REMINDER</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Use the right type of comment</a:t>
            </a:r>
          </a:p>
        </p:txBody>
      </p:sp>
      <p:sp>
        <p:nvSpPr>
          <p:cNvPr id="4" name="TextBox 3"/>
          <p:cNvSpPr txBox="1"/>
          <p:nvPr/>
        </p:nvSpPr>
        <p:spPr>
          <a:xfrm>
            <a:off x="1000000" y="145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Blocking</a:t>
            </a:r>
          </a:p>
        </p:txBody>
      </p:sp>
      <p:sp>
        <p:nvSpPr>
          <p:cNvPr id="5" name="TextBox 4"/>
          <p:cNvSpPr txBox="1"/>
          <p:nvPr/>
        </p:nvSpPr>
        <p:spPr>
          <a:xfrm>
            <a:off x="4250000" y="145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This needs to be fixed before merge: it is incorrect, breaks something else, or conflicts with a team decision.</a:t>
            </a:r>
          </a:p>
        </p:txBody>
      </p:sp>
      <p:sp>
        <p:nvSpPr>
          <p:cNvPr id="6" name="TextBox 5"/>
          <p:cNvSpPr txBox="1"/>
          <p:nvPr/>
        </p:nvSpPr>
        <p:spPr>
          <a:xfrm>
            <a:off x="1000000" y="221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Non-blocking</a:t>
            </a:r>
          </a:p>
        </p:txBody>
      </p:sp>
      <p:sp>
        <p:nvSpPr>
          <p:cNvPr id="7" name="TextBox 6"/>
          <p:cNvSpPr txBox="1"/>
          <p:nvPr/>
        </p:nvSpPr>
        <p:spPr>
          <a:xfrm>
            <a:off x="4250000" y="221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Worth mentioning, but not a reason to stop the merge. For example, a clearer name or a question.</a:t>
            </a:r>
          </a:p>
        </p:txBody>
      </p:sp>
      <p:sp>
        <p:nvSpPr>
          <p:cNvPr id="8" name="TextBox 7"/>
          <p:cNvSpPr txBox="1"/>
          <p:nvPr/>
        </p:nvSpPr>
        <p:spPr>
          <a:xfrm>
            <a:off x="1000000" y="297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A useful test</a:t>
            </a:r>
          </a:p>
        </p:txBody>
      </p:sp>
      <p:sp>
        <p:nvSpPr>
          <p:cNvPr id="9" name="TextBox 8"/>
          <p:cNvSpPr txBox="1"/>
          <p:nvPr/>
        </p:nvSpPr>
        <p:spPr>
          <a:xfrm>
            <a:off x="4250000" y="297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If the comment is ignored, will the software still work correctly? If yes, it is usually non-blocking.</a:t>
            </a:r>
          </a:p>
        </p:txBody>
      </p:sp>
      <p:sp>
        <p:nvSpPr>
          <p:cNvPr id="10" name="TextBox 9"/>
          <p:cNvSpPr txBox="1"/>
          <p:nvPr/>
        </p:nvSpPr>
        <p:spPr>
          <a:xfrm>
            <a:off x="1000000" y="373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GitHub buttons</a:t>
            </a:r>
          </a:p>
        </p:txBody>
      </p:sp>
      <p:sp>
        <p:nvSpPr>
          <p:cNvPr id="11" name="TextBox 10"/>
          <p:cNvSpPr txBox="1"/>
          <p:nvPr/>
        </p:nvSpPr>
        <p:spPr>
          <a:xfrm>
            <a:off x="4250000" y="373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Request changes for blocking issues. Comment for non-blocking points. Approve when nothing blocking remains.</a:t>
            </a:r>
          </a:p>
        </p:txBody>
      </p:sp>
      <p:sp>
        <p:nvSpPr>
          <p:cNvPr id="12" name="Rounded Rectangle 11"/>
          <p:cNvSpPr/>
          <p:nvPr/>
        </p:nvSpPr>
        <p:spPr>
          <a:xfrm>
            <a:off x="502920" y="459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00000" y="477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Take enough time to read the change. An approval means you have checked the important parts.</a:t>
            </a:r>
          </a:p>
        </p:txBody>
      </p:sp>
      <p:sp>
        <p:nvSpPr>
          <p:cNvPr id="14" name="TextBox 13"/>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5" name="TextBox 1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Oval 1"/>
          <p:cNvSpPr/>
          <p:nvPr/>
        </p:nvSpPr>
        <p:spPr>
          <a:xfrm>
            <a:off x="8808604" y="1341057"/>
            <a:ext cx="114633" cy="11463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422344" y="536579"/>
            <a:ext cx="171745" cy="1717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516013" y="690057"/>
            <a:ext cx="135532" cy="1355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153531" y="1723602"/>
            <a:ext cx="155689" cy="1556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708672" y="1291119"/>
            <a:ext cx="128181" cy="1281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1305821" y="1844207"/>
            <a:ext cx="87847" cy="8784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1025017" y="1982291"/>
            <a:ext cx="146110" cy="1461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03211" y="704183"/>
            <a:ext cx="163812" cy="1638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507516" y="1518591"/>
            <a:ext cx="172463" cy="1724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512884" y="519628"/>
            <a:ext cx="89400" cy="894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8747085" y="1071458"/>
            <a:ext cx="88639" cy="886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10880888" y="1022708"/>
            <a:ext cx="128173" cy="12817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1027890" y="2016540"/>
            <a:ext cx="84950" cy="849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1110742" y="1805183"/>
            <a:ext cx="151624" cy="1516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978228" y="879065"/>
            <a:ext cx="75219" cy="75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100179" y="1586134"/>
            <a:ext cx="121054" cy="1210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892466" y="726537"/>
            <a:ext cx="72171" cy="7217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1078381" y="1223792"/>
            <a:ext cx="130310" cy="1303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1494847" y="1372703"/>
            <a:ext cx="127064" cy="1270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0237015" y="1345564"/>
            <a:ext cx="158962" cy="15896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804006" y="1179807"/>
            <a:ext cx="96363" cy="963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849720" y="893700"/>
            <a:ext cx="103149" cy="103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0099364" y="1674942"/>
            <a:ext cx="146518" cy="1465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042547" y="1263509"/>
            <a:ext cx="89841" cy="898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0689213" y="818860"/>
            <a:ext cx="98103" cy="981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1008894" y="1131645"/>
            <a:ext cx="146072" cy="1460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507176" y="1020854"/>
            <a:ext cx="119383" cy="1193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What to look for</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Use questions that fit a data and ML project.</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SEVEN QUESTIONS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Ask these of a pull request in this project</a:t>
            </a:r>
          </a:p>
        </p:txBody>
      </p:sp>
      <p:sp>
        <p:nvSpPr>
          <p:cNvPr id="4" name="Rounded Rectangle 3"/>
          <p:cNvSpPr/>
          <p:nvPr/>
        </p:nvSpPr>
        <p:spPr>
          <a:xfrm>
            <a:off x="502920" y="13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4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Does it report a failure?</a:t>
            </a:r>
          </a:p>
        </p:txBody>
      </p:sp>
      <p:sp>
        <p:nvSpPr>
          <p:cNvPr id="6" name="TextBox 5"/>
          <p:cNvSpPr txBox="1"/>
          <p:nvPr/>
        </p:nvSpPr>
        <p:spPr>
          <a:xfrm>
            <a:off x="700000" y="18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If the step writes zero rows, does it stop or clearly report the problem?</a:t>
            </a:r>
          </a:p>
        </p:txBody>
      </p:sp>
      <p:sp>
        <p:nvSpPr>
          <p:cNvPr id="7" name="Rounded Rectangle 6"/>
          <p:cNvSpPr/>
          <p:nvPr/>
        </p:nvSpPr>
        <p:spPr>
          <a:xfrm>
            <a:off x="502920" y="25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0000" y="27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Is a second run safe?</a:t>
            </a:r>
          </a:p>
        </p:txBody>
      </p:sp>
      <p:sp>
        <p:nvSpPr>
          <p:cNvPr id="9" name="TextBox 8"/>
          <p:cNvSpPr txBox="1"/>
          <p:nvPr/>
        </p:nvSpPr>
        <p:spPr>
          <a:xfrm>
            <a:off x="700000" y="30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Does re-running append, update, or create duplicates? The answer depends on the layer.</a:t>
            </a:r>
          </a:p>
        </p:txBody>
      </p:sp>
      <p:sp>
        <p:nvSpPr>
          <p:cNvPr id="10" name="Rounded Rectangle 9"/>
          <p:cNvSpPr/>
          <p:nvPr/>
        </p:nvSpPr>
        <p:spPr>
          <a:xfrm>
            <a:off x="502920" y="382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0000" y="397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What if the source returns nothing?</a:t>
            </a:r>
          </a:p>
        </p:txBody>
      </p:sp>
      <p:sp>
        <p:nvSpPr>
          <p:cNvPr id="12" name="TextBox 11"/>
          <p:cNvSpPr txBox="1"/>
          <p:nvPr/>
        </p:nvSpPr>
        <p:spPr>
          <a:xfrm>
            <a:off x="700000" y="434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Missing data should be visible. It should not quietly become a plausible value.</a:t>
            </a:r>
          </a:p>
        </p:txBody>
      </p:sp>
      <p:sp>
        <p:nvSpPr>
          <p:cNvPr id="13" name="Rounded Rectangle 12"/>
          <p:cNvSpPr/>
          <p:nvPr/>
        </p:nvSpPr>
        <p:spPr>
          <a:xfrm>
            <a:off x="502920" y="50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00000" y="52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Could the model know this then?</a:t>
            </a:r>
          </a:p>
        </p:txBody>
      </p:sp>
      <p:sp>
        <p:nvSpPr>
          <p:cNvPr id="15" name="TextBox 14"/>
          <p:cNvSpPr txBox="1"/>
          <p:nvPr/>
        </p:nvSpPr>
        <p:spPr>
          <a:xfrm>
            <a:off x="700000" y="56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A feature must use information that would have been available when the prediction was made.</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SEVEN QUESTIONS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…and three more</a:t>
            </a:r>
          </a:p>
        </p:txBody>
      </p:sp>
      <p:sp>
        <p:nvSpPr>
          <p:cNvPr id="4" name="Rounded Rectangle 3"/>
          <p:cNvSpPr/>
          <p:nvPr/>
        </p:nvSpPr>
        <p:spPr>
          <a:xfrm>
            <a:off x="502920" y="15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6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Is any secret included?</a:t>
            </a:r>
          </a:p>
        </p:txBody>
      </p:sp>
      <p:sp>
        <p:nvSpPr>
          <p:cNvPr id="6" name="TextBox 5"/>
          <p:cNvSpPr txBox="1"/>
          <p:nvPr/>
        </p:nvSpPr>
        <p:spPr>
          <a:xfrm>
            <a:off x="700000" y="20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Tokens and connection strings must not be committed.</a:t>
            </a:r>
          </a:p>
        </p:txBody>
      </p:sp>
      <p:sp>
        <p:nvSpPr>
          <p:cNvPr id="7" name="Rounded Rectangle 6"/>
          <p:cNvSpPr/>
          <p:nvPr/>
        </p:nvSpPr>
        <p:spPr>
          <a:xfrm>
            <a:off x="502920" y="27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0000" y="29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Can another person follow it?</a:t>
            </a:r>
          </a:p>
        </p:txBody>
      </p:sp>
      <p:sp>
        <p:nvSpPr>
          <p:cNvPr id="9" name="TextBox 8"/>
          <p:cNvSpPr txBox="1"/>
          <p:nvPr/>
        </p:nvSpPr>
        <p:spPr>
          <a:xfrm>
            <a:off x="700000" y="33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Names, short functions, and a small comment can make a later handover easier.</a:t>
            </a:r>
          </a:p>
        </p:txBody>
      </p:sp>
      <p:sp>
        <p:nvSpPr>
          <p:cNvPr id="10" name="Rounded Rectangle 9"/>
          <p:cNvSpPr/>
          <p:nvPr/>
        </p:nvSpPr>
        <p:spPr>
          <a:xfrm>
            <a:off x="502920" y="40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0000" y="42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Is the important behaviour tested?</a:t>
            </a:r>
          </a:p>
        </p:txBody>
      </p:sp>
      <p:sp>
        <p:nvSpPr>
          <p:cNvPr id="12" name="TextBox 11"/>
          <p:cNvSpPr txBox="1"/>
          <p:nvPr/>
        </p:nvSpPr>
        <p:spPr>
          <a:xfrm>
            <a:off x="700000" y="45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When a bug is fixed, add a test if the behaviour can be tested simply.</a:t>
            </a:r>
          </a:p>
        </p:txBody>
      </p:sp>
      <p:sp>
        <p:nvSpPr>
          <p:cNvPr id="13" name="TextBox 12"/>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4" name="TextBox 13"/>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WRITING USEFUL COMMENTS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Keep comments clear and respectful</a:t>
            </a:r>
          </a:p>
        </p:txBody>
      </p:sp>
      <p:sp>
        <p:nvSpPr>
          <p:cNvPr id="4" name="TextBox 3"/>
          <p:cNvSpPr txBox="1"/>
          <p:nvPr/>
        </p:nvSpPr>
        <p:spPr>
          <a:xfrm>
            <a:off x="1000000" y="145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Ask a clear question</a:t>
            </a:r>
          </a:p>
        </p:txBody>
      </p:sp>
      <p:sp>
        <p:nvSpPr>
          <p:cNvPr id="5" name="TextBox 4"/>
          <p:cNvSpPr txBox="1"/>
          <p:nvPr/>
        </p:nvSpPr>
        <p:spPr>
          <a:xfrm>
            <a:off x="4250000" y="1450000"/>
            <a:ext cx="7050000" cy="215444"/>
          </a:xfrm>
          <a:prstGeom prst="rect">
            <a:avLst/>
          </a:prstGeom>
          <a:noFill/>
        </p:spPr>
        <p:txBody>
          <a:bodyPr wrap="square" lIns="0" tIns="0" rIns="0" bIns="0">
            <a:spAutoFit/>
          </a:bodyPr>
          <a:lstStyle/>
          <a:p>
            <a:pPr algn="l">
              <a:spcAft>
                <a:spcPts val="0"/>
              </a:spcAft>
            </a:pPr>
            <a:r>
              <a:rPr sz="1400" b="0" dirty="0">
                <a:solidFill>
                  <a:srgbClr val="44506B"/>
                </a:solidFill>
                <a:latin typeface="Calibri"/>
              </a:rPr>
              <a:t>"This looks like it </a:t>
            </a:r>
            <a:r>
              <a:rPr lang="sv-SE" sz="1400" b="0" dirty="0" err="1">
                <a:solidFill>
                  <a:srgbClr val="44506B"/>
                </a:solidFill>
                <a:latin typeface="Calibri"/>
              </a:rPr>
              <a:t>does</a:t>
            </a:r>
            <a:r>
              <a:rPr lang="sv-SE" sz="1400" b="0" dirty="0">
                <a:solidFill>
                  <a:srgbClr val="44506B"/>
                </a:solidFill>
                <a:latin typeface="Calibri"/>
              </a:rPr>
              <a:t> X</a:t>
            </a:r>
            <a:r>
              <a:rPr sz="1400" b="0" dirty="0">
                <a:solidFill>
                  <a:srgbClr val="44506B"/>
                </a:solidFill>
                <a:latin typeface="Calibri"/>
              </a:rPr>
              <a:t>. Is that intended?"</a:t>
            </a:r>
          </a:p>
        </p:txBody>
      </p:sp>
      <p:sp>
        <p:nvSpPr>
          <p:cNvPr id="6" name="TextBox 5"/>
          <p:cNvSpPr txBox="1"/>
          <p:nvPr/>
        </p:nvSpPr>
        <p:spPr>
          <a:xfrm>
            <a:off x="1000000" y="221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Explain why</a:t>
            </a:r>
          </a:p>
        </p:txBody>
      </p:sp>
      <p:sp>
        <p:nvSpPr>
          <p:cNvPr id="7" name="TextBox 6"/>
          <p:cNvSpPr txBox="1"/>
          <p:nvPr/>
        </p:nvSpPr>
        <p:spPr>
          <a:xfrm>
            <a:off x="4250000" y="221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A reason helps the author understand whether the issue is important.</a:t>
            </a:r>
          </a:p>
        </p:txBody>
      </p:sp>
      <p:sp>
        <p:nvSpPr>
          <p:cNvPr id="8" name="TextBox 7"/>
          <p:cNvSpPr txBox="1"/>
          <p:nvPr/>
        </p:nvSpPr>
        <p:spPr>
          <a:xfrm>
            <a:off x="1000000" y="297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Mark small suggestions</a:t>
            </a:r>
          </a:p>
        </p:txBody>
      </p:sp>
      <p:sp>
        <p:nvSpPr>
          <p:cNvPr id="9" name="TextBox 8"/>
          <p:cNvSpPr txBox="1"/>
          <p:nvPr/>
        </p:nvSpPr>
        <p:spPr>
          <a:xfrm>
            <a:off x="4250000" y="297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Write `nit:` for a non-blocking detail, so the author knows it is optional.</a:t>
            </a:r>
          </a:p>
        </p:txBody>
      </p:sp>
      <p:sp>
        <p:nvSpPr>
          <p:cNvPr id="10" name="TextBox 9"/>
          <p:cNvSpPr txBox="1"/>
          <p:nvPr/>
        </p:nvSpPr>
        <p:spPr>
          <a:xfrm>
            <a:off x="1000000" y="3730000"/>
            <a:ext cx="25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Mention something that works well</a:t>
            </a:r>
          </a:p>
        </p:txBody>
      </p:sp>
      <p:sp>
        <p:nvSpPr>
          <p:cNvPr id="11" name="TextBox 10"/>
          <p:cNvSpPr txBox="1"/>
          <p:nvPr/>
        </p:nvSpPr>
        <p:spPr>
          <a:xfrm>
            <a:off x="4250000" y="3730000"/>
            <a:ext cx="70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Be specific. It helps the team keep good practices.</a:t>
            </a:r>
          </a:p>
        </p:txBody>
      </p:sp>
      <p:sp>
        <p:nvSpPr>
          <p:cNvPr id="12" name="Rounded Rectangle 11"/>
          <p:cNvSpPr/>
          <p:nvPr/>
        </p:nvSpPr>
        <p:spPr>
          <a:xfrm>
            <a:off x="502920" y="459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00000" y="477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Review the change, not the person who wrote it.</a:t>
            </a:r>
          </a:p>
        </p:txBody>
      </p:sp>
      <p:sp>
        <p:nvSpPr>
          <p:cNvPr id="14" name="TextBox 13"/>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5" name="TextBox 1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RECEIVING A REVIEW</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A review is only useful when the author responds</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Respond to every comment</a:t>
            </a:r>
          </a:p>
          <a:p>
            <a:pPr algn="l">
              <a:spcAft>
                <a:spcPts val="200"/>
              </a:spcAft>
            </a:pPr>
            <a:r>
              <a:rPr sz="1500" b="0">
                <a:solidFill>
                  <a:srgbClr val="44506B"/>
                </a:solidFill>
                <a:latin typeface="Calibri"/>
              </a:rPr>
              <a:t>     Write what you changed, or explain why you are keeping the code as it is.</a:t>
            </a:r>
          </a:p>
          <a:p>
            <a:pPr algn="l">
              <a:spcAft>
                <a:spcPts val="200"/>
              </a:spcAft>
            </a:pPr>
            <a:endParaRPr sz="1500" b="0">
              <a:solidFill>
                <a:srgbClr val="44506B"/>
              </a:solidFill>
              <a:latin typeface="Calibri"/>
            </a:endParaRPr>
          </a:p>
          <a:p>
            <a:pPr algn="l">
              <a:spcAft>
                <a:spcPts val="200"/>
              </a:spcAft>
            </a:pPr>
            <a:r>
              <a:rPr sz="1500" b="1">
                <a:solidFill>
                  <a:srgbClr val="44506B"/>
                </a:solidFill>
                <a:latin typeface="Calibri"/>
              </a:rPr>
              <a:t>•  You may disagree</a:t>
            </a:r>
          </a:p>
          <a:p>
            <a:pPr algn="l">
              <a:spcAft>
                <a:spcPts val="200"/>
              </a:spcAft>
            </a:pPr>
            <a:r>
              <a:rPr sz="1500" b="0">
                <a:solidFill>
                  <a:srgbClr val="44506B"/>
                </a:solidFill>
                <a:latin typeface="Calibri"/>
              </a:rPr>
              <a:t>     "I would keep this because …" is a complete answer.</a:t>
            </a:r>
          </a:p>
          <a:p>
            <a:pPr algn="l">
              <a:spcAft>
                <a:spcPts val="200"/>
              </a:spcAft>
            </a:pPr>
            <a:endParaRPr sz="1500" b="0">
              <a:solidFill>
                <a:srgbClr val="44506B"/>
              </a:solidFill>
              <a:latin typeface="Calibri"/>
            </a:endParaRPr>
          </a:p>
          <a:p>
            <a:pPr algn="l">
              <a:spcAft>
                <a:spcPts val="200"/>
              </a:spcAft>
            </a:pPr>
            <a:r>
              <a:rPr sz="1500" b="1">
                <a:solidFill>
                  <a:srgbClr val="44506B"/>
                </a:solidFill>
                <a:latin typeface="Calibri"/>
              </a:rPr>
              <a:t>•  Tell the reviewer when it is fixed</a:t>
            </a:r>
          </a:p>
          <a:p>
            <a:pPr algn="l">
              <a:spcAft>
                <a:spcPts val="200"/>
              </a:spcAft>
            </a:pPr>
            <a:r>
              <a:rPr sz="1500" b="0">
                <a:solidFill>
                  <a:srgbClr val="44506B"/>
                </a:solidFill>
                <a:latin typeface="Calibri"/>
              </a:rPr>
              <a:t>     A short reply such as "done" is enough.</a:t>
            </a:r>
          </a:p>
          <a:p>
            <a:pPr algn="l">
              <a:spcAft>
                <a:spcPts val="200"/>
              </a:spcAft>
            </a:pPr>
            <a:endParaRPr sz="1500" b="0">
              <a:solidFill>
                <a:srgbClr val="44506B"/>
              </a:solidFill>
              <a:latin typeface="Calibri"/>
            </a:endParaRPr>
          </a:p>
          <a:p>
            <a:pPr algn="l">
              <a:spcAft>
                <a:spcPts val="200"/>
              </a:spcAft>
            </a:pPr>
            <a:r>
              <a:rPr sz="1500" b="1">
                <a:solidFill>
                  <a:srgbClr val="44506B"/>
                </a:solidFill>
                <a:latin typeface="Calibri"/>
              </a:rPr>
              <a:t>•  Keep it about the code</a:t>
            </a:r>
          </a:p>
          <a:p>
            <a:pPr algn="l">
              <a:spcAft>
                <a:spcPts val="200"/>
              </a:spcAft>
            </a:pPr>
            <a:r>
              <a:rPr sz="1500" b="0">
                <a:solidFill>
                  <a:srgbClr val="44506B"/>
                </a:solidFill>
                <a:latin typeface="Calibri"/>
              </a:rPr>
              <a:t>     Comments concern the change, not the person.</a:t>
            </a:r>
          </a:p>
          <a:p>
            <a:pPr algn="l">
              <a:spcAft>
                <a:spcPts val="200"/>
              </a:spcAft>
            </a:pPr>
            <a:endParaRPr sz="1500" b="0">
              <a:solidFill>
                <a:srgbClr val="44506B"/>
              </a:solidFill>
              <a:latin typeface="Calibri"/>
            </a:endParaRP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SMALLER PULL REQUESTS ARE EASIER TO REVIEW</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A reviewer can check a focused change much more carefully than a very large one.</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Try to make each pull request about one small task. If a change is too large, split it into separate steps where possible.</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CROSS-TEAM REVIEW</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Your review allocation</a:t>
            </a:r>
          </a:p>
        </p:txBody>
      </p:sp>
      <p:sp>
        <p:nvSpPr>
          <p:cNvPr id="4" name="TextBox 3"/>
          <p:cNvSpPr txBox="1"/>
          <p:nvPr/>
        </p:nvSpPr>
        <p:spPr>
          <a:xfrm>
            <a:off x="1000000" y="145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1</a:t>
            </a:r>
          </a:p>
        </p:txBody>
      </p:sp>
      <p:sp>
        <p:nvSpPr>
          <p:cNvPr id="5" name="TextBox 4"/>
          <p:cNvSpPr txBox="1"/>
          <p:nvPr/>
        </p:nvSpPr>
        <p:spPr>
          <a:xfrm>
            <a:off x="4250000" y="145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4</a:t>
            </a:r>
          </a:p>
        </p:txBody>
      </p:sp>
      <p:sp>
        <p:nvSpPr>
          <p:cNvPr id="6" name="TextBox 5"/>
          <p:cNvSpPr txBox="1"/>
          <p:nvPr/>
        </p:nvSpPr>
        <p:spPr>
          <a:xfrm>
            <a:off x="1000000" y="203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4</a:t>
            </a:r>
          </a:p>
        </p:txBody>
      </p:sp>
      <p:sp>
        <p:nvSpPr>
          <p:cNvPr id="7" name="TextBox 6"/>
          <p:cNvSpPr txBox="1"/>
          <p:nvPr/>
        </p:nvSpPr>
        <p:spPr>
          <a:xfrm>
            <a:off x="4250000" y="203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1</a:t>
            </a:r>
          </a:p>
        </p:txBody>
      </p:sp>
      <p:sp>
        <p:nvSpPr>
          <p:cNvPr id="8" name="TextBox 7"/>
          <p:cNvSpPr txBox="1"/>
          <p:nvPr/>
        </p:nvSpPr>
        <p:spPr>
          <a:xfrm>
            <a:off x="1000000" y="261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2</a:t>
            </a:r>
          </a:p>
        </p:txBody>
      </p:sp>
      <p:sp>
        <p:nvSpPr>
          <p:cNvPr id="9" name="TextBox 8"/>
          <p:cNvSpPr txBox="1"/>
          <p:nvPr/>
        </p:nvSpPr>
        <p:spPr>
          <a:xfrm>
            <a:off x="4250000" y="261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3</a:t>
            </a:r>
          </a:p>
        </p:txBody>
      </p:sp>
      <p:sp>
        <p:nvSpPr>
          <p:cNvPr id="10" name="TextBox 9"/>
          <p:cNvSpPr txBox="1"/>
          <p:nvPr/>
        </p:nvSpPr>
        <p:spPr>
          <a:xfrm>
            <a:off x="1000000" y="319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3</a:t>
            </a:r>
          </a:p>
        </p:txBody>
      </p:sp>
      <p:sp>
        <p:nvSpPr>
          <p:cNvPr id="11" name="TextBox 10"/>
          <p:cNvSpPr txBox="1"/>
          <p:nvPr/>
        </p:nvSpPr>
        <p:spPr>
          <a:xfrm>
            <a:off x="4250000" y="319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5</a:t>
            </a:r>
          </a:p>
        </p:txBody>
      </p:sp>
      <p:sp>
        <p:nvSpPr>
          <p:cNvPr id="12" name="TextBox 11"/>
          <p:cNvSpPr txBox="1"/>
          <p:nvPr/>
        </p:nvSpPr>
        <p:spPr>
          <a:xfrm>
            <a:off x="1000000" y="377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5</a:t>
            </a:r>
          </a:p>
        </p:txBody>
      </p:sp>
      <p:sp>
        <p:nvSpPr>
          <p:cNvPr id="13" name="TextBox 12"/>
          <p:cNvSpPr txBox="1"/>
          <p:nvPr/>
        </p:nvSpPr>
        <p:spPr>
          <a:xfrm>
            <a:off x="4250000" y="377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7</a:t>
            </a:r>
          </a:p>
        </p:txBody>
      </p:sp>
      <p:sp>
        <p:nvSpPr>
          <p:cNvPr id="14" name="TextBox 13"/>
          <p:cNvSpPr txBox="1"/>
          <p:nvPr/>
        </p:nvSpPr>
        <p:spPr>
          <a:xfrm>
            <a:off x="1000000" y="435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7</a:t>
            </a:r>
          </a:p>
        </p:txBody>
      </p:sp>
      <p:sp>
        <p:nvSpPr>
          <p:cNvPr id="15" name="TextBox 14"/>
          <p:cNvSpPr txBox="1"/>
          <p:nvPr/>
        </p:nvSpPr>
        <p:spPr>
          <a:xfrm>
            <a:off x="4250000" y="435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8</a:t>
            </a:r>
          </a:p>
        </p:txBody>
      </p:sp>
      <p:sp>
        <p:nvSpPr>
          <p:cNvPr id="16" name="TextBox 15"/>
          <p:cNvSpPr txBox="1"/>
          <p:nvPr/>
        </p:nvSpPr>
        <p:spPr>
          <a:xfrm>
            <a:off x="1000000" y="4930000"/>
            <a:ext cx="2500000" cy="700000"/>
          </a:xfrm>
          <a:prstGeom prst="rect">
            <a:avLst/>
          </a:prstGeom>
          <a:noFill/>
        </p:spPr>
        <p:txBody>
          <a:bodyPr wrap="square" lIns="0" tIns="0" rIns="0" bIns="0">
            <a:spAutoFit/>
          </a:bodyPr>
          <a:lstStyle/>
          <a:p>
            <a:pPr algn="l">
              <a:spcAft>
                <a:spcPts val="0"/>
              </a:spcAft>
            </a:pPr>
            <a:r>
              <a:rPr sz="1600" b="1">
                <a:solidFill>
                  <a:srgbClr val="1E2761"/>
                </a:solidFill>
                <a:latin typeface="Calibri"/>
              </a:rPr>
              <a:t>Team 8</a:t>
            </a:r>
          </a:p>
        </p:txBody>
      </p:sp>
      <p:sp>
        <p:nvSpPr>
          <p:cNvPr id="17" name="TextBox 16"/>
          <p:cNvSpPr txBox="1"/>
          <p:nvPr/>
        </p:nvSpPr>
        <p:spPr>
          <a:xfrm>
            <a:off x="4250000" y="4930000"/>
            <a:ext cx="7050000" cy="700000"/>
          </a:xfrm>
          <a:prstGeom prst="rect">
            <a:avLst/>
          </a:prstGeom>
          <a:noFill/>
        </p:spPr>
        <p:txBody>
          <a:bodyPr wrap="square" lIns="0" tIns="0" rIns="0" bIns="0">
            <a:spAutoFit/>
          </a:bodyPr>
          <a:lstStyle/>
          <a:p>
            <a:pPr algn="l">
              <a:spcAft>
                <a:spcPts val="0"/>
              </a:spcAft>
            </a:pPr>
            <a:r>
              <a:rPr sz="1600" b="0">
                <a:solidFill>
                  <a:srgbClr val="44506B"/>
                </a:solidFill>
                <a:latin typeface="Calibri"/>
              </a:rPr>
              <a:t>reviews Team 2</a:t>
            </a:r>
          </a:p>
        </p:txBody>
      </p:sp>
      <p:sp>
        <p:nvSpPr>
          <p:cNvPr id="18" name="Rounded Rectangle 17"/>
          <p:cNvSpPr/>
          <p:nvPr/>
        </p:nvSpPr>
        <p:spPr>
          <a:xfrm>
            <a:off x="502920" y="561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00000" y="579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Find the assigned team's open pull request before you start. Review the change, not the whole repository.</a:t>
            </a:r>
          </a:p>
        </p:txBody>
      </p:sp>
      <p:sp>
        <p:nvSpPr>
          <p:cNvPr id="20" name="TextBox 19"/>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21" name="TextBox 20"/>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NEXT 45 MINUTES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Cross-team review</a:t>
            </a:r>
          </a:p>
        </p:txBody>
      </p:sp>
      <p:sp>
        <p:nvSpPr>
          <p:cNvPr id="4" name="Rounded Rectangle 3"/>
          <p:cNvSpPr/>
          <p:nvPr/>
        </p:nvSpPr>
        <p:spPr>
          <a:xfrm>
            <a:off x="502920" y="13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00000" y="14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Review your assigned team's open pull request</a:t>
            </a:r>
          </a:p>
        </p:txBody>
      </p:sp>
      <p:sp>
        <p:nvSpPr>
          <p:cNvPr id="6" name="TextBox 5"/>
          <p:cNvSpPr txBox="1"/>
          <p:nvPr/>
        </p:nvSpPr>
        <p:spPr>
          <a:xfrm>
            <a:off x="700000" y="18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You are looking at code you did not write.</a:t>
            </a:r>
          </a:p>
        </p:txBody>
      </p:sp>
      <p:sp>
        <p:nvSpPr>
          <p:cNvPr id="7" name="Rounded Rectangle 6"/>
          <p:cNvSpPr/>
          <p:nvPr/>
        </p:nvSpPr>
        <p:spPr>
          <a:xfrm>
            <a:off x="502920" y="25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00000" y="27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Review individually first, 20 minutes</a:t>
            </a:r>
          </a:p>
        </p:txBody>
      </p:sp>
      <p:sp>
        <p:nvSpPr>
          <p:cNvPr id="9" name="TextBox 8"/>
          <p:cNvSpPr txBox="1"/>
          <p:nvPr/>
        </p:nvSpPr>
        <p:spPr>
          <a:xfrm>
            <a:off x="700000" y="30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Use the questions. Write at least three comments, including one specific positive point.</a:t>
            </a:r>
          </a:p>
        </p:txBody>
      </p:sp>
      <p:sp>
        <p:nvSpPr>
          <p:cNvPr id="10" name="Rounded Rectangle 9"/>
          <p:cNvSpPr/>
          <p:nvPr/>
        </p:nvSpPr>
        <p:spPr>
          <a:xfrm>
            <a:off x="502920" y="382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00000" y="397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Authors respond, 15 minutes</a:t>
            </a:r>
          </a:p>
        </p:txBody>
      </p:sp>
      <p:sp>
        <p:nvSpPr>
          <p:cNvPr id="12" name="TextBox 11"/>
          <p:cNvSpPr txBox="1"/>
          <p:nvPr/>
        </p:nvSpPr>
        <p:spPr>
          <a:xfrm>
            <a:off x="700000" y="434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Reply in the pull request. Every comment gets an answer.</a:t>
            </a:r>
          </a:p>
        </p:txBody>
      </p:sp>
      <p:sp>
        <p:nvSpPr>
          <p:cNvPr id="13" name="Rounded Rectangle 12"/>
          <p:cNvSpPr/>
          <p:nvPr/>
        </p:nvSpPr>
        <p:spPr>
          <a:xfrm>
            <a:off x="502920" y="50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700000" y="52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Talk for ten minutes</a:t>
            </a:r>
          </a:p>
        </p:txBody>
      </p:sp>
      <p:sp>
        <p:nvSpPr>
          <p:cNvPr id="15" name="TextBox 14"/>
          <p:cNvSpPr txBox="1"/>
          <p:nvPr/>
        </p:nvSpPr>
        <p:spPr>
          <a:xfrm>
            <a:off x="700000" y="56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What did another team notice that your own team had missed?</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5FC"/>
        </a:solidFill>
        <a:effectLst/>
      </p:bgPr>
    </p:bg>
    <p:spTree>
      <p:nvGrpSpPr>
        <p:cNvPr id="1" name=""/>
        <p:cNvGrpSpPr/>
        <p:nvPr/>
      </p:nvGrpSpPr>
      <p:grpSpPr>
        <a:xfrm>
          <a:off x="0" y="0"/>
          <a:ext cx="0" cy="0"/>
          <a:chOff x="0" y="0"/>
          <a:chExt cx="0" cy="0"/>
        </a:xfrm>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WHY REVIEW ANOTHER TEAM'S CODE?</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500" b="1">
                <a:solidFill>
                  <a:srgbClr val="1E2761"/>
                </a:solidFill>
                <a:latin typeface="Calibri"/>
              </a:rPr>
              <a:t>A new reader notices assumptions that a team no longer sees.</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If an outside team cannot follow the code or the README, that is useful information. It also prepares you to explain the system to someone who has not followed the project from the start.</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902</Words>
  <Application>Microsoft Macintosh PowerPoint</Application>
  <PresentationFormat>Bredbild</PresentationFormat>
  <Paragraphs>119</Paragraphs>
  <Slides>12</Slides>
  <Notes>0</Notes>
  <HiddenSlides>0</HiddenSlides>
  <MMClips>0</MMClips>
  <ScaleCrop>false</ScaleCrop>
  <HeadingPairs>
    <vt:vector size="6" baseType="variant">
      <vt:variant>
        <vt:lpstr>Använt teckensnitt</vt:lpstr>
      </vt:variant>
      <vt:variant>
        <vt:i4>2</vt:i4>
      </vt:variant>
      <vt:variant>
        <vt:lpstr>Tema</vt:lpstr>
      </vt:variant>
      <vt:variant>
        <vt:i4>1</vt:i4>
      </vt:variant>
      <vt:variant>
        <vt:lpstr>Bildrubriker</vt:lpstr>
      </vt:variant>
      <vt:variant>
        <vt:i4>12</vt:i4>
      </vt:variant>
    </vt:vector>
  </HeadingPairs>
  <TitlesOfParts>
    <vt:vector size="15" baseType="lpstr">
      <vt:lpstr>Arial</vt:lpstr>
      <vt:lpstr>Calibri</vt:lpstr>
      <vt:lpstr>Office Theme</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mikael huss</cp:lastModifiedBy>
  <cp:revision>2</cp:revision>
  <dcterms:created xsi:type="dcterms:W3CDTF">2013-01-27T09:14:16Z</dcterms:created>
  <dcterms:modified xsi:type="dcterms:W3CDTF">2026-09-20T11:01:18Z</dcterms:modified>
  <cp:category/>
</cp:coreProperties>
</file>